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media/image2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8288000" cy="10287000"/>
  <p:notesSz cx="7559675" cy="10691813"/>
  <p:embeddedFontLst>
    <p:embeddedFont>
      <p:font typeface="Inter Medium"/>
    </p:embeddedFont>
    <p:embeddedFont>
      <p:font typeface="Inter"/>
      <p:regular r:id="rId19"/>
      <p:bold r:id="rId19"/>
    </p:embeddedFont>
    <p:embeddedFont>
      <p:font typeface="Red Hat Display Bold"/>
    </p:embeddedFont>
    <p:embeddedFont>
      <p:font typeface="Consolas"/>
      <p:regular r:id="rId20"/>
      <p:bold r:id="rId21"/>
      <p:italic r:id="rId22"/>
      <p:boldItalic r:id="rId23"/>
    </p:embeddedFont>
    <p:embeddedFont>
      <p:font typeface="Fira Sans"/>
    </p:embeddedFont>
    <p:embeddedFont>
      <p:font typeface="Lucida Sans"/>
      <p:regular r:id="rId2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font" Target="fonts/Font_1_Inter_Regular.fntdata"/><Relationship Id="rId20" Type="http://schemas.openxmlformats.org/officeDocument/2006/relationships/font" Target="fonts/Font_2_Consolas_Regular.fntdata"/><Relationship Id="rId21" Type="http://schemas.openxmlformats.org/officeDocument/2006/relationships/font" Target="fonts/Font_3_Consolas_Bold.fntdata"/><Relationship Id="rId22" Type="http://schemas.openxmlformats.org/officeDocument/2006/relationships/font" Target="fonts/Font_4_Consolas_Italic.fntdata"/><Relationship Id="rId23" Type="http://schemas.openxmlformats.org/officeDocument/2006/relationships/font" Target="fonts/Font_5_Consolas_BoldItalic.fntdata"/><Relationship Id="rId24" Type="http://schemas.openxmlformats.org/officeDocument/2006/relationships/font" Target="fonts/Font_6_Lucida_Sans_Regular.fntdata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9E18D7-C577-4F2C-9D53-DE4C3B27D8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20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20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640" cy="63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640" cy="3950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7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8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7ACBB6B-5466-4477-AE8E-C981086591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6D3F698-917A-4FBA-B0E7-53FB2999A4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C4F3443-18FF-4D31-897E-25F5E94D781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4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120" cy="171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 başlık metnini düzenlemek için tıklayın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120" cy="59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Anahat metninin biçimini düzenlemek için tıklayın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İkinci Anahat Düzeyi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Üçüncü Anahat Düzeyi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Dördüncü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Beşinci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Altıncı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Yedinci Anahat Düzeyi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08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560" cy="585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080" cy="469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2237D2-8489-4676-9284-F00E496F22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320" cy="56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Anahat metninin biçimini düzenlemek için tıklayın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İkinci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Üçüncü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Dördüncü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Beşinci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Altıncı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Yedinci Anahat Düzeyi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320" cy="803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BCE6FF-EABF-497B-A811-B71EA1EB48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619EE5A-9152-491A-96F4-FABB27A669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6270F36-3B73-469B-9BD7-23C65A51F9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32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840" cy="585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3E3A62-D363-488B-895A-4996295D7E4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A5A2B2-BC7C-42E2-B085-0923A697E4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320" cy="1361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320" cy="1499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tr-T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CEA309-549A-4EE7-AA7E-19CC93BA44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tr-T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2"/>
          <p:cNvGrpSpPr/>
          <p:nvPr/>
        </p:nvGrpSpPr>
        <p:grpSpPr>
          <a:xfrm>
            <a:off x="-5028120" y="1539000"/>
            <a:ext cx="7718040" cy="7718040"/>
            <a:chOff x="-5028120" y="1539000"/>
            <a:chExt cx="7718040" cy="7718040"/>
          </a:xfrm>
        </p:grpSpPr>
        <p:sp>
          <p:nvSpPr>
            <p:cNvPr id="62" name="Freeform 3"/>
            <p:cNvSpPr/>
            <p:nvPr/>
          </p:nvSpPr>
          <p:spPr>
            <a:xfrm>
              <a:off x="-5028120" y="1539000"/>
              <a:ext cx="7718040" cy="7718040"/>
            </a:xfrm>
            <a:custGeom>
              <a:avLst/>
              <a:gdLst>
                <a:gd name="textAreaLeft" fmla="*/ 0 w 7718040"/>
                <a:gd name="textAreaRight" fmla="*/ 7719120 w 7718040"/>
                <a:gd name="textAreaTop" fmla="*/ 0 h 7718040"/>
                <a:gd name="textAreaBottom" fmla="*/ 7719120 h 7718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tr-T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TextBox 4"/>
            <p:cNvSpPr/>
            <p:nvPr/>
          </p:nvSpPr>
          <p:spPr>
            <a:xfrm>
              <a:off x="-4304520" y="1901160"/>
              <a:ext cx="6270840" cy="663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grpSp>
        <p:nvGrpSpPr>
          <p:cNvPr id="64" name="Group 5"/>
          <p:cNvGrpSpPr/>
          <p:nvPr/>
        </p:nvGrpSpPr>
        <p:grpSpPr>
          <a:xfrm>
            <a:off x="15597000" y="1539000"/>
            <a:ext cx="7718040" cy="7718040"/>
            <a:chOff x="15597000" y="1539000"/>
            <a:chExt cx="7718040" cy="7718040"/>
          </a:xfrm>
        </p:grpSpPr>
        <p:sp>
          <p:nvSpPr>
            <p:cNvPr id="65" name="Freeform 6"/>
            <p:cNvSpPr/>
            <p:nvPr/>
          </p:nvSpPr>
          <p:spPr>
            <a:xfrm>
              <a:off x="15597000" y="1539000"/>
              <a:ext cx="7718040" cy="7718040"/>
            </a:xfrm>
            <a:custGeom>
              <a:avLst/>
              <a:gdLst>
                <a:gd name="textAreaLeft" fmla="*/ 0 w 7718040"/>
                <a:gd name="textAreaRight" fmla="*/ 7719120 w 7718040"/>
                <a:gd name="textAreaTop" fmla="*/ 0 h 7718040"/>
                <a:gd name="textAreaBottom" fmla="*/ 7719120 h 7718040"/>
              </a:gdLst>
              <a:ahLst/>
              <a:cxnLst/>
              <a:rect l="textAreaLeft" t="textAreaTop" r="textAreaRight" b="textAreaBottom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tr-TR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TextBox 7"/>
            <p:cNvSpPr/>
            <p:nvPr/>
          </p:nvSpPr>
          <p:spPr>
            <a:xfrm>
              <a:off x="16320600" y="1901160"/>
              <a:ext cx="6270840" cy="663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tIns="50760" rIns="50760" bIns="5076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67" name="Freeform 8"/>
          <p:cNvSpPr/>
          <p:nvPr/>
        </p:nvSpPr>
        <p:spPr>
          <a:xfrm>
            <a:off x="736560" y="6009120"/>
            <a:ext cx="2468160" cy="4408200"/>
          </a:xfrm>
          <a:custGeom>
            <a:avLst/>
            <a:gdLst>
              <a:gd name="textAreaLeft" fmla="*/ 0 w 2468160"/>
              <a:gd name="textAreaRight" fmla="*/ 2469240 w 2468160"/>
              <a:gd name="textAreaTop" fmla="*/ 0 h 4408200"/>
              <a:gd name="textAreaBottom" fmla="*/ 4409280 h 4408200"/>
            </a:gdLst>
            <a:ahLst/>
            <a:cxnLst/>
            <a:rect l="textAreaLeft" t="textAreaTop" r="textAreaRight" b="textAreaBottom"/>
            <a:pathLst>
              <a:path w="2469284" h="4409435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Freeform 9"/>
          <p:cNvSpPr/>
          <p:nvPr/>
        </p:nvSpPr>
        <p:spPr>
          <a:xfrm flipH="1">
            <a:off x="15081480" y="6009120"/>
            <a:ext cx="2468160" cy="4408200"/>
          </a:xfrm>
          <a:custGeom>
            <a:avLst/>
            <a:gdLst>
              <a:gd name="textAreaLeft" fmla="*/ 720 w 2468160"/>
              <a:gd name="textAreaRight" fmla="*/ 2469960 w 2468160"/>
              <a:gd name="textAreaTop" fmla="*/ 0 h 4408200"/>
              <a:gd name="textAreaBottom" fmla="*/ 4409280 h 4408200"/>
            </a:gdLst>
            <a:ahLst/>
            <a:cxnLst/>
            <a:rect l="textAreaLeft" t="textAreaTop" r="textAreaRight" b="textAreaBottom"/>
            <a:pathLst>
              <a:path w="2469284" h="4409435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 rotWithShape="0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" name="Group 10"/>
          <p:cNvGrpSpPr/>
          <p:nvPr/>
        </p:nvGrpSpPr>
        <p:grpSpPr>
          <a:xfrm>
            <a:off x="1030320" y="1013400"/>
            <a:ext cx="858960" cy="332640"/>
            <a:chOff x="1030320" y="1013400"/>
            <a:chExt cx="858960" cy="332640"/>
          </a:xfrm>
        </p:grpSpPr>
        <p:grpSp>
          <p:nvGrpSpPr>
            <p:cNvPr id="70" name="Group 11"/>
            <p:cNvGrpSpPr/>
            <p:nvPr/>
          </p:nvGrpSpPr>
          <p:grpSpPr>
            <a:xfrm>
              <a:off x="1030320" y="1013400"/>
              <a:ext cx="332640" cy="332640"/>
              <a:chOff x="1030320" y="1013400"/>
              <a:chExt cx="332640" cy="332640"/>
            </a:xfrm>
          </p:grpSpPr>
          <p:sp>
            <p:nvSpPr>
              <p:cNvPr id="71" name="Freeform 12"/>
              <p:cNvSpPr/>
              <p:nvPr/>
            </p:nvSpPr>
            <p:spPr>
              <a:xfrm>
                <a:off x="1030320" y="101340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TextBox 13"/>
              <p:cNvSpPr/>
              <p:nvPr/>
            </p:nvSpPr>
            <p:spPr>
              <a:xfrm>
                <a:off x="1061640" y="102888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73" name="Group 14"/>
            <p:cNvGrpSpPr/>
            <p:nvPr/>
          </p:nvGrpSpPr>
          <p:grpSpPr>
            <a:xfrm>
              <a:off x="1556640" y="1013400"/>
              <a:ext cx="332640" cy="332640"/>
              <a:chOff x="1556640" y="1013400"/>
              <a:chExt cx="332640" cy="332640"/>
            </a:xfrm>
          </p:grpSpPr>
          <p:sp>
            <p:nvSpPr>
              <p:cNvPr id="74" name="Freeform 15"/>
              <p:cNvSpPr/>
              <p:nvPr/>
            </p:nvSpPr>
            <p:spPr>
              <a:xfrm>
                <a:off x="1556640" y="101340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TextBox 16"/>
              <p:cNvSpPr/>
              <p:nvPr/>
            </p:nvSpPr>
            <p:spPr>
              <a:xfrm>
                <a:off x="1587960" y="102888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pSp>
        <p:nvGrpSpPr>
          <p:cNvPr id="76" name="Group 17"/>
          <p:cNvGrpSpPr/>
          <p:nvPr/>
        </p:nvGrpSpPr>
        <p:grpSpPr>
          <a:xfrm>
            <a:off x="16397640" y="1028880"/>
            <a:ext cx="859320" cy="332640"/>
            <a:chOff x="16397640" y="1028880"/>
            <a:chExt cx="859320" cy="332640"/>
          </a:xfrm>
        </p:grpSpPr>
        <p:grpSp>
          <p:nvGrpSpPr>
            <p:cNvPr id="77" name="Group 18"/>
            <p:cNvGrpSpPr/>
            <p:nvPr/>
          </p:nvGrpSpPr>
          <p:grpSpPr>
            <a:xfrm>
              <a:off x="16397640" y="1028880"/>
              <a:ext cx="332640" cy="332640"/>
              <a:chOff x="16397640" y="1028880"/>
              <a:chExt cx="332640" cy="332640"/>
            </a:xfrm>
          </p:grpSpPr>
          <p:sp>
            <p:nvSpPr>
              <p:cNvPr id="78" name="Freeform 19"/>
              <p:cNvSpPr/>
              <p:nvPr/>
            </p:nvSpPr>
            <p:spPr>
              <a:xfrm>
                <a:off x="16397640" y="10288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TextBox 20"/>
              <p:cNvSpPr/>
              <p:nvPr/>
            </p:nvSpPr>
            <p:spPr>
              <a:xfrm>
                <a:off x="16428960" y="10443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80" name="Group 21"/>
            <p:cNvGrpSpPr/>
            <p:nvPr/>
          </p:nvGrpSpPr>
          <p:grpSpPr>
            <a:xfrm>
              <a:off x="16924320" y="1028880"/>
              <a:ext cx="332640" cy="332640"/>
              <a:chOff x="16924320" y="1028880"/>
              <a:chExt cx="332640" cy="332640"/>
            </a:xfrm>
          </p:grpSpPr>
          <p:sp>
            <p:nvSpPr>
              <p:cNvPr id="81" name="Freeform 22"/>
              <p:cNvSpPr/>
              <p:nvPr/>
            </p:nvSpPr>
            <p:spPr>
              <a:xfrm>
                <a:off x="16924320" y="10288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TextBox 23"/>
              <p:cNvSpPr/>
              <p:nvPr/>
            </p:nvSpPr>
            <p:spPr>
              <a:xfrm>
                <a:off x="16955640" y="10443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83" name="TextBox 24"/>
          <p:cNvSpPr/>
          <p:nvPr/>
        </p:nvSpPr>
        <p:spPr>
          <a:xfrm>
            <a:off x="3620880" y="2378160"/>
            <a:ext cx="110451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tr-TR" sz="6000" b="1" u="none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VERİ MADENCİLİĞİ TAKIMI</a:t>
            </a:r>
            <a:endParaRPr lang="tr-TR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5"/>
          <p:cNvSpPr/>
          <p:nvPr/>
        </p:nvSpPr>
        <p:spPr>
          <a:xfrm>
            <a:off x="3339000" y="5137200"/>
            <a:ext cx="11600640" cy="16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358"/>
              </a:lnSpc>
            </a:pPr>
            <a:r>
              <a:rPr lang="tr-TR" sz="4540" b="1" u="none" spc="1361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TAKIM PROJESİ SUNUMU</a:t>
            </a:r>
            <a:br>
              <a:rPr sz="4540"/>
            </a:br>
            <a:endParaRPr lang="tr-TR" sz="4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7"/>
          <p:cNvSpPr/>
          <p:nvPr/>
        </p:nvSpPr>
        <p:spPr>
          <a:xfrm>
            <a:off x="5868000" y="879120"/>
            <a:ext cx="65559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YAPAY ZEKÂ YAZILIM TEKNOLOJİLERİ </a:t>
            </a:r>
            <a:endParaRPr lang="tr-T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4140000" y="6752520"/>
            <a:ext cx="9720000" cy="278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spAutoFit/>
          </a:bodyPr>
          <a:p>
            <a:pPr algn="ctr"/>
            <a:r>
              <a:rPr lang="tr-TR" sz="4540" b="1" u="none" strike="noStrike">
                <a:solidFill>
                  <a:srgbClr val="000000"/>
                </a:solidFill>
                <a:effectLst/>
                <a:uFillTx/>
                <a:latin typeface="Arial"/>
                <a:ea typeface="Red Hat Display Bold"/>
              </a:rPr>
              <a:t>METEHAN SARIKAYA</a:t>
            </a:r>
            <a:endParaRPr lang="tr-TR" sz="454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tr-TR" sz="4540" b="1" u="none" strike="noStrike">
                <a:solidFill>
                  <a:srgbClr val="000000"/>
                </a:solidFill>
                <a:effectLst/>
                <a:uFillTx/>
                <a:latin typeface="Arial"/>
                <a:ea typeface="Red Hat Display Bold"/>
              </a:rPr>
              <a:t>YUSUF KAĞAN YILDIZ</a:t>
            </a:r>
            <a:endParaRPr lang="tr-TR" sz="454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/>
            <a:r>
              <a:rPr lang="tr-TR" sz="4540" b="1" u="none" strike="noStrike">
                <a:solidFill>
                  <a:srgbClr val="000000"/>
                </a:solidFill>
                <a:effectLst/>
                <a:uFillTx/>
                <a:latin typeface="Arial"/>
                <a:ea typeface="Red Hat Display Bold"/>
              </a:rPr>
              <a:t>ANIL KESKİN</a:t>
            </a:r>
            <a:endParaRPr lang="tr-TR" sz="454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4"/>
          <p:cNvSpPr/>
          <p:nvPr/>
        </p:nvSpPr>
        <p:spPr>
          <a:xfrm>
            <a:off x="3922560" y="1884600"/>
            <a:ext cx="10441800" cy="99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7841"/>
              </a:lnSpc>
            </a:pPr>
            <a:r>
              <a:rPr lang="tr-TR" sz="5600" b="1" u="none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İÇİNDEKİLER</a:t>
            </a:r>
            <a:endParaRPr lang="tr-TR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88" name="Group 5"/>
          <p:cNvGrpSpPr/>
          <p:nvPr/>
        </p:nvGrpSpPr>
        <p:grpSpPr>
          <a:xfrm>
            <a:off x="1028880" y="3485880"/>
            <a:ext cx="3688560" cy="4352760"/>
            <a:chOff x="1028880" y="3485880"/>
            <a:chExt cx="3688560" cy="4352760"/>
          </a:xfrm>
        </p:grpSpPr>
        <p:grpSp>
          <p:nvGrpSpPr>
            <p:cNvPr id="89" name="Group 6"/>
            <p:cNvGrpSpPr/>
            <p:nvPr/>
          </p:nvGrpSpPr>
          <p:grpSpPr>
            <a:xfrm>
              <a:off x="1436400" y="3485880"/>
              <a:ext cx="2872800" cy="2872800"/>
              <a:chOff x="1436400" y="3485880"/>
              <a:chExt cx="2872800" cy="2872800"/>
            </a:xfrm>
          </p:grpSpPr>
          <p:sp>
            <p:nvSpPr>
              <p:cNvPr id="90" name="Freeform 7"/>
              <p:cNvSpPr/>
              <p:nvPr/>
            </p:nvSpPr>
            <p:spPr>
              <a:xfrm>
                <a:off x="1436400" y="3485880"/>
                <a:ext cx="2872800" cy="2872800"/>
              </a:xfrm>
              <a:custGeom>
                <a:avLst/>
                <a:gdLst>
                  <a:gd name="textAreaLeft" fmla="*/ 0 w 2872800"/>
                  <a:gd name="textAreaRight" fmla="*/ 2873880 w 2872800"/>
                  <a:gd name="textAreaTop" fmla="*/ 0 h 2872800"/>
                  <a:gd name="textAreaBottom" fmla="*/ 2873880 h 287280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TextBox 8"/>
              <p:cNvSpPr/>
              <p:nvPr/>
            </p:nvSpPr>
            <p:spPr>
              <a:xfrm>
                <a:off x="1706040" y="3620880"/>
                <a:ext cx="2333880" cy="246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92" name="TextBox 9"/>
            <p:cNvSpPr/>
            <p:nvPr/>
          </p:nvSpPr>
          <p:spPr>
            <a:xfrm>
              <a:off x="2152440" y="4563720"/>
              <a:ext cx="1441080" cy="70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584"/>
                </a:lnSpc>
              </a:pPr>
              <a:r>
                <a:rPr lang="en-US" sz="3990" b="1" u="none" strike="noStrike">
                  <a:solidFill>
                    <a:srgbClr val="FFFFFF"/>
                  </a:solidFill>
                  <a:effectLst/>
                  <a:uFillTx/>
                  <a:latin typeface="Inter Medium"/>
                  <a:ea typeface="Inter Medium"/>
                </a:rPr>
                <a:t>01</a:t>
              </a:r>
              <a:endParaRPr lang="tr-TR" sz="39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TextBox 10"/>
            <p:cNvSpPr/>
            <p:nvPr/>
          </p:nvSpPr>
          <p:spPr>
            <a:xfrm>
              <a:off x="1028880" y="7198920"/>
              <a:ext cx="368856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520"/>
                </a:lnSpc>
                <a:spcBef>
                  <a:spcPts val="1191"/>
                </a:spcBef>
                <a:spcAft>
                  <a:spcPts val="992"/>
                </a:spcAft>
              </a:pP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Hangi Veri Kaynakları Seçildi?</a:t>
              </a:r>
              <a:br>
                <a:rPr sz="1800"/>
              </a:b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 Medallion Architecture </a:t>
              </a:r>
              <a:endPara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TextBox 11"/>
            <p:cNvSpPr/>
            <p:nvPr/>
          </p:nvSpPr>
          <p:spPr>
            <a:xfrm>
              <a:off x="1028880" y="6654600"/>
              <a:ext cx="3688560" cy="372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940"/>
                </a:lnSpc>
              </a:pPr>
              <a:r>
                <a:rPr lang="tr-TR" sz="2100" b="1" u="none" strike="noStrike">
                  <a:solidFill>
                    <a:srgbClr val="000000"/>
                  </a:solidFill>
                  <a:effectLst/>
                  <a:uFillTx/>
                  <a:latin typeface="Inter Medium"/>
                  <a:ea typeface="Inter Medium"/>
                </a:rPr>
                <a:t>VERİ KAYNAĞI VE MİMARİ</a:t>
              </a:r>
              <a:endPara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" name="Group 12"/>
          <p:cNvGrpSpPr/>
          <p:nvPr/>
        </p:nvGrpSpPr>
        <p:grpSpPr>
          <a:xfrm>
            <a:off x="5176800" y="3422160"/>
            <a:ext cx="3731760" cy="4124880"/>
            <a:chOff x="5176800" y="3422160"/>
            <a:chExt cx="3731760" cy="4124880"/>
          </a:xfrm>
        </p:grpSpPr>
        <p:grpSp>
          <p:nvGrpSpPr>
            <p:cNvPr id="96" name="Group 13"/>
            <p:cNvGrpSpPr/>
            <p:nvPr/>
          </p:nvGrpSpPr>
          <p:grpSpPr>
            <a:xfrm>
              <a:off x="5584680" y="3422160"/>
              <a:ext cx="2872800" cy="2872800"/>
              <a:chOff x="5584680" y="3422160"/>
              <a:chExt cx="2872800" cy="2872800"/>
            </a:xfrm>
          </p:grpSpPr>
          <p:sp>
            <p:nvSpPr>
              <p:cNvPr id="97" name="Freeform 14"/>
              <p:cNvSpPr/>
              <p:nvPr/>
            </p:nvSpPr>
            <p:spPr>
              <a:xfrm>
                <a:off x="5584680" y="3422160"/>
                <a:ext cx="2872800" cy="2872800"/>
              </a:xfrm>
              <a:custGeom>
                <a:avLst/>
                <a:gdLst>
                  <a:gd name="textAreaLeft" fmla="*/ 0 w 2872800"/>
                  <a:gd name="textAreaRight" fmla="*/ 2873880 w 2872800"/>
                  <a:gd name="textAreaTop" fmla="*/ 0 h 2872800"/>
                  <a:gd name="textAreaBottom" fmla="*/ 2873880 h 287280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TextBox 15"/>
              <p:cNvSpPr/>
              <p:nvPr/>
            </p:nvSpPr>
            <p:spPr>
              <a:xfrm>
                <a:off x="5854320" y="3557160"/>
                <a:ext cx="2333880" cy="246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99" name="TextBox 16"/>
            <p:cNvSpPr/>
            <p:nvPr/>
          </p:nvSpPr>
          <p:spPr>
            <a:xfrm>
              <a:off x="6300720" y="4500000"/>
              <a:ext cx="1441080" cy="70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584"/>
                </a:lnSpc>
              </a:pPr>
              <a:r>
                <a:rPr lang="en-US" sz="3990" b="1" u="none" strike="noStrike">
                  <a:solidFill>
                    <a:srgbClr val="FFFFFF"/>
                  </a:solidFill>
                  <a:effectLst/>
                  <a:uFillTx/>
                  <a:latin typeface="Inter Medium"/>
                  <a:ea typeface="Inter Medium"/>
                </a:rPr>
                <a:t>02</a:t>
              </a:r>
              <a:endParaRPr lang="tr-TR" sz="39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TextBox 17"/>
            <p:cNvSpPr/>
            <p:nvPr/>
          </p:nvSpPr>
          <p:spPr>
            <a:xfrm>
              <a:off x="5176800" y="7227000"/>
              <a:ext cx="3688560" cy="32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520"/>
                </a:lnSpc>
              </a:pP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Günlük Dönüşüm</a:t>
              </a:r>
              <a:endPara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TextBox 18"/>
            <p:cNvSpPr/>
            <p:nvPr/>
          </p:nvSpPr>
          <p:spPr>
            <a:xfrm>
              <a:off x="5220000" y="6660000"/>
              <a:ext cx="3688560" cy="373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940"/>
                </a:lnSpc>
              </a:pPr>
              <a:r>
                <a:rPr lang="tr-TR" sz="2100" b="1" u="none" strike="noStrike">
                  <a:solidFill>
                    <a:srgbClr val="000000"/>
                  </a:solidFill>
                  <a:effectLst/>
                  <a:uFillTx/>
                  <a:latin typeface="Inter Medium"/>
                  <a:ea typeface="Inter Medium"/>
                </a:rPr>
                <a:t>GERÇEK ZAMANLI AKIŞ</a:t>
              </a:r>
              <a:endPara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2" name="Group 19"/>
          <p:cNvGrpSpPr/>
          <p:nvPr/>
        </p:nvGrpSpPr>
        <p:grpSpPr>
          <a:xfrm>
            <a:off x="9389160" y="3485880"/>
            <a:ext cx="3688560" cy="4033080"/>
            <a:chOff x="9389160" y="3485880"/>
            <a:chExt cx="3688560" cy="4033080"/>
          </a:xfrm>
        </p:grpSpPr>
        <p:grpSp>
          <p:nvGrpSpPr>
            <p:cNvPr id="103" name="Group 20"/>
            <p:cNvGrpSpPr/>
            <p:nvPr/>
          </p:nvGrpSpPr>
          <p:grpSpPr>
            <a:xfrm>
              <a:off x="9797040" y="3485880"/>
              <a:ext cx="2872800" cy="2872800"/>
              <a:chOff x="9797040" y="3485880"/>
              <a:chExt cx="2872800" cy="2872800"/>
            </a:xfrm>
          </p:grpSpPr>
          <p:sp>
            <p:nvSpPr>
              <p:cNvPr id="104" name="Freeform 21"/>
              <p:cNvSpPr/>
              <p:nvPr/>
            </p:nvSpPr>
            <p:spPr>
              <a:xfrm>
                <a:off x="9797040" y="3485880"/>
                <a:ext cx="2872800" cy="2872800"/>
              </a:xfrm>
              <a:custGeom>
                <a:avLst/>
                <a:gdLst>
                  <a:gd name="textAreaLeft" fmla="*/ 0 w 2872800"/>
                  <a:gd name="textAreaRight" fmla="*/ 2873880 w 2872800"/>
                  <a:gd name="textAreaTop" fmla="*/ 0 h 2872800"/>
                  <a:gd name="textAreaBottom" fmla="*/ 2873880 h 287280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TextBox 22"/>
              <p:cNvSpPr/>
              <p:nvPr/>
            </p:nvSpPr>
            <p:spPr>
              <a:xfrm>
                <a:off x="10066680" y="3620880"/>
                <a:ext cx="2333880" cy="246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106" name="TextBox 23"/>
            <p:cNvSpPr/>
            <p:nvPr/>
          </p:nvSpPr>
          <p:spPr>
            <a:xfrm>
              <a:off x="10513080" y="4563720"/>
              <a:ext cx="1441080" cy="70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584"/>
                </a:lnSpc>
              </a:pPr>
              <a:r>
                <a:rPr lang="en-US" sz="3990" b="1" u="none" strike="noStrike">
                  <a:solidFill>
                    <a:srgbClr val="FFFFFF"/>
                  </a:solidFill>
                  <a:effectLst/>
                  <a:uFillTx/>
                  <a:latin typeface="Inter Medium"/>
                  <a:ea typeface="Inter Medium"/>
                </a:rPr>
                <a:t>03</a:t>
              </a:r>
              <a:endParaRPr lang="tr-TR" sz="39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TextBox 24"/>
            <p:cNvSpPr/>
            <p:nvPr/>
          </p:nvSpPr>
          <p:spPr>
            <a:xfrm>
              <a:off x="9389160" y="7198920"/>
              <a:ext cx="3688560" cy="32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520"/>
                </a:lnSpc>
              </a:pP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Inter"/>
                </a:rPr>
                <a:t>Tercih Edilen Uygulamalar</a:t>
              </a:r>
              <a:endPara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TextBox 25"/>
            <p:cNvSpPr/>
            <p:nvPr/>
          </p:nvSpPr>
          <p:spPr>
            <a:xfrm>
              <a:off x="9389160" y="6654600"/>
              <a:ext cx="3688560" cy="37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940"/>
                </a:lnSpc>
              </a:pPr>
              <a:r>
                <a:rPr lang="tr-TR" sz="2100" b="1" u="none" strike="noStrike">
                  <a:solidFill>
                    <a:srgbClr val="000000"/>
                  </a:solidFill>
                  <a:effectLst/>
                  <a:uFillTx/>
                  <a:latin typeface="Inter Medium"/>
                  <a:ea typeface="Inter Medium"/>
                </a:rPr>
                <a:t>TEKNOLOJİ KULLANIMI</a:t>
              </a:r>
              <a:endPara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" name="Group 26"/>
          <p:cNvGrpSpPr/>
          <p:nvPr/>
        </p:nvGrpSpPr>
        <p:grpSpPr>
          <a:xfrm>
            <a:off x="13569480" y="3485880"/>
            <a:ext cx="3688560" cy="4352760"/>
            <a:chOff x="13569480" y="3485880"/>
            <a:chExt cx="3688560" cy="4352760"/>
          </a:xfrm>
        </p:grpSpPr>
        <p:grpSp>
          <p:nvGrpSpPr>
            <p:cNvPr id="110" name="Group 27"/>
            <p:cNvGrpSpPr/>
            <p:nvPr/>
          </p:nvGrpSpPr>
          <p:grpSpPr>
            <a:xfrm>
              <a:off x="13977360" y="3485880"/>
              <a:ext cx="2872800" cy="2872800"/>
              <a:chOff x="13977360" y="3485880"/>
              <a:chExt cx="2872800" cy="2872800"/>
            </a:xfrm>
          </p:grpSpPr>
          <p:sp>
            <p:nvSpPr>
              <p:cNvPr id="111" name="Freeform 28"/>
              <p:cNvSpPr/>
              <p:nvPr/>
            </p:nvSpPr>
            <p:spPr>
              <a:xfrm>
                <a:off x="13977360" y="3485880"/>
                <a:ext cx="2872800" cy="2872800"/>
              </a:xfrm>
              <a:custGeom>
                <a:avLst/>
                <a:gdLst>
                  <a:gd name="textAreaLeft" fmla="*/ 0 w 2872800"/>
                  <a:gd name="textAreaRight" fmla="*/ 2873880 w 2872800"/>
                  <a:gd name="textAreaTop" fmla="*/ 0 h 2872800"/>
                  <a:gd name="textAreaBottom" fmla="*/ 2873880 h 287280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TextBox 29"/>
              <p:cNvSpPr/>
              <p:nvPr/>
            </p:nvSpPr>
            <p:spPr>
              <a:xfrm>
                <a:off x="14247000" y="3620880"/>
                <a:ext cx="2333880" cy="2468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sp>
          <p:nvSpPr>
            <p:cNvPr id="113" name="TextBox 30"/>
            <p:cNvSpPr/>
            <p:nvPr/>
          </p:nvSpPr>
          <p:spPr>
            <a:xfrm>
              <a:off x="14693400" y="4563720"/>
              <a:ext cx="1441080" cy="70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5584"/>
                </a:lnSpc>
              </a:pPr>
              <a:r>
                <a:rPr lang="en-US" sz="3990" b="1" u="none" strike="noStrike">
                  <a:solidFill>
                    <a:srgbClr val="FFFFFF"/>
                  </a:solidFill>
                  <a:effectLst/>
                  <a:uFillTx/>
                  <a:latin typeface="Inter Medium"/>
                  <a:ea typeface="Inter Medium"/>
                </a:rPr>
                <a:t>04</a:t>
              </a:r>
              <a:endParaRPr lang="tr-TR" sz="399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TextBox 31"/>
            <p:cNvSpPr/>
            <p:nvPr/>
          </p:nvSpPr>
          <p:spPr>
            <a:xfrm>
              <a:off x="13569480" y="7198920"/>
              <a:ext cx="3688560" cy="63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520"/>
                </a:lnSpc>
              </a:pP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Rakamlarla Proje </a:t>
              </a:r>
              <a:br>
                <a:rPr sz="1800"/>
              </a:br>
              <a:r>
                <a:rPr lang="tr-TR" sz="1800" b="0" u="none" strike="noStrike">
                  <a:solidFill>
                    <a:srgbClr val="000000"/>
                  </a:solidFill>
                  <a:effectLst/>
                  <a:uFillTx/>
                  <a:latin typeface="Inter"/>
                  <a:ea typeface="Inter"/>
                </a:rPr>
                <a:t>Sonuçlar</a:t>
              </a:r>
              <a:endParaRPr lang="tr-TR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Box 32"/>
            <p:cNvSpPr/>
            <p:nvPr/>
          </p:nvSpPr>
          <p:spPr>
            <a:xfrm>
              <a:off x="13569480" y="6480000"/>
              <a:ext cx="3688560" cy="74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algn="ctr" defTabSz="914400">
                <a:lnSpc>
                  <a:spcPts val="2940"/>
                </a:lnSpc>
              </a:pPr>
              <a:r>
                <a:rPr lang="tr-TR" sz="2100" b="1" u="none" strike="noStrike">
                  <a:solidFill>
                    <a:srgbClr val="000000"/>
                  </a:solidFill>
                  <a:effectLst/>
                  <a:uFillTx/>
                  <a:latin typeface="Inter Medium"/>
                  <a:ea typeface="Inter Medium"/>
                </a:rPr>
                <a:t>TEST SONUÇLARI VE KARŞILAŞILAN ZORLUKLAR</a:t>
              </a:r>
              <a:endParaRPr lang="tr-TR" sz="2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2"/>
          <p:cNvGrpSpPr/>
          <p:nvPr/>
        </p:nvGrpSpPr>
        <p:grpSpPr>
          <a:xfrm>
            <a:off x="1028880" y="8924760"/>
            <a:ext cx="858960" cy="332640"/>
            <a:chOff x="1028880" y="8924760"/>
            <a:chExt cx="858960" cy="332640"/>
          </a:xfrm>
        </p:grpSpPr>
        <p:grpSp>
          <p:nvGrpSpPr>
            <p:cNvPr id="117" name="Group 3"/>
            <p:cNvGrpSpPr/>
            <p:nvPr/>
          </p:nvGrpSpPr>
          <p:grpSpPr>
            <a:xfrm>
              <a:off x="1028880" y="8924760"/>
              <a:ext cx="332640" cy="332640"/>
              <a:chOff x="1028880" y="8924760"/>
              <a:chExt cx="332640" cy="332640"/>
            </a:xfrm>
          </p:grpSpPr>
          <p:sp>
            <p:nvSpPr>
              <p:cNvPr id="118" name="Freeform 4"/>
              <p:cNvSpPr/>
              <p:nvPr/>
            </p:nvSpPr>
            <p:spPr>
              <a:xfrm>
                <a:off x="1028880" y="892476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TextBox 5"/>
              <p:cNvSpPr/>
              <p:nvPr/>
            </p:nvSpPr>
            <p:spPr>
              <a:xfrm>
                <a:off x="1059840" y="894024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120" name="Group 6"/>
            <p:cNvGrpSpPr/>
            <p:nvPr/>
          </p:nvGrpSpPr>
          <p:grpSpPr>
            <a:xfrm>
              <a:off x="1555200" y="8924760"/>
              <a:ext cx="332640" cy="332640"/>
              <a:chOff x="1555200" y="8924760"/>
              <a:chExt cx="332640" cy="332640"/>
            </a:xfrm>
          </p:grpSpPr>
          <p:sp>
            <p:nvSpPr>
              <p:cNvPr id="121" name="Freeform 7"/>
              <p:cNvSpPr/>
              <p:nvPr/>
            </p:nvSpPr>
            <p:spPr>
              <a:xfrm>
                <a:off x="1555200" y="892476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TextBox 8"/>
              <p:cNvSpPr/>
              <p:nvPr/>
            </p:nvSpPr>
            <p:spPr>
              <a:xfrm>
                <a:off x="1586520" y="894024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23" name="TextBox 12"/>
          <p:cNvSpPr/>
          <p:nvPr/>
        </p:nvSpPr>
        <p:spPr>
          <a:xfrm>
            <a:off x="1028880" y="2095560"/>
            <a:ext cx="1070496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3"/>
          <p:cNvSpPr/>
          <p:nvPr/>
        </p:nvSpPr>
        <p:spPr>
          <a:xfrm>
            <a:off x="1028880" y="981000"/>
            <a:ext cx="4550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NEDEN BU PROJE?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2"/>
          <p:cNvSpPr/>
          <p:nvPr/>
        </p:nvSpPr>
        <p:spPr>
          <a:xfrm>
            <a:off x="12115800" y="7581960"/>
            <a:ext cx="5577840" cy="96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1"/>
          <p:cNvSpPr/>
          <p:nvPr/>
        </p:nvSpPr>
        <p:spPr>
          <a:xfrm>
            <a:off x="5940000" y="1810440"/>
            <a:ext cx="953928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Karmaşık ve anlaşılması zor hava trafiği verilerini (uçak konum / hız / irtifa..) anlaşılabilir formatlara getirip bu verileri ihtiyaç doğrultusunda kullanabileceğimiz bir platforma dönüştürdük.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6"/>
          <p:cNvSpPr/>
          <p:nvPr/>
        </p:nvSpPr>
        <p:spPr>
          <a:xfrm>
            <a:off x="1800000" y="4140000"/>
            <a:ext cx="3138840" cy="71928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NEDEN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5899320" y="3600000"/>
            <a:ext cx="9759960" cy="17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Rota sapması, ani sinyal kaybı, askeri/sivil karışık trafik gibi örüntüleri hem canlı hem tarihsel olarak yakalayabilmek gerekiyordu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Bunu güvenilir yapabilmek için önce sağlam, tekrarlanabilir bir veri altyapısı şarttı, model eğitmeden önce veri akışının kendisi doğru kurulmalıydı.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5899320" y="6179040"/>
            <a:ext cx="9399960" cy="17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İki paralel veri yolu kurduk: (1) tarihsel/hazır veri setleri için toplu bir işleme hattı, (2) canlı adsb.lol akışı için sürekli çalışan bir Kafka hattı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Bu sunum, esas olarak bu iki hattın nasıl tasarlandığını, hangi kararların neden alındığını ve karşılaşılan gerçek sorunları anlatıyor.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1"/>
          <p:cNvSpPr/>
          <p:nvPr/>
        </p:nvSpPr>
        <p:spPr>
          <a:xfrm>
            <a:off x="1800000" y="1980000"/>
            <a:ext cx="3138840" cy="69048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2"/>
          <p:cNvSpPr/>
          <p:nvPr/>
        </p:nvSpPr>
        <p:spPr>
          <a:xfrm>
            <a:off x="1800000" y="6654600"/>
            <a:ext cx="3138840" cy="72468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NASIL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2160000" y="9000000"/>
            <a:ext cx="647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i="1" u="none" strike="noStrike">
                <a:solidFill>
                  <a:srgbClr val="E0A24D"/>
                </a:solidFill>
                <a:effectLst/>
                <a:uFillTx/>
                <a:latin typeface="Arial"/>
              </a:rPr>
              <a:t>→  Peki bu iki hattı besleyecek veri kaynağını nasıl seçtik?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2"/>
          <p:cNvSpPr/>
          <p:nvPr/>
        </p:nvSpPr>
        <p:spPr>
          <a:xfrm>
            <a:off x="703080" y="144000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2"/>
          <p:cNvGrpSpPr/>
          <p:nvPr/>
        </p:nvGrpSpPr>
        <p:grpSpPr>
          <a:xfrm>
            <a:off x="1028880" y="8924760"/>
            <a:ext cx="858960" cy="332640"/>
            <a:chOff x="1028880" y="8924760"/>
            <a:chExt cx="858960" cy="332640"/>
          </a:xfrm>
        </p:grpSpPr>
        <p:grpSp>
          <p:nvGrpSpPr>
            <p:cNvPr id="135" name="Group 3"/>
            <p:cNvGrpSpPr/>
            <p:nvPr/>
          </p:nvGrpSpPr>
          <p:grpSpPr>
            <a:xfrm>
              <a:off x="1028880" y="8924760"/>
              <a:ext cx="332640" cy="332640"/>
              <a:chOff x="1028880" y="8924760"/>
              <a:chExt cx="332640" cy="332640"/>
            </a:xfrm>
          </p:grpSpPr>
          <p:sp>
            <p:nvSpPr>
              <p:cNvPr id="136" name="Freeform 4"/>
              <p:cNvSpPr/>
              <p:nvPr/>
            </p:nvSpPr>
            <p:spPr>
              <a:xfrm>
                <a:off x="1028880" y="892476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TextBox 5"/>
              <p:cNvSpPr/>
              <p:nvPr/>
            </p:nvSpPr>
            <p:spPr>
              <a:xfrm>
                <a:off x="1059840" y="894024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138" name="Group 6"/>
            <p:cNvGrpSpPr/>
            <p:nvPr/>
          </p:nvGrpSpPr>
          <p:grpSpPr>
            <a:xfrm>
              <a:off x="1555200" y="8924760"/>
              <a:ext cx="332640" cy="332640"/>
              <a:chOff x="1555200" y="8924760"/>
              <a:chExt cx="332640" cy="332640"/>
            </a:xfrm>
          </p:grpSpPr>
          <p:sp>
            <p:nvSpPr>
              <p:cNvPr id="139" name="Freeform 7"/>
              <p:cNvSpPr/>
              <p:nvPr/>
            </p:nvSpPr>
            <p:spPr>
              <a:xfrm>
                <a:off x="1555200" y="892476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TextBox 8"/>
              <p:cNvSpPr/>
              <p:nvPr/>
            </p:nvSpPr>
            <p:spPr>
              <a:xfrm>
                <a:off x="1586520" y="894024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41" name="TextBox 12"/>
          <p:cNvSpPr/>
          <p:nvPr/>
        </p:nvSpPr>
        <p:spPr>
          <a:xfrm>
            <a:off x="1028880" y="2095560"/>
            <a:ext cx="10704960" cy="93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3"/>
          <p:cNvSpPr/>
          <p:nvPr/>
        </p:nvSpPr>
        <p:spPr>
          <a:xfrm>
            <a:off x="1028880" y="997920"/>
            <a:ext cx="815076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1) VERİ KAYNAKLARI &amp; SEÇİM SEBEPLERİ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12"/>
          <p:cNvSpPr/>
          <p:nvPr/>
        </p:nvSpPr>
        <p:spPr>
          <a:xfrm>
            <a:off x="6354720" y="9586440"/>
            <a:ext cx="5577840" cy="32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3"/>
          <p:cNvSpPr/>
          <p:nvPr/>
        </p:nvSpPr>
        <p:spPr>
          <a:xfrm>
            <a:off x="640440" y="137160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45" name="Table 4"/>
          <p:cNvGraphicFramePr/>
          <p:nvPr/>
        </p:nvGraphicFramePr>
        <p:xfrm>
          <a:off x="757440" y="1828080"/>
          <a:ext cx="10515240" cy="301752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365760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Kriter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OpenSky Network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adsb.lol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Kimlik doğrulama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Gerekli (OAuth2)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Gerekmiyor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Günlük kota / kredi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Var, sınırlı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Yok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Tarihsel veri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Sınırlı erişim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Günlük tam-ağ tar arşivi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Gerçek zamanlı erişim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Var ama limitli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REST feed, sınırsız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Tek kaynaktan ikisi birden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Hayır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Arial"/>
                        </a:rPr>
                        <a:t>Evet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TextBox 6"/>
          <p:cNvSpPr/>
          <p:nvPr/>
        </p:nvSpPr>
        <p:spPr>
          <a:xfrm>
            <a:off x="823320" y="5029200"/>
            <a:ext cx="1033164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4"/>
          <p:cNvSpPr/>
          <p:nvPr/>
        </p:nvSpPr>
        <p:spPr>
          <a:xfrm>
            <a:off x="551160" y="5325120"/>
            <a:ext cx="5028120" cy="331416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5"/>
          <p:cNvSpPr/>
          <p:nvPr/>
        </p:nvSpPr>
        <p:spPr>
          <a:xfrm>
            <a:off x="6131160" y="5325120"/>
            <a:ext cx="5028120" cy="331416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7"/>
          <p:cNvSpPr/>
          <p:nvPr/>
        </p:nvSpPr>
        <p:spPr>
          <a:xfrm>
            <a:off x="551160" y="5325120"/>
            <a:ext cx="5028120" cy="50184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8"/>
          <p:cNvSpPr/>
          <p:nvPr/>
        </p:nvSpPr>
        <p:spPr>
          <a:xfrm>
            <a:off x="6131160" y="5325120"/>
            <a:ext cx="5028120" cy="50184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4"/>
          <p:cNvSpPr/>
          <p:nvPr/>
        </p:nvSpPr>
        <p:spPr>
          <a:xfrm>
            <a:off x="551160" y="5398200"/>
            <a:ext cx="502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ALFA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9"/>
          <p:cNvSpPr/>
          <p:nvPr/>
        </p:nvSpPr>
        <p:spPr>
          <a:xfrm>
            <a:off x="6131160" y="5398200"/>
            <a:ext cx="50281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UAV Attack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21"/>
          <p:cNvSpPr/>
          <p:nvPr/>
        </p:nvSpPr>
        <p:spPr>
          <a:xfrm>
            <a:off x="779760" y="6010920"/>
            <a:ext cx="4570920" cy="12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Gerçek uçuş arızası ground-truth verisi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Fault/anomaly etiketleri gerçek uçuşlardan geliyor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İleride model doğrulaması için referans noktası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6"/>
          <p:cNvSpPr/>
          <p:nvPr/>
        </p:nvSpPr>
        <p:spPr>
          <a:xfrm>
            <a:off x="6359760" y="6010920"/>
            <a:ext cx="4570920" cy="91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İyi huylu/ kötü niyetli (malicious) saldırı etiketleri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5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Anomali tespitini precision/recall ile ölçülebilir kılıyor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11880000" y="2160000"/>
            <a:ext cx="503928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Sonuç: adsb.lol, hem TB'larca tarihsel arşivi hem sürekli canlı sorguyu kota/kimlik doğrulama derdi olmadan tek kaynaktan karşılıyor.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11739600" y="5885640"/>
            <a:ext cx="4819680" cy="13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11111"/>
                </a:solidFill>
                <a:effectLst/>
                <a:uFillTx/>
                <a:latin typeface="Arial"/>
              </a:rPr>
              <a:t>Neden önemli: ham MAVLink log'unda bu tür etiketler yok, bu ikisi sayesinde "ne kadar iyi tespit ettik" sorusu sayısal cevaplanabiliyor</a:t>
            </a:r>
            <a:r>
              <a:rPr lang="en-US" sz="1350" b="1" u="none" strike="noStrike">
                <a:solidFill>
                  <a:srgbClr val="111111"/>
                </a:solidFill>
                <a:effectLst/>
                <a:uFillTx/>
                <a:latin typeface="Calibri"/>
              </a:rPr>
              <a:t>.</a:t>
            </a:r>
            <a:endParaRPr lang="tr-T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1880000" y="3420000"/>
            <a:ext cx="5399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Bkz: https://github.com/adsblol/globe_history_2026/</a:t>
            </a: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2158920" y="9000000"/>
            <a:ext cx="82803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i="1" u="none" strike="noStrike">
                <a:solidFill>
                  <a:srgbClr val="E0A24D"/>
                </a:solidFill>
                <a:effectLst/>
                <a:uFillTx/>
                <a:latin typeface="Calibri"/>
              </a:rPr>
              <a:t>→  Şimdi bu üç kaynağın veriyi nasıl güvenilir bir hatta işlediğine bakalım.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3"/>
          <p:cNvSpPr/>
          <p:nvPr/>
        </p:nvSpPr>
        <p:spPr>
          <a:xfrm>
            <a:off x="1028880" y="981000"/>
            <a:ext cx="1175076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ÜÇ KATMANLI VERİ İŞLEME HATTI (MEDALLION)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9"/>
          <p:cNvSpPr/>
          <p:nvPr/>
        </p:nvSpPr>
        <p:spPr>
          <a:xfrm>
            <a:off x="1000080" y="1980000"/>
            <a:ext cx="4781520" cy="383580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286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BRONZE</a:t>
            </a:r>
            <a:endParaRPr lang="tr-T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Ham veri — hiç dönüştürülmemiş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(.tar / .zip / .jsonl)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MinIO</a:t>
            </a:r>
            <a:endParaRPr lang="tr-T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10"/>
          <p:cNvSpPr/>
          <p:nvPr/>
        </p:nvSpPr>
        <p:spPr>
          <a:xfrm>
            <a:off x="6658920" y="1980000"/>
            <a:ext cx="4781520" cy="3835800"/>
          </a:xfrm>
          <a:prstGeom prst="rect">
            <a:avLst/>
          </a:prstGeom>
          <a:solidFill>
            <a:srgbClr val="6B74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286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SILVER</a:t>
            </a:r>
            <a:endParaRPr lang="tr-T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Birim dönüşümü, etiket çıkarımı,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source eklenmiş Parquet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(feet→m, knots→m/s)</a:t>
            </a:r>
            <a:endParaRPr lang="tr-T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11"/>
          <p:cNvSpPr/>
          <p:nvPr/>
        </p:nvSpPr>
        <p:spPr>
          <a:xfrm>
            <a:off x="12317760" y="1980000"/>
            <a:ext cx="4781520" cy="3835800"/>
          </a:xfrm>
          <a:prstGeom prst="rect">
            <a:avLst/>
          </a:prstGeom>
          <a:solidFill>
            <a:srgbClr val="C99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286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GOLD</a:t>
            </a:r>
            <a:endParaRPr lang="tr-T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Tüm kaynakların ortak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7+3 şemaya hizalandığı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birleşik veri seti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ight Arrow 7"/>
          <p:cNvSpPr/>
          <p:nvPr/>
        </p:nvSpPr>
        <p:spPr>
          <a:xfrm>
            <a:off x="5917680" y="3361320"/>
            <a:ext cx="672480" cy="766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Right Arrow 8"/>
          <p:cNvSpPr/>
          <p:nvPr/>
        </p:nvSpPr>
        <p:spPr>
          <a:xfrm>
            <a:off x="11576520" y="3361320"/>
            <a:ext cx="672480" cy="7660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8"/>
          <p:cNvSpPr/>
          <p:nvPr/>
        </p:nvSpPr>
        <p:spPr>
          <a:xfrm>
            <a:off x="1107720" y="6385320"/>
            <a:ext cx="15991560" cy="81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Calibri"/>
              </a:rPr>
              <a:t>▸ </a:t>
            </a: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 Neden üç katman (tek 'temiz tablo' değil): geri dönülebilirlik, sorumluluk ayrımı, test edilebilirlik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01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Parse hatası olduğunda (gerçekte 2 kez oldu) sadece ilgili katman yeniden üretiliyor, ham veri asla bozulmuyor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3"/>
          <p:cNvSpPr/>
          <p:nvPr/>
        </p:nvSpPr>
        <p:spPr>
          <a:xfrm>
            <a:off x="2160000" y="8965440"/>
            <a:ext cx="15119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E0A24D"/>
                </a:solidFill>
                <a:effectLst/>
                <a:uFillTx/>
                <a:latin typeface="Calibri"/>
              </a:rPr>
              <a:t>→  Şimdi her katmanı tek tek, gerçek kodla inceleyelim.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67" name="Group 1"/>
          <p:cNvGrpSpPr/>
          <p:nvPr/>
        </p:nvGrpSpPr>
        <p:grpSpPr>
          <a:xfrm>
            <a:off x="1028880" y="8924760"/>
            <a:ext cx="858960" cy="332640"/>
            <a:chOff x="1028880" y="8924760"/>
            <a:chExt cx="858960" cy="332640"/>
          </a:xfrm>
        </p:grpSpPr>
        <p:grpSp>
          <p:nvGrpSpPr>
            <p:cNvPr id="168" name="Group 4"/>
            <p:cNvGrpSpPr/>
            <p:nvPr/>
          </p:nvGrpSpPr>
          <p:grpSpPr>
            <a:xfrm>
              <a:off x="1028880" y="8924760"/>
              <a:ext cx="332640" cy="332640"/>
              <a:chOff x="1028880" y="8924760"/>
              <a:chExt cx="332640" cy="332640"/>
            </a:xfrm>
          </p:grpSpPr>
          <p:sp>
            <p:nvSpPr>
              <p:cNvPr id="169" name="Freeform 1"/>
              <p:cNvSpPr/>
              <p:nvPr/>
            </p:nvSpPr>
            <p:spPr>
              <a:xfrm>
                <a:off x="1028880" y="892476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TextBox 34"/>
              <p:cNvSpPr/>
              <p:nvPr/>
            </p:nvSpPr>
            <p:spPr>
              <a:xfrm>
                <a:off x="1059840" y="894024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171" name="Group 7"/>
            <p:cNvGrpSpPr/>
            <p:nvPr/>
          </p:nvGrpSpPr>
          <p:grpSpPr>
            <a:xfrm>
              <a:off x="1555200" y="8924760"/>
              <a:ext cx="332640" cy="332640"/>
              <a:chOff x="1555200" y="8924760"/>
              <a:chExt cx="332640" cy="332640"/>
            </a:xfrm>
          </p:grpSpPr>
          <p:sp>
            <p:nvSpPr>
              <p:cNvPr id="172" name="Freeform 2"/>
              <p:cNvSpPr/>
              <p:nvPr/>
            </p:nvSpPr>
            <p:spPr>
              <a:xfrm>
                <a:off x="1555200" y="892476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TextBox 35"/>
              <p:cNvSpPr/>
              <p:nvPr/>
            </p:nvSpPr>
            <p:spPr>
              <a:xfrm>
                <a:off x="1586520" y="894024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74" name="Rectangle 13"/>
          <p:cNvSpPr/>
          <p:nvPr/>
        </p:nvSpPr>
        <p:spPr>
          <a:xfrm>
            <a:off x="720000" y="137196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"/>
          <p:cNvSpPr/>
          <p:nvPr/>
        </p:nvSpPr>
        <p:spPr>
          <a:xfrm>
            <a:off x="1080000" y="7863120"/>
            <a:ext cx="10619640" cy="136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highlight>
                  <a:srgbClr val="FFFFFF"/>
                </a:highlight>
                <a:uFillTx/>
                <a:latin typeface="Calibri"/>
              </a:rPr>
              <a:t>Medallion mimari (Bronze → Silver → Gold), Databricks tarafından tanıtılmış bir data lakehouse tasarım deseni. Kaynaklar:  https://docs.databricks.com/aws/en/lakehouse/medallion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36"/>
          <p:cNvSpPr/>
          <p:nvPr/>
        </p:nvSpPr>
        <p:spPr>
          <a:xfrm>
            <a:off x="1028880" y="981360"/>
            <a:ext cx="10310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BRONZE – RAW DATA DEPOSU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38"/>
          <p:cNvSpPr/>
          <p:nvPr/>
        </p:nvSpPr>
        <p:spPr>
          <a:xfrm>
            <a:off x="2160000" y="8965800"/>
            <a:ext cx="1511928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8" name="Group 8"/>
          <p:cNvGrpSpPr/>
          <p:nvPr/>
        </p:nvGrpSpPr>
        <p:grpSpPr>
          <a:xfrm>
            <a:off x="1028880" y="8925120"/>
            <a:ext cx="858960" cy="332640"/>
            <a:chOff x="1028880" y="8925120"/>
            <a:chExt cx="858960" cy="332640"/>
          </a:xfrm>
        </p:grpSpPr>
        <p:grpSp>
          <p:nvGrpSpPr>
            <p:cNvPr id="179" name="Group 9"/>
            <p:cNvGrpSpPr/>
            <p:nvPr/>
          </p:nvGrpSpPr>
          <p:grpSpPr>
            <a:xfrm>
              <a:off x="1028880" y="8925120"/>
              <a:ext cx="332640" cy="332640"/>
              <a:chOff x="1028880" y="8925120"/>
              <a:chExt cx="332640" cy="332640"/>
            </a:xfrm>
          </p:grpSpPr>
          <p:sp>
            <p:nvSpPr>
              <p:cNvPr id="180" name="Freeform 5"/>
              <p:cNvSpPr/>
              <p:nvPr/>
            </p:nvSpPr>
            <p:spPr>
              <a:xfrm>
                <a:off x="1028880" y="892512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" name="TextBox 39"/>
              <p:cNvSpPr/>
              <p:nvPr/>
            </p:nvSpPr>
            <p:spPr>
              <a:xfrm>
                <a:off x="1059840" y="894060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182" name="Group 15"/>
            <p:cNvGrpSpPr/>
            <p:nvPr/>
          </p:nvGrpSpPr>
          <p:grpSpPr>
            <a:xfrm>
              <a:off x="1555200" y="8925120"/>
              <a:ext cx="332640" cy="332640"/>
              <a:chOff x="1555200" y="8925120"/>
              <a:chExt cx="332640" cy="332640"/>
            </a:xfrm>
          </p:grpSpPr>
          <p:sp>
            <p:nvSpPr>
              <p:cNvPr id="183" name="Freeform 10"/>
              <p:cNvSpPr/>
              <p:nvPr/>
            </p:nvSpPr>
            <p:spPr>
              <a:xfrm>
                <a:off x="1555200" y="892512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4" name="TextBox 40"/>
              <p:cNvSpPr/>
              <p:nvPr/>
            </p:nvSpPr>
            <p:spPr>
              <a:xfrm>
                <a:off x="1586520" y="894060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185" name="Rectangle 17"/>
          <p:cNvSpPr/>
          <p:nvPr/>
        </p:nvSpPr>
        <p:spPr>
          <a:xfrm>
            <a:off x="720000" y="137232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Rectangle 14"/>
          <p:cNvSpPr/>
          <p:nvPr/>
        </p:nvSpPr>
        <p:spPr>
          <a:xfrm>
            <a:off x="540000" y="1674000"/>
            <a:ext cx="2730240" cy="43956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37"/>
          <p:cNvSpPr/>
          <p:nvPr/>
        </p:nvSpPr>
        <p:spPr>
          <a:xfrm>
            <a:off x="518040" y="2474280"/>
            <a:ext cx="254124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Tar/zip/JSONL dosyalarını hiçbir dönüşüm yapmadan MinIO'ya olduğu gibi kaydediyoruz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5"/>
          <p:cNvSpPr/>
          <p:nvPr/>
        </p:nvSpPr>
        <p:spPr>
          <a:xfrm>
            <a:off x="3780000" y="1673640"/>
            <a:ext cx="2730240" cy="43992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NEDEN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6"/>
          <p:cNvSpPr/>
          <p:nvPr/>
        </p:nvSpPr>
        <p:spPr>
          <a:xfrm>
            <a:off x="3600000" y="2520000"/>
            <a:ext cx="2879280" cy="357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Kaynak veriye her zaman geri dönebilmek için. Silver/Gold parse mantığı hatalıysa (nitekim oldu) ham veri bozulmadan kalıyor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Yeniden indirme derdi olmadan sadece parser'ı düzeltip yeniden üretebiliyoruz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16"/>
          <p:cNvSpPr/>
          <p:nvPr/>
        </p:nvSpPr>
        <p:spPr>
          <a:xfrm>
            <a:off x="7169040" y="1674360"/>
            <a:ext cx="2730240" cy="43920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NASIL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47"/>
          <p:cNvSpPr/>
          <p:nvPr/>
        </p:nvSpPr>
        <p:spPr>
          <a:xfrm>
            <a:off x="6818040" y="2340000"/>
            <a:ext cx="4521600" cy="458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30 tar (~100 GB) yerel diskten bir script ile MinIO'ya yüklendi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Zaten yüklenmiş dosyalar otomatik atlanıyor, script güvenle tekrar çalıştırılabiliyor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</a:t>
            </a:r>
            <a:r>
              <a:rPr lang="en-US" sz="2000" b="1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Yeni veri seti eklemek</a:t>
            </a: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 genelde özel kod gerektirmiyor, genel amaçlı bir parser (*parse_generic.py) dosya türünü otomatik tanıyıp Silver'a çeviriyor.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22"/>
          <p:cNvSpPr/>
          <p:nvPr/>
        </p:nvSpPr>
        <p:spPr>
          <a:xfrm>
            <a:off x="11340000" y="1620000"/>
            <a:ext cx="6119280" cy="39592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48"/>
          <p:cNvSpPr/>
          <p:nvPr/>
        </p:nvSpPr>
        <p:spPr>
          <a:xfrm>
            <a:off x="11340360" y="1620360"/>
            <a:ext cx="7919280" cy="50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scripts/upload_bronze_all.py -- idempotent kontrol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def already_uploaded(client, bucket, object_name) -&gt; bool: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try: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client.stat_object(bucket, object_name)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return True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except S3Error as e: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if e.code == "NoSuchKey": return False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raise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ana yukleme dongusu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for source, f in files: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object_name = f"{source}/{f.name}"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if already_uploaded(client, bucket, object_name):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skipped += 1; continue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ok = upload_file(client, bucket, object_name, f)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if ok: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f.unlink()   # basarili yuklemeden SONRA yerel kopyayi sil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Sonuc: uploaded=30 skipped=0 failed=0 (~63 MB/s, ~18 dakika)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13680000" y="5580000"/>
            <a:ext cx="21596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1 - Script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-540000" y="-1980000"/>
            <a:ext cx="360" cy="17928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ctr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"/>
          <p:cNvPicPr/>
          <p:nvPr/>
        </p:nvPicPr>
        <p:blipFill>
          <a:blip r:embed="rId1"/>
          <a:stretch/>
        </p:blipFill>
        <p:spPr>
          <a:xfrm>
            <a:off x="6589800" y="6391080"/>
            <a:ext cx="11229840" cy="278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"/>
          <p:cNvSpPr/>
          <p:nvPr/>
        </p:nvSpPr>
        <p:spPr>
          <a:xfrm>
            <a:off x="10679400" y="9360360"/>
            <a:ext cx="37198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2 – Bronze Data MinIO’da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430200" y="7120440"/>
            <a:ext cx="4789440" cy="12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14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parse_generic çevirebildikleri:</a:t>
            </a:r>
            <a:br>
              <a:rPr sz="1400"/>
            </a:br>
            <a:r>
              <a:rPr lang="tr-TR" sz="14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.csv , .tsv , .json , .jsonl / .ndjson , .parquet , .xlsx / .xls , .gz (içindeki uzantıya göre tekrar dağıtılır) , .db / .sqlite , .bin / .tlog / .log (MAVLink), .mat (MATLAB), ayrıca .zip ve .tar / .tar.gz / .tgz içindeki her dosya </a:t>
            </a:r>
            <a:endParaRPr lang="tr-T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Box 41"/>
          <p:cNvSpPr/>
          <p:nvPr/>
        </p:nvSpPr>
        <p:spPr>
          <a:xfrm>
            <a:off x="1028880" y="981360"/>
            <a:ext cx="10310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SILVER  - DÖNÜŞÜMLER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43"/>
          <p:cNvSpPr/>
          <p:nvPr/>
        </p:nvSpPr>
        <p:spPr>
          <a:xfrm>
            <a:off x="2160000" y="8965800"/>
            <a:ext cx="1511928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1" name="Group 16"/>
          <p:cNvGrpSpPr/>
          <p:nvPr/>
        </p:nvGrpSpPr>
        <p:grpSpPr>
          <a:xfrm>
            <a:off x="1028880" y="8925120"/>
            <a:ext cx="858960" cy="332640"/>
            <a:chOff x="1028880" y="8925120"/>
            <a:chExt cx="858960" cy="332640"/>
          </a:xfrm>
        </p:grpSpPr>
        <p:grpSp>
          <p:nvGrpSpPr>
            <p:cNvPr id="202" name="Group 22"/>
            <p:cNvGrpSpPr/>
            <p:nvPr/>
          </p:nvGrpSpPr>
          <p:grpSpPr>
            <a:xfrm>
              <a:off x="1028880" y="8925120"/>
              <a:ext cx="332640" cy="332640"/>
              <a:chOff x="1028880" y="8925120"/>
              <a:chExt cx="332640" cy="332640"/>
            </a:xfrm>
          </p:grpSpPr>
          <p:sp>
            <p:nvSpPr>
              <p:cNvPr id="203" name="Freeform 11"/>
              <p:cNvSpPr/>
              <p:nvPr/>
            </p:nvSpPr>
            <p:spPr>
              <a:xfrm>
                <a:off x="1028880" y="892512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4" name="TextBox 44"/>
              <p:cNvSpPr/>
              <p:nvPr/>
            </p:nvSpPr>
            <p:spPr>
              <a:xfrm>
                <a:off x="1059840" y="894060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05" name="Group 23"/>
            <p:cNvGrpSpPr/>
            <p:nvPr/>
          </p:nvGrpSpPr>
          <p:grpSpPr>
            <a:xfrm>
              <a:off x="1555200" y="8925120"/>
              <a:ext cx="332640" cy="332640"/>
              <a:chOff x="1555200" y="8925120"/>
              <a:chExt cx="332640" cy="332640"/>
            </a:xfrm>
          </p:grpSpPr>
          <p:sp>
            <p:nvSpPr>
              <p:cNvPr id="206" name="Freeform 13"/>
              <p:cNvSpPr/>
              <p:nvPr/>
            </p:nvSpPr>
            <p:spPr>
              <a:xfrm>
                <a:off x="1555200" y="892512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7" name="TextBox 45"/>
              <p:cNvSpPr/>
              <p:nvPr/>
            </p:nvSpPr>
            <p:spPr>
              <a:xfrm>
                <a:off x="1586520" y="894060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08" name="Rectangle 21"/>
          <p:cNvSpPr/>
          <p:nvPr/>
        </p:nvSpPr>
        <p:spPr>
          <a:xfrm>
            <a:off x="720000" y="137232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42"/>
          <p:cNvSpPr/>
          <p:nvPr/>
        </p:nvSpPr>
        <p:spPr>
          <a:xfrm>
            <a:off x="1029240" y="981720"/>
            <a:ext cx="10310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49"/>
          <p:cNvSpPr/>
          <p:nvPr/>
        </p:nvSpPr>
        <p:spPr>
          <a:xfrm>
            <a:off x="2160360" y="8966160"/>
            <a:ext cx="1511928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11" name="Group 24"/>
          <p:cNvGrpSpPr/>
          <p:nvPr/>
        </p:nvGrpSpPr>
        <p:grpSpPr>
          <a:xfrm>
            <a:off x="1029240" y="8925480"/>
            <a:ext cx="858960" cy="332640"/>
            <a:chOff x="1029240" y="8925480"/>
            <a:chExt cx="858960" cy="332640"/>
          </a:xfrm>
        </p:grpSpPr>
        <p:grpSp>
          <p:nvGrpSpPr>
            <p:cNvPr id="212" name="Group 25"/>
            <p:cNvGrpSpPr/>
            <p:nvPr/>
          </p:nvGrpSpPr>
          <p:grpSpPr>
            <a:xfrm>
              <a:off x="1029240" y="8925480"/>
              <a:ext cx="332640" cy="332640"/>
              <a:chOff x="1029240" y="8925480"/>
              <a:chExt cx="332640" cy="332640"/>
            </a:xfrm>
          </p:grpSpPr>
          <p:sp>
            <p:nvSpPr>
              <p:cNvPr id="213" name="Freeform 16"/>
              <p:cNvSpPr/>
              <p:nvPr/>
            </p:nvSpPr>
            <p:spPr>
              <a:xfrm>
                <a:off x="102924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4" name="TextBox 50"/>
              <p:cNvSpPr/>
              <p:nvPr/>
            </p:nvSpPr>
            <p:spPr>
              <a:xfrm>
                <a:off x="106020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15" name="Group 28"/>
            <p:cNvGrpSpPr/>
            <p:nvPr/>
          </p:nvGrpSpPr>
          <p:grpSpPr>
            <a:xfrm>
              <a:off x="1555560" y="8925480"/>
              <a:ext cx="332640" cy="332640"/>
              <a:chOff x="1555560" y="8925480"/>
              <a:chExt cx="332640" cy="332640"/>
            </a:xfrm>
          </p:grpSpPr>
          <p:sp>
            <p:nvSpPr>
              <p:cNvPr id="216" name="Freeform 17"/>
              <p:cNvSpPr/>
              <p:nvPr/>
            </p:nvSpPr>
            <p:spPr>
              <a:xfrm>
                <a:off x="155556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7" name="TextBox 51"/>
              <p:cNvSpPr/>
              <p:nvPr/>
            </p:nvSpPr>
            <p:spPr>
              <a:xfrm>
                <a:off x="158688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18" name="Rectangle 18"/>
          <p:cNvSpPr/>
          <p:nvPr/>
        </p:nvSpPr>
        <p:spPr>
          <a:xfrm>
            <a:off x="720360" y="137268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Rectangle 19"/>
          <p:cNvSpPr/>
          <p:nvPr/>
        </p:nvSpPr>
        <p:spPr>
          <a:xfrm>
            <a:off x="540360" y="1674360"/>
            <a:ext cx="2730240" cy="43956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52"/>
          <p:cNvSpPr/>
          <p:nvPr/>
        </p:nvSpPr>
        <p:spPr>
          <a:xfrm>
            <a:off x="518400" y="2474640"/>
            <a:ext cx="254124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Ham veriyi birim dönüşümü yapılmış, etiketlenmiş, izi sürülebilir Parquet dosyalarına çeviriyoruz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20"/>
          <p:cNvSpPr/>
          <p:nvPr/>
        </p:nvSpPr>
        <p:spPr>
          <a:xfrm>
            <a:off x="3780360" y="1674000"/>
            <a:ext cx="2730240" cy="43992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NEDEN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53"/>
          <p:cNvSpPr/>
          <p:nvPr/>
        </p:nvSpPr>
        <p:spPr>
          <a:xfrm>
            <a:off x="3600360" y="2520360"/>
            <a:ext cx="2879280" cy="35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Görselleştirme/analiz feet, knots, fpm gibi karışık birimlerle değil, tek bir standart (metre, m/s) ile çalışmalı[1]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Askeri/sivil ayrımı gibi etiketler bu aşamada çıkarılmazsa her sonraki katman aynı işi tekrar tekrar yapmak zorunda kalır.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23"/>
          <p:cNvSpPr/>
          <p:nvPr/>
        </p:nvSpPr>
        <p:spPr>
          <a:xfrm>
            <a:off x="7169400" y="1674720"/>
            <a:ext cx="2730240" cy="43920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NASIL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54"/>
          <p:cNvSpPr/>
          <p:nvPr/>
        </p:nvSpPr>
        <p:spPr>
          <a:xfrm>
            <a:off x="6998400" y="2486880"/>
            <a:ext cx="2901240" cy="25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Her tar dosyası JSON'a açılıp trace satırları birim dönüşümünden geçiriliyor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Kesinti/PC kapanması riskine karşı tar bazlı bir checkpoint sistemi ekledik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12600000" y="5534280"/>
            <a:ext cx="26992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1 - Dönüşümler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24"/>
          <p:cNvSpPr/>
          <p:nvPr/>
        </p:nvSpPr>
        <p:spPr>
          <a:xfrm>
            <a:off x="10330920" y="1260000"/>
            <a:ext cx="6948360" cy="415944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55"/>
          <p:cNvSpPr/>
          <p:nvPr/>
        </p:nvSpPr>
        <p:spPr>
          <a:xfrm>
            <a:off x="10513800" y="1424520"/>
            <a:ext cx="6582600" cy="38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src/silver/parse_adsblol_historical.py -- parse_trace_bytes()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is_military = bool(int(data.get("dbFlags", 0) or 0) &amp; 1)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dbFlags bit'i dosya seviyesinde sabit, trace'in HER satirinda gecerli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for row in trace: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rec = dict(zip(TRACE_COLS, row[:14]))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alt_raw = rec["alt_raw"]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on_ground = alt_raw == "ground"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alt_m = None if (on_ground or alt_raw is None) else round(float(alt_raw)*0.3048, 1)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output_row = {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"source_id": icao, "timestamp_utc": current_timestamp,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"lat": rec["lat"], "lon": rec["lon"], "alt": alt_m,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"on_ground": on_ground, "is_military": is_military,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"ground_speed_ms": round(float(rec["gs"])*0.5144, 2) if rec["gs"] else None,   # knots-&gt;m/s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"vertical_rate_ms": round(float(rec["vrate"])*0.00508, 3) if rec["vrate"] else None,  # fpm-&gt;m/s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        # ... squawk, nic, category, adsb_version gibi provenance kolonlari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}</a:t>
            </a:r>
            <a:endParaRPr lang="tr-T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"/>
          <p:cNvPicPr/>
          <p:nvPr/>
        </p:nvPicPr>
        <p:blipFill>
          <a:blip r:embed="rId1"/>
          <a:stretch/>
        </p:blipFill>
        <p:spPr>
          <a:xfrm>
            <a:off x="6840000" y="6089400"/>
            <a:ext cx="11159280" cy="308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"/>
          <p:cNvSpPr/>
          <p:nvPr/>
        </p:nvSpPr>
        <p:spPr>
          <a:xfrm>
            <a:off x="11160000" y="9358200"/>
            <a:ext cx="341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2 – Silver Data MinIO’da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720000" y="6660000"/>
            <a:ext cx="388692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NEDEN PARQUET ?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494640" y="7200000"/>
            <a:ext cx="5720400" cy="275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Parquet sütun bazlı ve sıkıştırılmış olduğu için CSV/JSON'dan hem küçük hem hızlı, tip bilgisini de koruyor; üstelik bir veritabanı sunucusu gerektirmeden düz dosya olarak MinIO'da durabiliyor.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TextBox 56"/>
          <p:cNvSpPr/>
          <p:nvPr/>
        </p:nvSpPr>
        <p:spPr>
          <a:xfrm>
            <a:off x="1028880" y="981360"/>
            <a:ext cx="10310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GOLD  - ORTAK ŞEMA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57"/>
          <p:cNvSpPr/>
          <p:nvPr/>
        </p:nvSpPr>
        <p:spPr>
          <a:xfrm>
            <a:off x="2160000" y="8965800"/>
            <a:ext cx="1511928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" name="Group 29"/>
          <p:cNvGrpSpPr/>
          <p:nvPr/>
        </p:nvGrpSpPr>
        <p:grpSpPr>
          <a:xfrm>
            <a:off x="1028880" y="8925120"/>
            <a:ext cx="858960" cy="332640"/>
            <a:chOff x="1028880" y="8925120"/>
            <a:chExt cx="858960" cy="332640"/>
          </a:xfrm>
        </p:grpSpPr>
        <p:grpSp>
          <p:nvGrpSpPr>
            <p:cNvPr id="235" name="Group 30"/>
            <p:cNvGrpSpPr/>
            <p:nvPr/>
          </p:nvGrpSpPr>
          <p:grpSpPr>
            <a:xfrm>
              <a:off x="1028880" y="8925120"/>
              <a:ext cx="332640" cy="332640"/>
              <a:chOff x="1028880" y="8925120"/>
              <a:chExt cx="332640" cy="332640"/>
            </a:xfrm>
          </p:grpSpPr>
          <p:sp>
            <p:nvSpPr>
              <p:cNvPr id="236" name="Freeform 18"/>
              <p:cNvSpPr/>
              <p:nvPr/>
            </p:nvSpPr>
            <p:spPr>
              <a:xfrm>
                <a:off x="1028880" y="892512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7" name="TextBox 58"/>
              <p:cNvSpPr/>
              <p:nvPr/>
            </p:nvSpPr>
            <p:spPr>
              <a:xfrm>
                <a:off x="1059840" y="894060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38" name="Group 31"/>
            <p:cNvGrpSpPr/>
            <p:nvPr/>
          </p:nvGrpSpPr>
          <p:grpSpPr>
            <a:xfrm>
              <a:off x="1555200" y="8925120"/>
              <a:ext cx="332640" cy="332640"/>
              <a:chOff x="1555200" y="8925120"/>
              <a:chExt cx="332640" cy="332640"/>
            </a:xfrm>
          </p:grpSpPr>
          <p:sp>
            <p:nvSpPr>
              <p:cNvPr id="239" name="Freeform 20"/>
              <p:cNvSpPr/>
              <p:nvPr/>
            </p:nvSpPr>
            <p:spPr>
              <a:xfrm>
                <a:off x="1555200" y="892512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0" name="TextBox 59"/>
              <p:cNvSpPr/>
              <p:nvPr/>
            </p:nvSpPr>
            <p:spPr>
              <a:xfrm>
                <a:off x="1586520" y="894060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41" name="Rectangle 25"/>
          <p:cNvSpPr/>
          <p:nvPr/>
        </p:nvSpPr>
        <p:spPr>
          <a:xfrm>
            <a:off x="720000" y="137232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60"/>
          <p:cNvSpPr/>
          <p:nvPr/>
        </p:nvSpPr>
        <p:spPr>
          <a:xfrm>
            <a:off x="1029240" y="981720"/>
            <a:ext cx="10310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61"/>
          <p:cNvSpPr/>
          <p:nvPr/>
        </p:nvSpPr>
        <p:spPr>
          <a:xfrm>
            <a:off x="2160360" y="8966160"/>
            <a:ext cx="1511928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4" name="Group 32"/>
          <p:cNvGrpSpPr/>
          <p:nvPr/>
        </p:nvGrpSpPr>
        <p:grpSpPr>
          <a:xfrm>
            <a:off x="1029240" y="8925480"/>
            <a:ext cx="858960" cy="332640"/>
            <a:chOff x="1029240" y="8925480"/>
            <a:chExt cx="858960" cy="332640"/>
          </a:xfrm>
        </p:grpSpPr>
        <p:grpSp>
          <p:nvGrpSpPr>
            <p:cNvPr id="245" name="Group 33"/>
            <p:cNvGrpSpPr/>
            <p:nvPr/>
          </p:nvGrpSpPr>
          <p:grpSpPr>
            <a:xfrm>
              <a:off x="1029240" y="8925480"/>
              <a:ext cx="332640" cy="332640"/>
              <a:chOff x="1029240" y="8925480"/>
              <a:chExt cx="332640" cy="332640"/>
            </a:xfrm>
          </p:grpSpPr>
          <p:sp>
            <p:nvSpPr>
              <p:cNvPr id="246" name="Freeform 23"/>
              <p:cNvSpPr/>
              <p:nvPr/>
            </p:nvSpPr>
            <p:spPr>
              <a:xfrm>
                <a:off x="102924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7" name="TextBox 62"/>
              <p:cNvSpPr/>
              <p:nvPr/>
            </p:nvSpPr>
            <p:spPr>
              <a:xfrm>
                <a:off x="106020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48" name="Group 34"/>
            <p:cNvGrpSpPr/>
            <p:nvPr/>
          </p:nvGrpSpPr>
          <p:grpSpPr>
            <a:xfrm>
              <a:off x="1555560" y="8925480"/>
              <a:ext cx="332640" cy="332640"/>
              <a:chOff x="1555560" y="8925480"/>
              <a:chExt cx="332640" cy="332640"/>
            </a:xfrm>
          </p:grpSpPr>
          <p:sp>
            <p:nvSpPr>
              <p:cNvPr id="249" name="Freeform 24"/>
              <p:cNvSpPr/>
              <p:nvPr/>
            </p:nvSpPr>
            <p:spPr>
              <a:xfrm>
                <a:off x="155556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0" name="TextBox 63"/>
              <p:cNvSpPr/>
              <p:nvPr/>
            </p:nvSpPr>
            <p:spPr>
              <a:xfrm>
                <a:off x="158688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51" name="Rectangle 26"/>
          <p:cNvSpPr/>
          <p:nvPr/>
        </p:nvSpPr>
        <p:spPr>
          <a:xfrm>
            <a:off x="720360" y="137268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Rectangle 27"/>
          <p:cNvSpPr/>
          <p:nvPr/>
        </p:nvSpPr>
        <p:spPr>
          <a:xfrm>
            <a:off x="540360" y="1674360"/>
            <a:ext cx="2730240" cy="43956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64"/>
          <p:cNvSpPr/>
          <p:nvPr/>
        </p:nvSpPr>
        <p:spPr>
          <a:xfrm>
            <a:off x="540000" y="2260080"/>
            <a:ext cx="2541240" cy="252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adsb.lol tarihsel,    adsb.lol gerçek   zamanlı, OpenSKY gerçek zamanlı, ALFA ve UAV Attack'i tek, ortak 7+3 kolonluk şemaya hizalıyoruz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28"/>
          <p:cNvSpPr/>
          <p:nvPr/>
        </p:nvSpPr>
        <p:spPr>
          <a:xfrm>
            <a:off x="3780360" y="1674000"/>
            <a:ext cx="2730240" cy="43992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NEDEN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65"/>
          <p:cNvSpPr/>
          <p:nvPr/>
        </p:nvSpPr>
        <p:spPr>
          <a:xfrm>
            <a:off x="3621960" y="2307240"/>
            <a:ext cx="3238920" cy="38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▸Görselleştirme/dashboard/export tek bir şemaya bakmak istiyor. </a:t>
            </a:r>
            <a:br>
              <a:rPr sz="2000"/>
            </a:b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4 farklı kaynağın 4 farklı kolon adını (ör. 'vel' vs 'velocity_') bilmesine gerek kalmıyor [1]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İlk versiyonda çift-sayım bug'ı vardı: tekrar çalıştırmada veri katlanıyordu, eski çıktıyı silmeden yeni yazıyordu.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29"/>
          <p:cNvSpPr/>
          <p:nvPr/>
        </p:nvSpPr>
        <p:spPr>
          <a:xfrm>
            <a:off x="7169400" y="1674720"/>
            <a:ext cx="2730240" cy="43920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NASIL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66"/>
          <p:cNvSpPr/>
          <p:nvPr/>
        </p:nvSpPr>
        <p:spPr>
          <a:xfrm>
            <a:off x="7020000" y="2272680"/>
            <a:ext cx="2901240" cy="350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stream_unify(): eski Gold çıktısını tamamen siler, sonra her Silver parçasını tek tek okuyup hemen Gold'a yazar (RAM'e toplu yüklemeden)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Çift sayım bug'ı düzeltilip bir daha geri gelmesin diye özel regresyon testi eklendi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12060000" y="5534280"/>
            <a:ext cx="377964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1 – Birleştirme işlemi (unify.py)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11340000" y="9358200"/>
            <a:ext cx="3419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2 – Gold Data MinIO’da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30"/>
          <p:cNvSpPr/>
          <p:nvPr/>
        </p:nvSpPr>
        <p:spPr>
          <a:xfrm>
            <a:off x="10330920" y="1260000"/>
            <a:ext cx="6948360" cy="415944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TextBox 67"/>
          <p:cNvSpPr/>
          <p:nvPr/>
        </p:nvSpPr>
        <p:spPr>
          <a:xfrm>
            <a:off x="10513800" y="1424520"/>
            <a:ext cx="6582600" cy="38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src/gold/unify.py -- her kaynagin kendi kolon adini Gold'a esler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COLUMN_MAPS = {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"adsblol_historical": {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"velocity_mps": "ground_speed_ms", "heading_deg": "track_deg",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"is_military": "is_military", ... },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"alfa": {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"velocity_mps": "velocity_measured", "heading_deg": "yaw_measured",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"is_military": None,  # adsb.lol disi kaynak -- dbFlags yok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... },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def _apply_column_map(df, mapping):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out = pd.DataFrame(index=df.index)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for gold_col in GOLD_COLUMNS: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silver_col = mapping.get(gold_col)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out[gold_col] = df[silver_col] if silver_col in df.columns else None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return out</a:t>
            </a:r>
            <a:endParaRPr lang="tr-T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2" name=""/>
          <p:cNvPicPr/>
          <p:nvPr/>
        </p:nvPicPr>
        <p:blipFill>
          <a:blip r:embed="rId1"/>
          <a:stretch/>
        </p:blipFill>
        <p:spPr>
          <a:xfrm>
            <a:off x="7560000" y="6140520"/>
            <a:ext cx="10394280" cy="2858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TextBox 68"/>
          <p:cNvSpPr/>
          <p:nvPr/>
        </p:nvSpPr>
        <p:spPr>
          <a:xfrm>
            <a:off x="1028880" y="981720"/>
            <a:ext cx="10310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UÇTAN UCA AKIŞ: RAW DATA -&gt; GOLD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69"/>
          <p:cNvSpPr/>
          <p:nvPr/>
        </p:nvSpPr>
        <p:spPr>
          <a:xfrm>
            <a:off x="2160000" y="8966160"/>
            <a:ext cx="1511928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5" name="Group 35"/>
          <p:cNvGrpSpPr/>
          <p:nvPr/>
        </p:nvGrpSpPr>
        <p:grpSpPr>
          <a:xfrm>
            <a:off x="1028880" y="8925480"/>
            <a:ext cx="858960" cy="332640"/>
            <a:chOff x="1028880" y="8925480"/>
            <a:chExt cx="858960" cy="332640"/>
          </a:xfrm>
        </p:grpSpPr>
        <p:grpSp>
          <p:nvGrpSpPr>
            <p:cNvPr id="266" name="Group 36"/>
            <p:cNvGrpSpPr/>
            <p:nvPr/>
          </p:nvGrpSpPr>
          <p:grpSpPr>
            <a:xfrm>
              <a:off x="1028880" y="8925480"/>
              <a:ext cx="332640" cy="332640"/>
              <a:chOff x="1028880" y="8925480"/>
              <a:chExt cx="332640" cy="332640"/>
            </a:xfrm>
          </p:grpSpPr>
          <p:sp>
            <p:nvSpPr>
              <p:cNvPr id="267" name="Freeform 25"/>
              <p:cNvSpPr/>
              <p:nvPr/>
            </p:nvSpPr>
            <p:spPr>
              <a:xfrm>
                <a:off x="102888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8" name="TextBox 70"/>
              <p:cNvSpPr/>
              <p:nvPr/>
            </p:nvSpPr>
            <p:spPr>
              <a:xfrm>
                <a:off x="105984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69" name="Group 37"/>
            <p:cNvGrpSpPr/>
            <p:nvPr/>
          </p:nvGrpSpPr>
          <p:grpSpPr>
            <a:xfrm>
              <a:off x="1555200" y="8925480"/>
              <a:ext cx="332640" cy="332640"/>
              <a:chOff x="1555200" y="8925480"/>
              <a:chExt cx="332640" cy="332640"/>
            </a:xfrm>
          </p:grpSpPr>
          <p:sp>
            <p:nvSpPr>
              <p:cNvPr id="270" name="Freeform 26"/>
              <p:cNvSpPr/>
              <p:nvPr/>
            </p:nvSpPr>
            <p:spPr>
              <a:xfrm>
                <a:off x="155520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1" name="TextBox 71"/>
              <p:cNvSpPr/>
              <p:nvPr/>
            </p:nvSpPr>
            <p:spPr>
              <a:xfrm>
                <a:off x="158652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72" name="Rectangle 31"/>
          <p:cNvSpPr/>
          <p:nvPr/>
        </p:nvSpPr>
        <p:spPr>
          <a:xfrm>
            <a:off x="720000" y="137268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72"/>
          <p:cNvSpPr/>
          <p:nvPr/>
        </p:nvSpPr>
        <p:spPr>
          <a:xfrm>
            <a:off x="1029240" y="982080"/>
            <a:ext cx="10310400" cy="37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73"/>
          <p:cNvSpPr/>
          <p:nvPr/>
        </p:nvSpPr>
        <p:spPr>
          <a:xfrm>
            <a:off x="2160360" y="8966520"/>
            <a:ext cx="15119280" cy="3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5" name="Group 38"/>
          <p:cNvGrpSpPr/>
          <p:nvPr/>
        </p:nvGrpSpPr>
        <p:grpSpPr>
          <a:xfrm>
            <a:off x="1029240" y="8925840"/>
            <a:ext cx="858960" cy="332640"/>
            <a:chOff x="1029240" y="8925840"/>
            <a:chExt cx="858960" cy="332640"/>
          </a:xfrm>
        </p:grpSpPr>
        <p:grpSp>
          <p:nvGrpSpPr>
            <p:cNvPr id="276" name="Group 39"/>
            <p:cNvGrpSpPr/>
            <p:nvPr/>
          </p:nvGrpSpPr>
          <p:grpSpPr>
            <a:xfrm>
              <a:off x="1029240" y="8925840"/>
              <a:ext cx="332640" cy="332640"/>
              <a:chOff x="1029240" y="8925840"/>
              <a:chExt cx="332640" cy="332640"/>
            </a:xfrm>
          </p:grpSpPr>
          <p:sp>
            <p:nvSpPr>
              <p:cNvPr id="277" name="Freeform 27"/>
              <p:cNvSpPr/>
              <p:nvPr/>
            </p:nvSpPr>
            <p:spPr>
              <a:xfrm>
                <a:off x="1029240" y="892584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8" name="TextBox 74"/>
              <p:cNvSpPr/>
              <p:nvPr/>
            </p:nvSpPr>
            <p:spPr>
              <a:xfrm>
                <a:off x="1060200" y="894132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79" name="Group 40"/>
            <p:cNvGrpSpPr/>
            <p:nvPr/>
          </p:nvGrpSpPr>
          <p:grpSpPr>
            <a:xfrm>
              <a:off x="1555560" y="8925840"/>
              <a:ext cx="332640" cy="332640"/>
              <a:chOff x="1555560" y="8925840"/>
              <a:chExt cx="332640" cy="332640"/>
            </a:xfrm>
          </p:grpSpPr>
          <p:sp>
            <p:nvSpPr>
              <p:cNvPr id="280" name="Freeform 29"/>
              <p:cNvSpPr/>
              <p:nvPr/>
            </p:nvSpPr>
            <p:spPr>
              <a:xfrm>
                <a:off x="1555560" y="892584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1" name="TextBox 75"/>
              <p:cNvSpPr/>
              <p:nvPr/>
            </p:nvSpPr>
            <p:spPr>
              <a:xfrm>
                <a:off x="1586880" y="894132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82" name="Rectangle 32"/>
          <p:cNvSpPr/>
          <p:nvPr/>
        </p:nvSpPr>
        <p:spPr>
          <a:xfrm>
            <a:off x="720360" y="137304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3" name=""/>
          <p:cNvPicPr/>
          <p:nvPr/>
        </p:nvPicPr>
        <p:blipFill>
          <a:blip r:embed="rId1"/>
          <a:stretch/>
        </p:blipFill>
        <p:spPr>
          <a:xfrm>
            <a:off x="857160" y="2429280"/>
            <a:ext cx="15465960" cy="423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4" name="Group 41"/>
          <p:cNvGrpSpPr/>
          <p:nvPr/>
        </p:nvGrpSpPr>
        <p:grpSpPr>
          <a:xfrm>
            <a:off x="1028880" y="8925120"/>
            <a:ext cx="858960" cy="332640"/>
            <a:chOff x="1028880" y="8925120"/>
            <a:chExt cx="858960" cy="332640"/>
          </a:xfrm>
        </p:grpSpPr>
        <p:grpSp>
          <p:nvGrpSpPr>
            <p:cNvPr id="285" name="Group 42"/>
            <p:cNvGrpSpPr/>
            <p:nvPr/>
          </p:nvGrpSpPr>
          <p:grpSpPr>
            <a:xfrm>
              <a:off x="1028880" y="8925120"/>
              <a:ext cx="332640" cy="332640"/>
              <a:chOff x="1028880" y="8925120"/>
              <a:chExt cx="332640" cy="332640"/>
            </a:xfrm>
          </p:grpSpPr>
          <p:sp>
            <p:nvSpPr>
              <p:cNvPr id="286" name="Freeform 30"/>
              <p:cNvSpPr/>
              <p:nvPr/>
            </p:nvSpPr>
            <p:spPr>
              <a:xfrm>
                <a:off x="1028880" y="892512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7" name="TextBox 77"/>
              <p:cNvSpPr/>
              <p:nvPr/>
            </p:nvSpPr>
            <p:spPr>
              <a:xfrm>
                <a:off x="1059840" y="894060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288" name="Group 43"/>
            <p:cNvGrpSpPr/>
            <p:nvPr/>
          </p:nvGrpSpPr>
          <p:grpSpPr>
            <a:xfrm>
              <a:off x="1555200" y="8925120"/>
              <a:ext cx="332640" cy="332640"/>
              <a:chOff x="1555200" y="8925120"/>
              <a:chExt cx="332640" cy="332640"/>
            </a:xfrm>
          </p:grpSpPr>
          <p:sp>
            <p:nvSpPr>
              <p:cNvPr id="289" name="Freeform 31"/>
              <p:cNvSpPr/>
              <p:nvPr/>
            </p:nvSpPr>
            <p:spPr>
              <a:xfrm>
                <a:off x="1555200" y="892512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TextBox 78"/>
              <p:cNvSpPr/>
              <p:nvPr/>
            </p:nvSpPr>
            <p:spPr>
              <a:xfrm>
                <a:off x="1586520" y="894060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291" name="TextBox 79"/>
          <p:cNvSpPr/>
          <p:nvPr/>
        </p:nvSpPr>
        <p:spPr>
          <a:xfrm>
            <a:off x="1028880" y="2095920"/>
            <a:ext cx="10704960" cy="95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80"/>
          <p:cNvSpPr/>
          <p:nvPr/>
        </p:nvSpPr>
        <p:spPr>
          <a:xfrm>
            <a:off x="1028880" y="981360"/>
            <a:ext cx="617076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2) GERÇEK ZAMANLI AKIŞ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81"/>
          <p:cNvSpPr/>
          <p:nvPr/>
        </p:nvSpPr>
        <p:spPr>
          <a:xfrm>
            <a:off x="5940360" y="2000520"/>
            <a:ext cx="953928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adsb.lol'ün canlı rest feed'ini sürekli okuyup hem anlık dashboard'u besliyor hem ham veriyi günlük olarak .parquet şeklinde Silver’da arşivliyoruz.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33"/>
          <p:cNvSpPr/>
          <p:nvPr/>
        </p:nvSpPr>
        <p:spPr>
          <a:xfrm>
            <a:off x="1800000" y="4140360"/>
            <a:ext cx="3138840" cy="719280"/>
          </a:xfrm>
          <a:prstGeom prst="rect">
            <a:avLst/>
          </a:prstGeom>
          <a:solidFill>
            <a:srgbClr val="8C5A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NEDEN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82"/>
          <p:cNvSpPr/>
          <p:nvPr/>
        </p:nvSpPr>
        <p:spPr>
          <a:xfrm>
            <a:off x="5899680" y="3847320"/>
            <a:ext cx="9759960" cy="137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Kafka: tek üreticiden gelen veriyi birden fazla bağımsız tüketiciye dağıtmak için, dashboard ve arşivleme birbirinden etkilenmemeli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İki ayrı consumer (aynı topic, farklı group.id): biri çökerse/yavaşlarsa diğeri etkilenmez (Separation of Concerns)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83"/>
          <p:cNvSpPr/>
          <p:nvPr/>
        </p:nvSpPr>
        <p:spPr>
          <a:xfrm>
            <a:off x="5899320" y="6492240"/>
            <a:ext cx="9399960" cy="10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uav_producer.py tüm dünyayı sorgulayıp Kafka'ya yazıyor.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dashboard_consumer.py (Redis+InfluxDB) ve minio_archiver.py (Bronze JSONL) bağımsız olarak aynı veriyi tüketiyor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34"/>
          <p:cNvSpPr/>
          <p:nvPr/>
        </p:nvSpPr>
        <p:spPr>
          <a:xfrm>
            <a:off x="1800000" y="1980360"/>
            <a:ext cx="3138840" cy="690480"/>
          </a:xfrm>
          <a:prstGeom prst="rect">
            <a:avLst/>
          </a:prstGeom>
          <a:solidFill>
            <a:srgbClr val="0B1E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NE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Rectangle 35"/>
          <p:cNvSpPr/>
          <p:nvPr/>
        </p:nvSpPr>
        <p:spPr>
          <a:xfrm>
            <a:off x="1800000" y="6654960"/>
            <a:ext cx="3138840" cy="72468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NASIL YAPTIK ?</a:t>
            </a:r>
            <a:endParaRPr lang="tr-T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2160000" y="9000360"/>
            <a:ext cx="6479280" cy="3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36"/>
          <p:cNvSpPr/>
          <p:nvPr/>
        </p:nvSpPr>
        <p:spPr>
          <a:xfrm>
            <a:off x="703080" y="144036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Box 87"/>
          <p:cNvSpPr/>
          <p:nvPr/>
        </p:nvSpPr>
        <p:spPr>
          <a:xfrm>
            <a:off x="1029240" y="981720"/>
            <a:ext cx="761040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 GERÇEK ZAMANLI AKIŞ PIPELINE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40"/>
          <p:cNvSpPr/>
          <p:nvPr/>
        </p:nvSpPr>
        <p:spPr>
          <a:xfrm>
            <a:off x="703440" y="144072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03" name="Group 44"/>
          <p:cNvGrpSpPr/>
          <p:nvPr/>
        </p:nvGrpSpPr>
        <p:grpSpPr>
          <a:xfrm>
            <a:off x="1029240" y="8925480"/>
            <a:ext cx="858960" cy="332640"/>
            <a:chOff x="1029240" y="8925480"/>
            <a:chExt cx="858960" cy="332640"/>
          </a:xfrm>
        </p:grpSpPr>
        <p:grpSp>
          <p:nvGrpSpPr>
            <p:cNvPr id="304" name="Group 45"/>
            <p:cNvGrpSpPr/>
            <p:nvPr/>
          </p:nvGrpSpPr>
          <p:grpSpPr>
            <a:xfrm>
              <a:off x="1029240" y="8925480"/>
              <a:ext cx="332640" cy="332640"/>
              <a:chOff x="1029240" y="8925480"/>
              <a:chExt cx="332640" cy="332640"/>
            </a:xfrm>
          </p:grpSpPr>
          <p:sp>
            <p:nvSpPr>
              <p:cNvPr id="305" name="Freeform 32"/>
              <p:cNvSpPr/>
              <p:nvPr/>
            </p:nvSpPr>
            <p:spPr>
              <a:xfrm>
                <a:off x="102924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TextBox 84"/>
              <p:cNvSpPr/>
              <p:nvPr/>
            </p:nvSpPr>
            <p:spPr>
              <a:xfrm>
                <a:off x="106020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307" name="Group 46"/>
            <p:cNvGrpSpPr/>
            <p:nvPr/>
          </p:nvGrpSpPr>
          <p:grpSpPr>
            <a:xfrm>
              <a:off x="1555560" y="8925480"/>
              <a:ext cx="332640" cy="332640"/>
              <a:chOff x="1555560" y="8925480"/>
              <a:chExt cx="332640" cy="332640"/>
            </a:xfrm>
          </p:grpSpPr>
          <p:sp>
            <p:nvSpPr>
              <p:cNvPr id="308" name="Freeform 33"/>
              <p:cNvSpPr/>
              <p:nvPr/>
            </p:nvSpPr>
            <p:spPr>
              <a:xfrm>
                <a:off x="155556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9" name="TextBox 85"/>
              <p:cNvSpPr/>
              <p:nvPr/>
            </p:nvSpPr>
            <p:spPr>
              <a:xfrm>
                <a:off x="158688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310" name=""/>
          <p:cNvSpPr/>
          <p:nvPr/>
        </p:nvSpPr>
        <p:spPr>
          <a:xfrm>
            <a:off x="2340000" y="8496360"/>
            <a:ext cx="13859640" cy="122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Not: Silver'daki güncel gerçek zamanlı veri, Gold'a yansımak için 'python -m src.gold.unify' komutunun elle tekrar çalıştırılmasını bekliyor (henüz otomatik değil). Proje süresince bellek çok şişeceği için böyle bir yönteme başvurduk, istenildiği takdirde otomatikleştirilebilir.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1" name=""/>
          <p:cNvPicPr/>
          <p:nvPr/>
        </p:nvPicPr>
        <p:blipFill>
          <a:blip r:embed="rId1"/>
          <a:stretch/>
        </p:blipFill>
        <p:spPr>
          <a:xfrm>
            <a:off x="3240000" y="1620000"/>
            <a:ext cx="10462680" cy="665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TextBox 86"/>
          <p:cNvSpPr/>
          <p:nvPr/>
        </p:nvSpPr>
        <p:spPr>
          <a:xfrm>
            <a:off x="1029240" y="981720"/>
            <a:ext cx="13730400" cy="74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BAĞIMSIZ TÜKETİCİLER VE GÜNLÜK DÖNÜŞÜM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40"/>
              </a:lnSpc>
            </a:pP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37"/>
          <p:cNvSpPr/>
          <p:nvPr/>
        </p:nvSpPr>
        <p:spPr>
          <a:xfrm>
            <a:off x="703440" y="144072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14" name="Group 47"/>
          <p:cNvGrpSpPr/>
          <p:nvPr/>
        </p:nvGrpSpPr>
        <p:grpSpPr>
          <a:xfrm>
            <a:off x="1029240" y="8925480"/>
            <a:ext cx="858960" cy="332640"/>
            <a:chOff x="1029240" y="8925480"/>
            <a:chExt cx="858960" cy="332640"/>
          </a:xfrm>
        </p:grpSpPr>
        <p:grpSp>
          <p:nvGrpSpPr>
            <p:cNvPr id="315" name="Group 48"/>
            <p:cNvGrpSpPr/>
            <p:nvPr/>
          </p:nvGrpSpPr>
          <p:grpSpPr>
            <a:xfrm>
              <a:off x="1029240" y="8925480"/>
              <a:ext cx="332640" cy="332640"/>
              <a:chOff x="1029240" y="8925480"/>
              <a:chExt cx="332640" cy="332640"/>
            </a:xfrm>
          </p:grpSpPr>
          <p:sp>
            <p:nvSpPr>
              <p:cNvPr id="316" name="Freeform 34"/>
              <p:cNvSpPr/>
              <p:nvPr/>
            </p:nvSpPr>
            <p:spPr>
              <a:xfrm>
                <a:off x="102924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7" name="TextBox 88"/>
              <p:cNvSpPr/>
              <p:nvPr/>
            </p:nvSpPr>
            <p:spPr>
              <a:xfrm>
                <a:off x="106020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318" name="Group 49"/>
            <p:cNvGrpSpPr/>
            <p:nvPr/>
          </p:nvGrpSpPr>
          <p:grpSpPr>
            <a:xfrm>
              <a:off x="1555560" y="8925480"/>
              <a:ext cx="332640" cy="332640"/>
              <a:chOff x="1555560" y="8925480"/>
              <a:chExt cx="332640" cy="332640"/>
            </a:xfrm>
          </p:grpSpPr>
          <p:sp>
            <p:nvSpPr>
              <p:cNvPr id="319" name="Freeform 35"/>
              <p:cNvSpPr/>
              <p:nvPr/>
            </p:nvSpPr>
            <p:spPr>
              <a:xfrm>
                <a:off x="155556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0" name="TextBox 89"/>
              <p:cNvSpPr/>
              <p:nvPr/>
            </p:nvSpPr>
            <p:spPr>
              <a:xfrm>
                <a:off x="158688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321" name="Rectangle 38"/>
          <p:cNvSpPr/>
          <p:nvPr/>
        </p:nvSpPr>
        <p:spPr>
          <a:xfrm>
            <a:off x="720000" y="1620000"/>
            <a:ext cx="8356320" cy="341964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90"/>
          <p:cNvSpPr/>
          <p:nvPr/>
        </p:nvSpPr>
        <p:spPr>
          <a:xfrm>
            <a:off x="900000" y="1800000"/>
            <a:ext cx="1005768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dashboard_consumer.py (group.id="dashboard-consumer") -- gercek yazma kodu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rdb.set(f"iha:state:{icao}", json.dumps(data))          # Redis: canli durum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rdb.sadd("iha:active_flights", icao)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point = (Point("flights").tag("icao24", icao)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 .field("lat", float(data["lat"])).field("lon", float(data["lon"]))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 .field("is_military", bool(data.get("is_military", False)))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 .time(datetime.now(timezone.utc)))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write_api.write(bucket=INFLUX_BUCKET, record=point)     # InfluxDB: zaman serisi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minio_archiver.py (group.id="minio-archiver") -- FARKLI, BAGIMSIZ grup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def flush(client, bucket, lines):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obj_name = f"{BRONZE_PREFIX}states-{ts}.jsonl"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client.put_object(bucket, obj_name, io.BytesIO(data), length=len(data))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if lines and (len(lines) &gt;= 500 or now - last_flush &gt;= 60):   # BATCH_SIZE / FLUSH_SECS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flush(client, BUCKET, lines)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91"/>
          <p:cNvSpPr/>
          <p:nvPr/>
        </p:nvSpPr>
        <p:spPr>
          <a:xfrm>
            <a:off x="9467640" y="2958480"/>
            <a:ext cx="54720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Kafka'nın consumer-group modeli, aynı topic'i farklı grupların bağımsız okumasına izin verir, mesaj kaybı/çakışma olmaz. [1]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92"/>
          <p:cNvSpPr/>
          <p:nvPr/>
        </p:nvSpPr>
        <p:spPr>
          <a:xfrm>
            <a:off x="9360000" y="4721040"/>
            <a:ext cx="809964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i="1" u="none" strike="noStrike">
                <a:solidFill>
                  <a:srgbClr val="E0A24D"/>
                </a:solidFill>
                <a:effectLst/>
                <a:uFillTx/>
                <a:latin typeface="Arial"/>
              </a:rPr>
              <a:t>→  Bronze'a biriken bu JSONL'ler her gün nasıl Silver'a dönüşüyor?</a:t>
            </a:r>
            <a:endParaRPr lang="tr-T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ectangle 39"/>
          <p:cNvSpPr/>
          <p:nvPr/>
        </p:nvSpPr>
        <p:spPr>
          <a:xfrm>
            <a:off x="720000" y="5760000"/>
            <a:ext cx="8279640" cy="307764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TextBox 93"/>
          <p:cNvSpPr/>
          <p:nvPr/>
        </p:nvSpPr>
        <p:spPr>
          <a:xfrm>
            <a:off x="900000" y="5879880"/>
            <a:ext cx="1005768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run() -- oku / parse et / yaz / SONRA sil sirasi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for obj_name in sorted(jsonl_objects):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df = parse_jsonl_bytes(download_raw_bytes(client, obj_name), obj_name)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frames.append(add_provenance(df, source_type=SOURCE_TYPE, source_file=obj_name))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processed_objects.append(obj_name)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uri = write_silver(pd.concat(frames), SOURCE_TYPE, client=client)   # ONCE Silver'a yaz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def _delete_processed(client, bucket, object_names):    # SONRA Bronze'u temizle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for name in object_names: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client.remove_object(bucket, name)   # basarisiz olursa tekrar denenir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_delete_processed(client, bronze_bucket, processed_objects)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6A9955"/>
                </a:solidFill>
                <a:effectLst/>
                <a:uFillTx/>
                <a:latin typeface="Consolas"/>
              </a:rPr>
              <a:t># dis dongu: while True: run(); heartbeat.write_text(now); sleep(_seconds_until("17:00"))</a:t>
            </a:r>
            <a:endParaRPr lang="tr-T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94"/>
          <p:cNvSpPr/>
          <p:nvPr/>
        </p:nvSpPr>
        <p:spPr>
          <a:xfrm>
            <a:off x="1413360" y="9991080"/>
            <a:ext cx="10332000" cy="2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9720000" y="7020000"/>
            <a:ext cx="485964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Neden sabit 86400sn değil '--daily-at': pc ne zaman açık olursa olsun her gün aynı saati (17:00) hedefliyor. Böyle bir yolu tercih etme sebebimiz staj saatlerince verileri sağlıklı depolamak istememiz. [2]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9360000" y="9000000"/>
            <a:ext cx="665964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i="1" u="none" strike="noStrike">
                <a:solidFill>
                  <a:srgbClr val="E0A24D"/>
                </a:solidFill>
                <a:effectLst/>
                <a:uFillTx/>
                <a:latin typeface="Arial"/>
              </a:rPr>
              <a:t>→  Bu akışın çıktısını takım dashboard'unda canlı olarak izliyoruz.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9360000" y="1800000"/>
            <a:ext cx="1269612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İKİ BAĞIMSIZ TÜKETİCİ:</a:t>
            </a:r>
            <a:br>
              <a:rPr sz="3200"/>
            </a:b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dashboard_consumer &amp; minio_archiver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1980000" y="5154480"/>
            <a:ext cx="6659640" cy="76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1 – dashboard_consumer.py ve minio_archiver.py  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9540000" y="5760000"/>
            <a:ext cx="7598160" cy="106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GÜNLÜK DÖNÜŞÜM:</a:t>
            </a:r>
            <a:br>
              <a:rPr sz="3200"/>
            </a:b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parse_adsblol_realtime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2770200" y="9000000"/>
            <a:ext cx="568944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pc="65" strike="noStrike">
                <a:solidFill>
                  <a:srgbClr val="000000"/>
                </a:solidFill>
                <a:effectLst/>
                <a:uFillTx/>
                <a:latin typeface="Arial"/>
                <a:ea typeface="Fira Sans"/>
              </a:rPr>
              <a:t>Şekil 2 – parse_adsblol_realtime.py</a:t>
            </a:r>
            <a:endParaRPr lang="tr-T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Box 95"/>
          <p:cNvSpPr/>
          <p:nvPr/>
        </p:nvSpPr>
        <p:spPr>
          <a:xfrm>
            <a:off x="1029240" y="981720"/>
            <a:ext cx="13730400" cy="74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3) TEKNOLOJİ SEÇİMLERİ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40"/>
              </a:lnSpc>
            </a:pP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41"/>
          <p:cNvSpPr/>
          <p:nvPr/>
        </p:nvSpPr>
        <p:spPr>
          <a:xfrm>
            <a:off x="703440" y="144072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36" name="Group 50"/>
          <p:cNvGrpSpPr/>
          <p:nvPr/>
        </p:nvGrpSpPr>
        <p:grpSpPr>
          <a:xfrm>
            <a:off x="1029240" y="8925480"/>
            <a:ext cx="858960" cy="332640"/>
            <a:chOff x="1029240" y="8925480"/>
            <a:chExt cx="858960" cy="332640"/>
          </a:xfrm>
        </p:grpSpPr>
        <p:grpSp>
          <p:nvGrpSpPr>
            <p:cNvPr id="337" name="Group 51"/>
            <p:cNvGrpSpPr/>
            <p:nvPr/>
          </p:nvGrpSpPr>
          <p:grpSpPr>
            <a:xfrm>
              <a:off x="1029240" y="8925480"/>
              <a:ext cx="332640" cy="332640"/>
              <a:chOff x="1029240" y="8925480"/>
              <a:chExt cx="332640" cy="332640"/>
            </a:xfrm>
          </p:grpSpPr>
          <p:sp>
            <p:nvSpPr>
              <p:cNvPr id="338" name="Freeform 36"/>
              <p:cNvSpPr/>
              <p:nvPr/>
            </p:nvSpPr>
            <p:spPr>
              <a:xfrm>
                <a:off x="102924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9" name="TextBox 96"/>
              <p:cNvSpPr/>
              <p:nvPr/>
            </p:nvSpPr>
            <p:spPr>
              <a:xfrm>
                <a:off x="106020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340" name="Group 52"/>
            <p:cNvGrpSpPr/>
            <p:nvPr/>
          </p:nvGrpSpPr>
          <p:grpSpPr>
            <a:xfrm>
              <a:off x="1555560" y="8925480"/>
              <a:ext cx="332640" cy="332640"/>
              <a:chOff x="1555560" y="8925480"/>
              <a:chExt cx="332640" cy="332640"/>
            </a:xfrm>
          </p:grpSpPr>
          <p:sp>
            <p:nvSpPr>
              <p:cNvPr id="341" name="Freeform 37"/>
              <p:cNvSpPr/>
              <p:nvPr/>
            </p:nvSpPr>
            <p:spPr>
              <a:xfrm>
                <a:off x="1555560" y="892548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2" name="TextBox 97"/>
              <p:cNvSpPr/>
              <p:nvPr/>
            </p:nvSpPr>
            <p:spPr>
              <a:xfrm>
                <a:off x="1586880" y="894096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sp>
        <p:nvSpPr>
          <p:cNvPr id="343" name="Rectangle 43"/>
          <p:cNvSpPr/>
          <p:nvPr/>
        </p:nvSpPr>
        <p:spPr>
          <a:xfrm>
            <a:off x="640440" y="1828800"/>
            <a:ext cx="8126280" cy="578160"/>
          </a:xfrm>
          <a:prstGeom prst="rect">
            <a:avLst/>
          </a:prstGeom>
          <a:solidFill>
            <a:srgbClr val="C99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TextBox 101"/>
          <p:cNvSpPr/>
          <p:nvPr/>
        </p:nvSpPr>
        <p:spPr>
          <a:xfrm>
            <a:off x="3960000" y="1860840"/>
            <a:ext cx="1285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3716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MinIO</a:t>
            </a:r>
            <a:endParaRPr lang="tr-T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ectangle 44"/>
          <p:cNvSpPr/>
          <p:nvPr/>
        </p:nvSpPr>
        <p:spPr>
          <a:xfrm>
            <a:off x="640440" y="2407680"/>
            <a:ext cx="8126280" cy="238392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09800" rIns="137160" bIns="4500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Bronze/Silver/Gold katmanlarının tamamını barındıran S3-uyumlu nesne depolama. TB'larca ham/parquet dosya için doğal bir çözüm sunduğu ve Docker ile ücretsiz/lokal çalışırken ileride gerçek AWS S3'e geçişi sadece bir endpoint değişikliğine indirdiği için seçildi.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45"/>
          <p:cNvSpPr/>
          <p:nvPr/>
        </p:nvSpPr>
        <p:spPr>
          <a:xfrm>
            <a:off x="9333360" y="1828800"/>
            <a:ext cx="8126280" cy="578160"/>
          </a:xfrm>
          <a:prstGeom prst="rect">
            <a:avLst/>
          </a:prstGeom>
          <a:solidFill>
            <a:srgbClr val="E0A24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102"/>
          <p:cNvSpPr/>
          <p:nvPr/>
        </p:nvSpPr>
        <p:spPr>
          <a:xfrm>
            <a:off x="12243600" y="1891080"/>
            <a:ext cx="23709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3716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Apache Kafka</a:t>
            </a:r>
            <a:endParaRPr lang="tr-T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ectangle 46"/>
          <p:cNvSpPr/>
          <p:nvPr/>
        </p:nvSpPr>
        <p:spPr>
          <a:xfrm>
            <a:off x="9333360" y="2407680"/>
            <a:ext cx="8126280" cy="238392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09800" rIns="137160" bIns="4500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Canlı adsb.lol verisini tek üreticiden, dashboard ve arşivleme gibi birden fazla bağımsız tüketiciye dağıtan mesajlaşma hattı. Consumer-group modeli sayesinde tüketicilerden biri çökse/yavaşlasa diğeri etkilenmediği için seçildi.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47"/>
          <p:cNvSpPr/>
          <p:nvPr/>
        </p:nvSpPr>
        <p:spPr>
          <a:xfrm>
            <a:off x="640440" y="5136840"/>
            <a:ext cx="8126280" cy="578160"/>
          </a:xfrm>
          <a:prstGeom prst="rect">
            <a:avLst/>
          </a:prstGeom>
          <a:solidFill>
            <a:srgbClr val="B03A2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0" name="TextBox 103"/>
          <p:cNvSpPr/>
          <p:nvPr/>
        </p:nvSpPr>
        <p:spPr>
          <a:xfrm>
            <a:off x="3960000" y="5136840"/>
            <a:ext cx="10778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3716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Redis</a:t>
            </a:r>
            <a:endParaRPr lang="tr-T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48"/>
          <p:cNvSpPr/>
          <p:nvPr/>
        </p:nvSpPr>
        <p:spPr>
          <a:xfrm>
            <a:off x="640440" y="5716080"/>
            <a:ext cx="8126280" cy="238356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09800" rIns="137160" bIns="4500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Calibri"/>
              </a:rPr>
              <a:t>Dashboard'un o anki uçuş durumunu (son bilinen konum, hız, irtifa) tuttuğu hızlı bellek-içi anahtar-değer deposu. Canlı haritanın saniyede defalarca okuduğu 'şu an nerede' sorgusu için disk tabanlı bir veritabanından çok daha hızlı olduğundan seçildi.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49"/>
          <p:cNvSpPr/>
          <p:nvPr/>
        </p:nvSpPr>
        <p:spPr>
          <a:xfrm>
            <a:off x="9333360" y="5136840"/>
            <a:ext cx="8126280" cy="578160"/>
          </a:xfrm>
          <a:prstGeom prst="rect">
            <a:avLst/>
          </a:prstGeom>
          <a:solidFill>
            <a:srgbClr val="2F6F4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104"/>
          <p:cNvSpPr/>
          <p:nvPr/>
        </p:nvSpPr>
        <p:spPr>
          <a:xfrm>
            <a:off x="12618000" y="5169240"/>
            <a:ext cx="1575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3716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InfluxDB</a:t>
            </a:r>
            <a:endParaRPr lang="tr-T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Rectangle 50"/>
          <p:cNvSpPr/>
          <p:nvPr/>
        </p:nvSpPr>
        <p:spPr>
          <a:xfrm>
            <a:off x="9333360" y="5716080"/>
            <a:ext cx="8126280" cy="2383560"/>
          </a:xfrm>
          <a:prstGeom prst="rect">
            <a:avLst/>
          </a:prstGeom>
          <a:solidFill>
            <a:srgbClr val="F6F7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tIns="109800" rIns="137160" bIns="45000" anchor="ctr">
            <a:norm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Calibri"/>
              </a:rPr>
              <a:t>Gerçek zamanlı uçuş verisinin zaman-serisi geçmişini (7 günlük pencere) tutan, dashboard'daki 'son X saat' grafiklerini besleyen veritabanı. Zaman damgalı, yüksek hacimli yazma/sorgu için ilişkisel bir veritabanından daha uygun olduğundan seçildi.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540000" y="8280000"/>
            <a:ext cx="11519640" cy="59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Calibri"/>
              </a:rPr>
              <a:t>DOCKER :Tüm bu uygulama konteynerlerini tek bir komutla, aynı şekilde ayağa kaldıran orkestrasyon katmanı.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05"/>
          <p:cNvSpPr/>
          <p:nvPr/>
        </p:nvSpPr>
        <p:spPr>
          <a:xfrm>
            <a:off x="1029240" y="982080"/>
            <a:ext cx="13730400" cy="74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4) RAKAMLARLA PROJE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40"/>
              </a:lnSpc>
            </a:pP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51"/>
          <p:cNvSpPr/>
          <p:nvPr/>
        </p:nvSpPr>
        <p:spPr>
          <a:xfrm>
            <a:off x="703440" y="144108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58" name="Group 56"/>
          <p:cNvGrpSpPr/>
          <p:nvPr/>
        </p:nvGrpSpPr>
        <p:grpSpPr>
          <a:xfrm>
            <a:off x="1029240" y="8925840"/>
            <a:ext cx="858960" cy="332640"/>
            <a:chOff x="1029240" y="8925840"/>
            <a:chExt cx="858960" cy="332640"/>
          </a:xfrm>
        </p:grpSpPr>
        <p:grpSp>
          <p:nvGrpSpPr>
            <p:cNvPr id="359" name="Group 57"/>
            <p:cNvGrpSpPr/>
            <p:nvPr/>
          </p:nvGrpSpPr>
          <p:grpSpPr>
            <a:xfrm>
              <a:off x="1029240" y="8925840"/>
              <a:ext cx="332640" cy="332640"/>
              <a:chOff x="1029240" y="8925840"/>
              <a:chExt cx="332640" cy="332640"/>
            </a:xfrm>
          </p:grpSpPr>
          <p:sp>
            <p:nvSpPr>
              <p:cNvPr id="360" name="Freeform 40"/>
              <p:cNvSpPr/>
              <p:nvPr/>
            </p:nvSpPr>
            <p:spPr>
              <a:xfrm>
                <a:off x="1029240" y="892584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TextBox 106"/>
              <p:cNvSpPr/>
              <p:nvPr/>
            </p:nvSpPr>
            <p:spPr>
              <a:xfrm>
                <a:off x="1060200" y="894132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362" name="Group 58"/>
            <p:cNvGrpSpPr/>
            <p:nvPr/>
          </p:nvGrpSpPr>
          <p:grpSpPr>
            <a:xfrm>
              <a:off x="1555560" y="8925840"/>
              <a:ext cx="332640" cy="332640"/>
              <a:chOff x="1555560" y="8925840"/>
              <a:chExt cx="332640" cy="332640"/>
            </a:xfrm>
          </p:grpSpPr>
          <p:sp>
            <p:nvSpPr>
              <p:cNvPr id="363" name="Freeform 41"/>
              <p:cNvSpPr/>
              <p:nvPr/>
            </p:nvSpPr>
            <p:spPr>
              <a:xfrm>
                <a:off x="1555560" y="892584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TextBox 107"/>
              <p:cNvSpPr/>
              <p:nvPr/>
            </p:nvSpPr>
            <p:spPr>
              <a:xfrm>
                <a:off x="1586880" y="894132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graphicFrame>
        <p:nvGraphicFramePr>
          <p:cNvPr id="365" name="Table 1"/>
          <p:cNvGraphicFramePr/>
          <p:nvPr/>
        </p:nvGraphicFramePr>
        <p:xfrm>
          <a:off x="823320" y="1874880"/>
          <a:ext cx="10515240" cy="2743200"/>
        </p:xfrm>
        <a:graphic>
          <a:graphicData uri="http://schemas.openxmlformats.org/drawingml/2006/table">
            <a:tbl>
              <a:tblPr/>
              <a:tblGrid>
                <a:gridCol w="5486400"/>
                <a:gridCol w="502920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Metrik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Değer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Gold toplam satır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2.762.067.817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Gold toplam parça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6.861  (4 kaynak tipi)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İşlenen tarihsel tar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30 / 30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Toplam benzersiz uçak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386.779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Askeri işaretli uçak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12.753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6" name="Table 2"/>
          <p:cNvGraphicFramePr/>
          <p:nvPr/>
        </p:nvGraphicFramePr>
        <p:xfrm>
          <a:off x="12186360" y="2057760"/>
          <a:ext cx="4345920" cy="2122200"/>
        </p:xfrm>
        <a:graphic>
          <a:graphicData uri="http://schemas.openxmlformats.org/drawingml/2006/table">
            <a:tbl>
              <a:tblPr/>
              <a:tblGrid>
                <a:gridCol w="2917800"/>
                <a:gridCol w="1428480"/>
              </a:tblGrid>
              <a:tr h="475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Aşama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Süre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Silver reprocess (30 tar + UAVAttack + Alfa)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~17 saat 12 dakika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Gold birleştirme (2.76 milyar satır)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~1 saat 41 dakika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UÇTAN UCA TOPLAM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~19 saat 11 dakika işlem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pic>
        <p:nvPicPr>
          <p:cNvPr id="367" name=""/>
          <p:cNvPicPr/>
          <p:nvPr/>
        </p:nvPicPr>
        <p:blipFill>
          <a:blip r:embed="rId1"/>
          <a:stretch/>
        </p:blipFill>
        <p:spPr>
          <a:xfrm>
            <a:off x="6660000" y="240480"/>
            <a:ext cx="4859640" cy="11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Box 111"/>
          <p:cNvSpPr/>
          <p:nvPr/>
        </p:nvSpPr>
        <p:spPr>
          <a:xfrm>
            <a:off x="866520" y="5220000"/>
            <a:ext cx="13730400" cy="74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TEST SONUÇLARI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40"/>
              </a:lnSpc>
            </a:pP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53"/>
          <p:cNvSpPr/>
          <p:nvPr/>
        </p:nvSpPr>
        <p:spPr>
          <a:xfrm>
            <a:off x="540720" y="567900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70" name="Table 5"/>
          <p:cNvGraphicFramePr/>
          <p:nvPr/>
        </p:nvGraphicFramePr>
        <p:xfrm>
          <a:off x="1620000" y="6068520"/>
          <a:ext cx="16019640" cy="2710080"/>
        </p:xfrm>
        <a:graphic>
          <a:graphicData uri="http://schemas.openxmlformats.org/drawingml/2006/table">
            <a:tbl>
              <a:tblPr/>
              <a:tblGrid>
                <a:gridCol w="3324600"/>
                <a:gridCol w="4082400"/>
                <a:gridCol w="8613000"/>
              </a:tblGrid>
              <a:tr h="514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Test Grubu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Sonuç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tr-TR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Ne doğruluyor?</a:t>
                      </a:r>
                      <a:endParaRPr lang="tr-T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B1E3D"/>
                    </a:solidFill>
                  </a:tcPr>
                </a:tc>
              </a:tr>
              <a:tr h="514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Bronze / Silver / MinIO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46 / 46 geçti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Ham veri yükleme, birim dönüşümü, provenance ekleme ve nesne depolama katmanının doğru çalıştığını doğruluyor.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Gold birleştirme regresyonu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7 / 7 geçti (çift-sayım koruması dahil)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Özellikle "aynı veriyle iki kez çalıştırılırsa satır sayısı katlanmamalı" senaryosunu test ediyor. Geçmişte bulunan çift-sayım bug'ının bir daha sessizce geri gelmediğini garanti ediyor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  <a:tr h="5140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Kafka / Dashboard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40 / 40 geçti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Gerçek zamanlı akışın üretici/tüketici mantığının (Kafka mesajlaşması, Redis/InfluxDB yazma, Bronze arşivleme) doğru çalıştığını doğruluyor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516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Tüm aktif test paketi (ML hariç)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lang="en-US" sz="1500" b="0" u="none" strike="noStrike">
                          <a:solidFill>
                            <a:srgbClr val="1B1F27"/>
                          </a:solidFill>
                          <a:effectLst/>
                          <a:uFillTx/>
                          <a:latin typeface="Calibri"/>
                        </a:rPr>
                        <a:t>351 / 351 geçti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tr-TR" sz="15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</a:rPr>
                        <a:t>Projenin ML/model eğitimi dışındaki TÜM aktif kodunun bir arada, tek seferde çalıştırılmış hali. Sistemin bütünsel sağlığının özeti </a:t>
                      </a:r>
                      <a:endParaRPr lang="tr-T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Box 98"/>
          <p:cNvSpPr/>
          <p:nvPr/>
        </p:nvSpPr>
        <p:spPr>
          <a:xfrm>
            <a:off x="1029600" y="982080"/>
            <a:ext cx="13730400" cy="74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2940"/>
              </a:lnSpc>
            </a:pPr>
            <a:r>
              <a:rPr lang="tr-TR" sz="3200" b="1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DASHBOARD</a:t>
            </a: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940"/>
              </a:lnSpc>
            </a:pPr>
            <a:endParaRPr lang="tr-T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Rectangle 42"/>
          <p:cNvSpPr/>
          <p:nvPr/>
        </p:nvSpPr>
        <p:spPr>
          <a:xfrm>
            <a:off x="703800" y="1441080"/>
            <a:ext cx="1096200" cy="37080"/>
          </a:xfrm>
          <a:prstGeom prst="rect">
            <a:avLst/>
          </a:prstGeom>
          <a:solidFill>
            <a:srgbClr val="FF8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73" name="Group 53"/>
          <p:cNvGrpSpPr/>
          <p:nvPr/>
        </p:nvGrpSpPr>
        <p:grpSpPr>
          <a:xfrm>
            <a:off x="1029600" y="8925840"/>
            <a:ext cx="858960" cy="332640"/>
            <a:chOff x="1029600" y="8925840"/>
            <a:chExt cx="858960" cy="332640"/>
          </a:xfrm>
        </p:grpSpPr>
        <p:grpSp>
          <p:nvGrpSpPr>
            <p:cNvPr id="374" name="Group 54"/>
            <p:cNvGrpSpPr/>
            <p:nvPr/>
          </p:nvGrpSpPr>
          <p:grpSpPr>
            <a:xfrm>
              <a:off x="1029600" y="8925840"/>
              <a:ext cx="332640" cy="332640"/>
              <a:chOff x="1029600" y="8925840"/>
              <a:chExt cx="332640" cy="332640"/>
            </a:xfrm>
          </p:grpSpPr>
          <p:sp>
            <p:nvSpPr>
              <p:cNvPr id="375" name="Freeform 38"/>
              <p:cNvSpPr/>
              <p:nvPr/>
            </p:nvSpPr>
            <p:spPr>
              <a:xfrm>
                <a:off x="1029600" y="892584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TextBox 99"/>
              <p:cNvSpPr/>
              <p:nvPr/>
            </p:nvSpPr>
            <p:spPr>
              <a:xfrm>
                <a:off x="1060560" y="894132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  <p:grpSp>
          <p:nvGrpSpPr>
            <p:cNvPr id="377" name="Group 55"/>
            <p:cNvGrpSpPr/>
            <p:nvPr/>
          </p:nvGrpSpPr>
          <p:grpSpPr>
            <a:xfrm>
              <a:off x="1555920" y="8925840"/>
              <a:ext cx="332640" cy="332640"/>
              <a:chOff x="1555920" y="8925840"/>
              <a:chExt cx="332640" cy="332640"/>
            </a:xfrm>
          </p:grpSpPr>
          <p:sp>
            <p:nvSpPr>
              <p:cNvPr id="378" name="Freeform 39"/>
              <p:cNvSpPr/>
              <p:nvPr/>
            </p:nvSpPr>
            <p:spPr>
              <a:xfrm>
                <a:off x="1555920" y="8925840"/>
                <a:ext cx="332640" cy="332640"/>
              </a:xfrm>
              <a:custGeom>
                <a:avLst/>
                <a:gdLst>
                  <a:gd name="textAreaLeft" fmla="*/ 0 w 332640"/>
                  <a:gd name="textAreaRight" fmla="*/ 333720 w 332640"/>
                  <a:gd name="textAreaTop" fmla="*/ 0 h 332640"/>
                  <a:gd name="textAreaBottom" fmla="*/ 333720 h 332640"/>
                </a:gdLst>
                <a:ahLst/>
                <a:cxnLst/>
                <a:rect l="textAreaLeft" t="textAreaTop" r="textAreaRight" b="textAreaBottom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endParaRPr lang="tr-TR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9" name="TextBox 100"/>
              <p:cNvSpPr/>
              <p:nvPr/>
            </p:nvSpPr>
            <p:spPr>
              <a:xfrm>
                <a:off x="1587240" y="8941320"/>
                <a:ext cx="270000" cy="285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50760" tIns="50760" rIns="50760" bIns="50760" anchor="ctr">
                <a:noAutofit/>
              </a:bodyPr>
              <a:p>
                <a:endParaRPr lang="en-US" sz="1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endParaRPr>
              </a:p>
            </p:txBody>
          </p:sp>
        </p:grpSp>
      </p:grpSp>
      <p:pic>
        <p:nvPicPr>
          <p:cNvPr id="380" name=""/>
          <p:cNvPicPr/>
          <p:nvPr/>
        </p:nvPicPr>
        <p:blipFill>
          <a:blip r:embed="rId1"/>
          <a:srcRect l="863" t="0" r="3204" b="2718"/>
          <a:stretch/>
        </p:blipFill>
        <p:spPr>
          <a:xfrm>
            <a:off x="12240360" y="1260360"/>
            <a:ext cx="5399280" cy="75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"/>
          <p:cNvSpPr/>
          <p:nvPr/>
        </p:nvSpPr>
        <p:spPr>
          <a:xfrm>
            <a:off x="720360" y="2520360"/>
            <a:ext cx="5219640" cy="46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Silver veya Gold katmanı seçilir [1]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Ardından o katmandaki veri seti (adsblol_historical, adsblol_realtime, alfa, uav_attack, ...) seçilir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O veri setinde gerçekten var olan kolonlar dinamik olarak listelenir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▸  Tarih aralığı + CSV/Parquet formatı seçilip indirilir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8100360" y="9000360"/>
            <a:ext cx="269964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Şekil 1 – Silver Seçimi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13682160" y="8986680"/>
            <a:ext cx="2697840" cy="37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000" b="0" u="none" strike="noStrike">
                <a:solidFill>
                  <a:srgbClr val="1B1F27"/>
                </a:solidFill>
                <a:effectLst/>
                <a:uFillTx/>
                <a:latin typeface="Arial"/>
              </a:rPr>
              <a:t>Şekil 2 – Gold Seçimi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4" name=""/>
          <p:cNvPicPr/>
          <p:nvPr/>
        </p:nvPicPr>
        <p:blipFill>
          <a:blip r:embed="rId2"/>
          <a:srcRect l="1826" t="0" r="3386" b="1949"/>
          <a:stretch/>
        </p:blipFill>
        <p:spPr>
          <a:xfrm>
            <a:off x="6840720" y="982080"/>
            <a:ext cx="5039280" cy="783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Box 76"/>
          <p:cNvSpPr/>
          <p:nvPr/>
        </p:nvSpPr>
        <p:spPr>
          <a:xfrm>
            <a:off x="1029240" y="981000"/>
            <a:ext cx="537156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YAPAY ZEKÂ YAZILIM TEKNOLOJİLERİ </a:t>
            </a:r>
            <a:endParaRPr lang="tr-T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108"/>
          <p:cNvSpPr/>
          <p:nvPr/>
        </p:nvSpPr>
        <p:spPr>
          <a:xfrm>
            <a:off x="1276560" y="4669200"/>
            <a:ext cx="15734520" cy="99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7841"/>
              </a:lnSpc>
            </a:pPr>
            <a:r>
              <a:rPr lang="tr-TR" sz="5600" b="1" u="none" strike="noStrike">
                <a:solidFill>
                  <a:srgbClr val="000000"/>
                </a:solidFill>
                <a:effectLst/>
                <a:uFillTx/>
                <a:latin typeface="Red Hat Display Bold"/>
                <a:ea typeface="Red Hat Display Bold"/>
              </a:rPr>
              <a:t>DİNLEDİĞİNİZ İÇİN TEŞEKKÜRLER..</a:t>
            </a:r>
            <a:endParaRPr lang="tr-TR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AutoShape 23"/>
          <p:cNvSpPr/>
          <p:nvPr/>
        </p:nvSpPr>
        <p:spPr>
          <a:xfrm>
            <a:off x="12539160" y="4017960"/>
            <a:ext cx="392076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Application>LibreOffice/26.2.4.2$Windows_X86_64 LibreOffice_project/0229ac93fcf0d7cbc6376066c6f35021cef002dc</Application>
  <AppVersion>15.0000</AppVersion>
  <Words>163</Words>
  <Paragraphs>39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DAGsAZa3-AM</dc:identifier>
  <dc:language>tr-TR</dc:language>
  <cp:lastModifiedBy/>
  <dcterms:modified xsi:type="dcterms:W3CDTF">2026-07-18T08:28:58Z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Özel</vt:lpwstr>
  </property>
  <property fmtid="{D5CDD505-2E9C-101B-9397-08002B2CF9AE}" pid="3" name="Slides">
    <vt:i4>6</vt:i4>
  </property>
</Properties>
</file>