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331720"/>
            <a:ext cx="1280160" cy="508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İHA / ADS-B Uçuş Verisi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Analiz Platformu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A24D"/>
                </a:solidFill>
                <a:latin typeface="Calibri"/>
              </a:rPr>
              <a:t>Uçtan Uca Veri Mühendisliği: Hazır Veri Seti ve Gerçek Zamanlı Akış Altyapısı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9C4D6"/>
                </a:solidFill>
                <a:latin typeface="Calibri"/>
              </a:rPr>
              <a:t>Takım Projesi Sunumu   •   [Takım Üyelerinin İsimlerini Buraya Ekleyin]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GÜNDEM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Sunumda Neler Var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B1F27"/>
                </a:solidFill>
                <a:latin typeface="Calibri"/>
              </a:rPr>
              <a:t>▸  1. Problem ve Motivasyon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B1F27"/>
                </a:solidFill>
                <a:latin typeface="Calibri"/>
              </a:rPr>
              <a:t>▸  2. Veri Kaynağı Kararı — Neden adsb.lol, ALFA, UAV Attack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B1F27"/>
                </a:solidFill>
                <a:latin typeface="Calibri"/>
              </a:rPr>
              <a:t>▸  3. Mimari: Bronze / Silver / Gold — kod örnekleriyle katman katman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B1F27"/>
                </a:solidFill>
                <a:latin typeface="Calibri"/>
              </a:rPr>
              <a:t>▸  4. Gerçek Zamanlı Akış: Kafka, günlük dönüşüm, canlı dashboard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B1F27"/>
                </a:solidFill>
                <a:latin typeface="Calibri"/>
              </a:rPr>
              <a:t>▸  5. Docker Altyapısı ve MinIO Depolama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B1F27"/>
                </a:solidFill>
                <a:latin typeface="Calibri"/>
              </a:rPr>
              <a:t>▸  6. Rakamlarla Proje ve Test Sonuçları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B1F27"/>
                </a:solidFill>
                <a:latin typeface="Calibri"/>
              </a:rPr>
              <a:t>▸  7. Karşılaşılan Zorluklar, Sonuç ve Gelecek Çalışmalar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472"/>
                </a:solidFill>
                <a:latin typeface="Calibri"/>
              </a:rPr>
              <a:t>Not: Ekran görüntüsü alanları (FIGURE 1, 2, 3 ...) ilgili konunun tam yanında yer alıyor.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Neden Bu Proje?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103120" cy="36576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 YAPTIK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10512"/>
            <a:ext cx="8321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Hava trafiği verisi (uçak konum / hız / irtifa) üzerinden ANOMALİ TESPİTİ yapabilecek bir platform kurmak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98064"/>
            <a:ext cx="2103120" cy="365760"/>
          </a:xfrm>
          <a:prstGeom prst="rect">
            <a:avLst/>
          </a:prstGeom>
          <a:solidFill>
            <a:srgbClr val="8C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NEDEN YAPTIK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779776"/>
            <a:ext cx="83210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Rota sapması, ani sinyal kaybı, askeri/sivil karışık trafik gibi örüntüleri hem CANLI hem TARİHSEL olarak yakalayabilmek gerekiyordu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Bunu güvenilir yapabilmek için önce sağlam, tekrarlanabilir bir VERİ ALTYAPISI şart — model eğitmeden önce veri akışının kendisi doğru kurulmalıydı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2103120" cy="36576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NASIL YAPTIK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059936"/>
            <a:ext cx="83210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İki paralel veri yolu kurduk: (1) tarihsel/hazır veri setleri için toplu bir işleme hattı, (2) canlı adsb.lol akışı için sürekli çalışan bir Kafka hattı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Bu sunum, esas olarak bu iki hattın nasıl tasarlandığını, hangi kararların neden alındığını ve karşılaşılan gerçek sorunları anlatıyor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Peki bu iki hattı besleyecek veri kaynağını nasıl seçtik?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VERI KAYNAĞI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OpenSky Yerine adsb.lol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74519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Kriter</a:t>
                      </a:r>
                    </a:p>
                  </a:txBody>
                  <a:tcPr anchor="ctr"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OpenSky Network</a:t>
                      </a:r>
                    </a:p>
                  </a:txBody>
                  <a:tcPr anchor="ctr"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adsb.lol</a:t>
                      </a:r>
                    </a:p>
                  </a:txBody>
                  <a:tcPr anchor="ctr">
                    <a:solidFill>
                      <a:srgbClr val="0B1E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Kimlik doğrulama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Gerekli (OAuth2)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Gerekmiyor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Günlük kota / kredi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Var, sınırlı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Yok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Tarihsel veri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Sınırlı erişim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Günlük tam-ağ tar arşivi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Gerçek zamanlı erişim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Var ama limitli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REST feed, sınırsız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Tek kaynaktan ikisi birden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Hayır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Evet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5B6472"/>
                </a:solidFill>
                <a:latin typeface="Calibri"/>
              </a:rPr>
              <a:t>Sonuç: adsb.lol, hem TB'larca tarihsel arşivi hem sürekli canlı sorguyu kota/kimlik doğrulama derdi olmadan TEK kaynaktan karşılıyor.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İyi bir kaynak yeterli değil — anomali tespitini ÖLÇEBİLMEK için etiketli veri de gerekiyor.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VERI KAYNAĞI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Ek Etiketli Veri Setleri: ALFA ve UAV Attack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5029200" cy="356616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1874519"/>
            <a:ext cx="5029200" cy="356616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5029200" cy="50292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874519"/>
            <a:ext cx="5029200" cy="50292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476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ALFA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476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UAV Attack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603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Gerçek uçuş arızası ground-truth verisi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Fault/anomaly etiketleri gerçek uçuşlardan geliyor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İleride model doğrulaması için referans noktası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603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İyi huylu (benign) / kötü niyetli (malicious) saldırı etiketleri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683.9 MB, 767 CSV dosyası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Anomali tespitini precision/recall ile ölçülebilir kılıyor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5B6472"/>
                </a:solidFill>
                <a:latin typeface="Calibri"/>
              </a:rPr>
              <a:t>Neden önemli: ham MAVLink log'unda bu tür etiketler yok — bu ikisi sayesinde "ne kadar iyi tespit ettik" sorusu SAYISAL cevaplanabiliyor.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Şimdi bu üç kaynağın veriyi nasıl güvenilir bir hatta işlediğine bakalım.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8A00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Mimari: Bronze / Silver / Gold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9C4D6"/>
                </a:solidFill>
                <a:latin typeface="Calibri"/>
              </a:rPr>
              <a:t>Ham veriden birleşik veri setine — katman katman, kod örnekleriyle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MIMARI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Üç Katmanlı Veri İşleme Hattı — Genel Bakış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3246120" cy="2286000"/>
          </a:xfrm>
          <a:prstGeom prst="rect">
            <a:avLst/>
          </a:prstGeom>
          <a:solidFill>
            <a:srgbClr val="8C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BRONZE</a:t>
            </a:r>
          </a:p>
          <a:p>
            <a:br/>
            <a:pPr algn="ctr"/>
            <a:r>
              <a:rPr sz="1250">
                <a:solidFill>
                  <a:srgbClr val="E8ECF2"/>
                </a:solidFill>
                <a:latin typeface="Calibri"/>
              </a:rPr>
              <a:t>Ham veri — hiç dönüştürülmemiş</a:t>
            </a:r>
            <a:br/>
            <a:r>
              <a:rPr sz="1250">
                <a:solidFill>
                  <a:srgbClr val="E8ECF2"/>
                </a:solidFill>
                <a:latin typeface="Calibri"/>
              </a:rPr>
              <a:t>(.tar / .zip / .jsonl)</a:t>
            </a:r>
            <a:br/>
            <a:r>
              <a:rPr sz="1250">
                <a:solidFill>
                  <a:srgbClr val="E8ECF2"/>
                </a:solidFill>
                <a:latin typeface="Calibri"/>
              </a:rPr>
              <a:t>MinIO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103120"/>
            <a:ext cx="3246120" cy="228600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SILVER</a:t>
            </a:r>
          </a:p>
          <a:p>
            <a:br/>
            <a:pPr algn="ctr"/>
            <a:r>
              <a:rPr sz="1250">
                <a:solidFill>
                  <a:srgbClr val="E8ECF2"/>
                </a:solidFill>
                <a:latin typeface="Calibri"/>
              </a:rPr>
              <a:t>Birim dönüşümü, etiket çıkarımı,</a:t>
            </a:r>
            <a:br/>
            <a:r>
              <a:rPr sz="1250">
                <a:solidFill>
                  <a:srgbClr val="E8ECF2"/>
                </a:solidFill>
                <a:latin typeface="Calibri"/>
              </a:rPr>
              <a:t>provenance eklenmiş Parquet</a:t>
            </a:r>
            <a:br/>
            <a:r>
              <a:rPr sz="1250">
                <a:solidFill>
                  <a:srgbClr val="E8ECF2"/>
                </a:solidFill>
                <a:latin typeface="Calibri"/>
              </a:rPr>
              <a:t>(feet→m, knots→m/s)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2103120"/>
            <a:ext cx="3246120" cy="2286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GOLD</a:t>
            </a:r>
          </a:p>
          <a:p>
            <a:br/>
            <a:pPr algn="ctr"/>
            <a:r>
              <a:rPr sz="1250">
                <a:solidFill>
                  <a:srgbClr val="E8ECF2"/>
                </a:solidFill>
                <a:latin typeface="Calibri"/>
              </a:rPr>
              <a:t>Tüm kaynakların ortak</a:t>
            </a:r>
            <a:br/>
            <a:r>
              <a:rPr sz="1250">
                <a:solidFill>
                  <a:srgbClr val="E8ECF2"/>
                </a:solidFill>
                <a:latin typeface="Calibri"/>
              </a:rPr>
              <a:t>7+3 şemaya hizalandığı</a:t>
            </a:r>
            <a:br/>
            <a:r>
              <a:rPr sz="1250">
                <a:solidFill>
                  <a:srgbClr val="E8ECF2"/>
                </a:solidFill>
                <a:latin typeface="Calibri"/>
              </a:rPr>
              <a:t>birleşik veri seti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39" y="2926080"/>
            <a:ext cx="457200" cy="457200"/>
          </a:xfrm>
          <a:prstGeom prst="rightArrow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818120" y="2926080"/>
            <a:ext cx="457200" cy="457200"/>
          </a:xfrm>
          <a:prstGeom prst="rightArrow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Neden üç katman (tek 'temiz tablo' değil): geri dönülebilirlik, sorumluluk ayrımı, test edilebilirlik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Parse hatası olduğunda (gerçekte 2 kez oldu) sadece ilgili katman yeniden üretiliyor — ham veri asla bozulmuyor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Depolama: MinIO (S3-uyumlu) — Docker ile tek komutla ayağa kalkıyor, ileride gerçek S3'e geçiş sadece endpoint değişikliği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Şimdi her katmanı tek tek, gerçek kodla inceleyelim.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BRONZE KATMANI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Bronze — Ham Veri Deposu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103120" cy="36576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 YAPTIK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10512"/>
            <a:ext cx="8321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Tar/zip/JSONL dosyalarını HİÇBİR dönüşüm yapmadan MinIO'ya olduğu gibi kaydediyoruz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98064"/>
            <a:ext cx="2103120" cy="365760"/>
          </a:xfrm>
          <a:prstGeom prst="rect">
            <a:avLst/>
          </a:prstGeom>
          <a:solidFill>
            <a:srgbClr val="8C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NEDEN YAPTIK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779776"/>
            <a:ext cx="83210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Kaynak veriye her zaman geri dönebilmek için — Silver/Gold parse mantığı hatalıysa (nitekim oldu) ham veri bozulmadan kalıyor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Yeniden indirme derdi olmadan sadece parser'ı düzeltip yeniden üretebiliyoruz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2103120" cy="36576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NASIL YAPTIK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059936"/>
            <a:ext cx="83210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19 yeni tar (64.1 GB) yerel diskten idempotent bir script ile MinIO'ya yüklendi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Zaten yüklenmiş dosyalar otomatik atlanıyor — script güvenle tekrar çalıştırılabiliyor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Kodda tam olarak nasıl göründüğüne bakalım.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BRONZE KATMANI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Bronze — Kod ve MinIO Görünümü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6949440" cy="41605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6583679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>
                <a:solidFill>
                  <a:srgbClr val="6A9955"/>
                </a:solidFill>
                <a:latin typeface="Consolas"/>
              </a:rPr>
              <a:t># scripts/upload_bronze_all.py -- idempotent kontrol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def already_uploaded(client, bucket, object_name) -&gt; bool: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try: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client.stat_object(bucket, object_name)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return True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except S3Error as e: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if e.code == "NoSuchKey": return False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raise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6A9955"/>
                </a:solidFill>
                <a:latin typeface="Consolas"/>
              </a:rPr>
              <a:t># ana yukleme dongusu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for source, f in files: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object_name = f"{source}/{f.name}"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if already_uploaded(client, bucket, object_name):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skipped += 1; continue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ok = upload_file(client, bucket, object_name, f)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if ok: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f.unlink()   # basarili yuklemeden SONRA yerel kopyayi sil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6A9955"/>
                </a:solidFill>
                <a:latin typeface="Consolas"/>
              </a:rPr>
              <a:t># Sonuc: uploaded=19 skipped=0 failed=0 (~63 MB/s, ~18 dakika)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19" y="1828800"/>
            <a:ext cx="3703320" cy="4160520"/>
          </a:xfrm>
          <a:prstGeom prst="rect">
            <a:avLst/>
          </a:prstGeom>
          <a:solidFill>
            <a:srgbClr val="E4E8EE"/>
          </a:solidFill>
          <a:ln w="15875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 lIns="182880" rIns="18288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📷  MinIO'da bronze/ bucket'ı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http://localhost:9001 (minioadmin/minioadmin)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bronze/adsblol_historical/ altındaki .tar dosyaları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Nesne boyutu ve tarihlerin göründüğü liste görünümü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19" y="1828800"/>
            <a:ext cx="1234440" cy="36576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FIGURE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Bronze'daki bu ham veri şimdi Silver'da işlenmeye hazır.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SILVER KATMANI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Silver — Birim Dönüşümü ve Provenance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103120" cy="36576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 YAPTIK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10512"/>
            <a:ext cx="8321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Ham veriyi birim dönüşümü yapılmış, etiketlenmiş, iz sürülebilir (provenance) Parquet dosyalarına çeviriyoruz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98064"/>
            <a:ext cx="2103120" cy="365760"/>
          </a:xfrm>
          <a:prstGeom prst="rect">
            <a:avLst/>
          </a:prstGeom>
          <a:solidFill>
            <a:srgbClr val="8C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NEDEN YAPTIK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779776"/>
            <a:ext cx="83210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Görselleştirme/analiz feet, knots, fpm gibi karışık birimlerle değil, TEK bir standart (metre, m/s) ile çalışmalı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Askeri/sivil ayrımı gibi etiketler bu aşamada çıkarılmazsa her sonraki katman aynı işi tekrar tekrar yapmak zorunda kalır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2103120" cy="36576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NASIL YAPTIK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059936"/>
            <a:ext cx="83210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Her tar dosyası JSON'a açılıp trace satırları birim dönüşümünden geçiriliyor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Kesinti/PC kapanması riskine karşı TAR-BAZLI bir checkpoint sistemi ekledik (bir sonraki slaytta)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Önce birim dönüşümü kodunun kendisine, sonra checkpoint mekanizmasına bakalım.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SILVER KATMANI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Silver — Birim Dönüşümü Kodu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6949440" cy="41605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6583679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>
                <a:solidFill>
                  <a:srgbClr val="6A9955"/>
                </a:solidFill>
                <a:latin typeface="Consolas"/>
              </a:rPr>
              <a:t># src/silver/parse_adsblol_historical.py -- parse_trace_bytes()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is_military = bool(int(data.get("dbFlags", 0) or 0) &amp; 1)</a:t>
            </a:r>
          </a:p>
          <a:p>
            <a:r>
              <a:rPr sz="1100">
                <a:solidFill>
                  <a:srgbClr val="6A9955"/>
                </a:solidFill>
                <a:latin typeface="Consolas"/>
              </a:rPr>
              <a:t># dbFlags bit'i dosya seviyesinde sabit, trace'in HER satirinda gecerli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for row in trace: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rec = dict(zip(TRACE_COLS, row[:14]))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alt_raw = rec["alt_raw"]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on_ground = alt_raw == "ground"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alt_m = None if (on_ground or alt_raw is None) else round(float(alt_raw)*0.3048, 1)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output_row = {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"source_id": icao, "timestamp_utc": current_timestamp,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"lat": rec["lat"], "lon": rec["lon"], "alt": alt_m,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"on_ground": on_ground, "is_military": is_military,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"ground_speed_ms": round(float(rec["gs"])*0.5144, 2) if rec["gs"] else None,   # knots-&gt;m/s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"vertical_rate_ms": round(float(rec["vrate"])*0.00508, 3) if rec["vrate"] else None,  # fpm-&gt;m/s</a:t>
            </a:r>
          </a:p>
          <a:p>
            <a:r>
              <a:rPr sz="1100">
                <a:solidFill>
                  <a:srgbClr val="6A9955"/>
                </a:solidFill>
                <a:latin typeface="Consolas"/>
              </a:rPr>
              <a:t>        # ... squawk, nic, category, adsb_version gibi provenance kolonlari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19" y="1828800"/>
            <a:ext cx="3703320" cy="4160520"/>
          </a:xfrm>
          <a:prstGeom prst="rect">
            <a:avLst/>
          </a:prstGeom>
          <a:solidFill>
            <a:srgbClr val="E4E8EE"/>
          </a:solidFill>
          <a:ln w="15875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 lIns="182880" rIns="18288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📷  MinIO'da silver/ bucket'ı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silver/adsblol_historical/ altındaki part-*.parquet dosyaları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Parça sayısının çokluğu (~6.852 parça) vurgulanabilir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19" y="1828800"/>
            <a:ext cx="1234440" cy="36576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FIGURE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Peki 17+ saat süren bu işlem bir PC kapanmasında ne olur?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SILVER KATMANI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Silver — Tar-Bazlı Checkpoint / Resume (3 Fonksiyon)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397763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10058400" cy="36575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>
                <a:solidFill>
                  <a:srgbClr val="D4D4D4"/>
                </a:solidFill>
                <a:latin typeface="Consolas"/>
              </a:rPr>
              <a:t>def _load_checkpoint(path):        # calisma basinda kaldigi yerden oku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   if not path.exists(): return {"completed_tars": [], "in_progress": {}}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   try: return json.loads(path.read_text())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   except (json.JSONDecodeError, OSError): return {"completed_tars": [], "in_progress": {}}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def _save_checkpoint(path, state): # HER parca yazildikca cagrilir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   tmp = path.with_suffix(path.suffix + ".tmp")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   tmp.write_text(json.dumps(state, indent=2))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   tmp.replace(path)  # atomik (POSIX rename / Windows ReplaceFile) -- yarim JSON kalmaz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def _delete_uris(client, uris):    # yarim kalan tar'in parcalarini temizler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   for uri in uris: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       _, _, rest = uri.partition("s3://")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       bucket, _, key = rest.partition("/")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       client.remove_object(bucket, key)   # retry'da cift sayima izin verilmez</a:t>
            </a:r>
          </a:p>
          <a:p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6A9955"/>
                </a:solidFill>
                <a:latin typeface="Consolas"/>
              </a:rPr>
              <a:t># run() icinde: tar_name in completed_tars ise TEKRAR indirilmez/islenmez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5B6472"/>
                </a:solidFill>
                <a:latin typeface="Calibri"/>
              </a:rPr>
              <a:t>Sonuç: 30 tar'ın tamamı, bir PC kapanmasına rağmen veri kaybı/mükerrerlik olmadan işlendi.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Silver hazır olduğunda sıra, tüm kaynakları TEK bir şemada birleştiren Gold'a geliyor.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GOLD KATMANI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Gold — Ortak Şemada Birleştirme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103120" cy="36576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 YAPTIK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10512"/>
            <a:ext cx="8321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adsb.lol tarihsel, adsb.lol gerçek zamanlı, ALFA ve UAV Attack'i TEK, ortak 7+3 kolonluk şemaya hizalıyoruz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98064"/>
            <a:ext cx="2103120" cy="365760"/>
          </a:xfrm>
          <a:prstGeom prst="rect">
            <a:avLst/>
          </a:prstGeom>
          <a:solidFill>
            <a:srgbClr val="8C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NEDEN YAPTIK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779776"/>
            <a:ext cx="83210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Görselleştirme/dashboard/export tek bir şemaya bakmak istiyor — 4 farklı kaynağın 4 farklı kolon adını (ör. 'vel' vs 'velocity_') bilmesine gerek kalmıyor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İlk versiyonda çift-sayım bug'ı vardı: tekrar çalıştırmada veri katlanıyordu — eski çıktıyı silmeden yeni yazıyordu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2103120" cy="36576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NASIL YAPTIK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059936"/>
            <a:ext cx="83210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stream_unify(): eski Gold çıktısını TAMAMEN siler, sonra her Silver parçasını TEK TEK okuyup HEMEN Gold'a yazar (RAM'e toplu yüklemeden)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Çift-sayım bug'ı düzeltilip bir daha geri gelmesin diye özel regresyon testi eklendi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Kodun kendisine ve MinIO'daki Gold çıktısına bakalım.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GOLD KATMANI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Gold — Ortak Kolona Hizalama (COLUMN_MAPS)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6949440" cy="41605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6583679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>
                <a:solidFill>
                  <a:srgbClr val="6A9955"/>
                </a:solidFill>
                <a:latin typeface="Consolas"/>
              </a:rPr>
              <a:t># src/gold/unify.py -- her kaynagin kendi kolon adini Gold'a esler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COLUMN_MAPS = {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"adsblol_historical": {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 "velocity_mps": "ground_speed_ms", "heading_deg": "track_deg",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 "is_military": "is_military", ... },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"alfa": {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 "velocity_mps": "velocity_measured", "heading_deg": "yaw_measured",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 "is_military": None,  # adsb.lol disi kaynak -- dbFlags yok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 ... },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def _apply_column_map(df, mapping):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out = pd.DataFrame(index=df.index)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for gold_col in GOLD_COLUMNS: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    silver_col = mapping.get(gold_col)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    out[gold_col] = df[silver_col] if silver_col in df.columns else None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return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19" y="1828800"/>
            <a:ext cx="3703320" cy="4160520"/>
          </a:xfrm>
          <a:prstGeom prst="rect">
            <a:avLst/>
          </a:prstGeom>
          <a:solidFill>
            <a:srgbClr val="E4E8EE"/>
          </a:solidFill>
          <a:ln w="15875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 lIns="182880" rIns="18288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📷  MinIO'da gold/unified/ klasörü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gold/unified/ altındaki birleşik part-*.parquet dosyaları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Toplam parça sayısı (6.861) ve boyut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19" y="1828800"/>
            <a:ext cx="1234440" cy="36576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FIGURE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stream_unify(), her Silver parçasını bu eşlemeden geçirip HEMEN Gold'a yazıyor — ama önce clear_gold_before_unify() eski çıktıyı siliyor (çift-sayım bug'ının kalıcı çözümü). Şimdi hazır veri setinin tüm hattını uçtan uca görelim.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PIPELINE — HAZIR VERI SETI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Uçtan Uca Akış: Tar Arşivi → Gold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017520"/>
            <a:ext cx="1481328" cy="8686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Tar Dosyaları</a:t>
            </a:r>
            <a:br/>
            <a:r>
              <a:rPr sz="1150" b="1">
                <a:solidFill>
                  <a:srgbClr val="FFFFFF"/>
                </a:solidFill>
                <a:latin typeface="Calibri"/>
              </a:rPr>
              <a:t>(yerel)</a:t>
            </a:r>
          </a:p>
        </p:txBody>
      </p:sp>
      <p:sp>
        <p:nvSpPr>
          <p:cNvPr id="6" name="Rectangle 5"/>
          <p:cNvSpPr/>
          <p:nvPr/>
        </p:nvSpPr>
        <p:spPr>
          <a:xfrm>
            <a:off x="2112264" y="3017520"/>
            <a:ext cx="1481328" cy="86868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upload_bronze</a:t>
            </a:r>
            <a:br/>
            <a:r>
              <a:rPr sz="1150" b="1">
                <a:solidFill>
                  <a:srgbClr val="FFFFFF"/>
                </a:solidFill>
                <a:latin typeface="Calibri"/>
              </a:rPr>
              <a:t>_all.py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1608" y="3017520"/>
            <a:ext cx="1481328" cy="868680"/>
          </a:xfrm>
          <a:prstGeom prst="rect">
            <a:avLst/>
          </a:prstGeom>
          <a:solidFill>
            <a:srgbClr val="8C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0952" y="3017520"/>
            <a:ext cx="1481328" cy="86868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parse_adsblol_</a:t>
            </a:r>
            <a:br/>
            <a:r>
              <a:rPr sz="1150" b="1">
                <a:solidFill>
                  <a:srgbClr val="FFFFFF"/>
                </a:solidFill>
                <a:latin typeface="Calibri"/>
              </a:rPr>
              <a:t>historical.py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0296" y="3017520"/>
            <a:ext cx="1481328" cy="86868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3017520"/>
            <a:ext cx="1481328" cy="86868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gold.unify</a:t>
            </a:r>
            <a:br/>
            <a:r>
              <a:rPr sz="1150" b="1">
                <a:solidFill>
                  <a:srgbClr val="FFFFFF"/>
                </a:solidFill>
                <a:latin typeface="Calibri"/>
              </a:rPr>
              <a:t>(ELLE)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58984" y="3017520"/>
            <a:ext cx="1481328" cy="86868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84248" y="3447287"/>
            <a:ext cx="128016" cy="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93592" y="3447287"/>
            <a:ext cx="128016" cy="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02936" y="3447287"/>
            <a:ext cx="128016" cy="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12280" y="3447287"/>
            <a:ext cx="128016" cy="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21624" y="3447287"/>
            <a:ext cx="128016" cy="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30967" y="3447287"/>
            <a:ext cx="128017" cy="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2920" y="4160520"/>
            <a:ext cx="10881360" cy="4572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1">
                <a:solidFill>
                  <a:srgbClr val="5B6472"/>
                </a:solidFill>
                <a:latin typeface="Calibri"/>
              </a:rPr>
              <a:t>Tetiklenme: ELLE / talep üzerine — yeni bir tar indirildiğinde çalıştırılır, günlük bir zamanlayıcı YOK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1B1F27"/>
                </a:solidFill>
                <a:latin typeface="Calibri"/>
              </a:rPr>
              <a:t>▸  Checkpoint (parse_adsblol_historical.py) sayesinde kesinti sadece o an işlenen tek tar'ı etkiler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B1F27"/>
                </a:solidFill>
                <a:latin typeface="Calibri"/>
              </a:rPr>
              <a:t>▸  Bu yol, ALFA ve UAV Attack için de aynı mantıkla (küçük veri, checkpoint'siz tam yeniden işleme) kullanılıyor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Şimdi ikinci veri yoluna, sürekli akan gerçek zamanlı hatta geçelim.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8A00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Gerçek Zamanlı Akış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9C4D6"/>
                </a:solidFill>
                <a:latin typeface="Calibri"/>
              </a:rPr>
              <a:t>Kafka, günlük dönüşüm ve canlı izleme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GERÇEK ZAMANLI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Gerçek Zamanlı Akış — Genel Bakış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103120" cy="36576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 YAPTIK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10512"/>
            <a:ext cx="8321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adsb.lol'ün canlı REST feed'ini sürekli okuyup hem anlık dashboard'u besliyor hem ham veriyi arşivliyoruz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98064"/>
            <a:ext cx="2103120" cy="365760"/>
          </a:xfrm>
          <a:prstGeom prst="rect">
            <a:avLst/>
          </a:prstGeom>
          <a:solidFill>
            <a:srgbClr val="8C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NEDEN YAPTIK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779776"/>
            <a:ext cx="83210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Kafka: TEK üreticiden gelen veriyi BİRDEN FAZLA bağımsız tüketiciye dağıtmak için — dashboard ve arşivleme birbirinden etkilenmemeli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İki ayrı consumer (aynı topic, FARKLI group.id): biri çökerse/yavaşlarsa diğeri ETKİLENMEZ (Separation of Concerns)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2103120" cy="36576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NASIL YAPTIK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059936"/>
            <a:ext cx="83210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uav_producer.py her 60 saniyede bir tüm dünyayı sorgulayıp Kafka'ya yazıyor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B1F27"/>
                </a:solidFill>
                <a:latin typeface="Calibri"/>
              </a:rPr>
              <a:t>▸  dashboard_consumer.py (Redis+InfluxDB) ve minio_archiver.py (Bronze JSONL) bağımsız olarak aynı veriyi tüketiyor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Bu akışın tam şemasına bakalım.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PIPELINE — GERÇEK ZAMANLI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Uçtan Uca Akış: Canlı Feed → Gold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14600"/>
            <a:ext cx="1554480" cy="7315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adsb.lol</a:t>
            </a:r>
            <a:br/>
            <a:r>
              <a:rPr sz="1100" b="1">
                <a:solidFill>
                  <a:srgbClr val="FFFFFF"/>
                </a:solidFill>
                <a:latin typeface="Calibri"/>
              </a:rPr>
              <a:t>canlı feed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2514600"/>
            <a:ext cx="1874519" cy="73152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uav_producer.py</a:t>
            </a:r>
            <a:br/>
            <a:r>
              <a:rPr sz="1100" b="1">
                <a:solidFill>
                  <a:srgbClr val="FFFFFF"/>
                </a:solidFill>
                <a:latin typeface="Calibri"/>
              </a:rPr>
              <a:t>(60sn'de bir)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514600"/>
            <a:ext cx="1554480" cy="73152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E3D"/>
                </a:solidFill>
                <a:latin typeface="Calibri"/>
              </a:rPr>
              <a:t>Kafka</a:t>
            </a:r>
            <a:br/>
            <a:r>
              <a:rPr sz="1100" b="1">
                <a:solidFill>
                  <a:srgbClr val="0B1E3D"/>
                </a:solidFill>
                <a:latin typeface="Calibri"/>
              </a:rPr>
              <a:t>uav.flights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2286000" cy="73152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dashboard_consumer.py</a:t>
            </a:r>
            <a:br/>
            <a:r>
              <a:rPr sz="1050" b="1">
                <a:solidFill>
                  <a:srgbClr val="FFFFFF"/>
                </a:solidFill>
                <a:latin typeface="Calibri"/>
              </a:rPr>
              <a:t>(group: dashboard-consumer)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234440"/>
            <a:ext cx="1920240" cy="7315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Redis +</a:t>
            </a:r>
            <a:br/>
            <a:r>
              <a:rPr sz="1100" b="1">
                <a:solidFill>
                  <a:srgbClr val="FFFFFF"/>
                </a:solidFill>
                <a:latin typeface="Calibri"/>
              </a:rPr>
              <a:t>InfluxDB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794760"/>
            <a:ext cx="2286000" cy="731520"/>
          </a:xfrm>
          <a:prstGeom prst="rect">
            <a:avLst/>
          </a:prstGeom>
          <a:solidFill>
            <a:srgbClr val="8C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minio_archiver.py</a:t>
            </a:r>
            <a:br/>
            <a:r>
              <a:rPr sz="1050" b="1">
                <a:solidFill>
                  <a:srgbClr val="FFFFFF"/>
                </a:solidFill>
                <a:latin typeface="Calibri"/>
              </a:rPr>
              <a:t>(group: minio-archiver)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3794760"/>
            <a:ext cx="1920240" cy="7315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Bronze</a:t>
            </a:r>
            <a:br/>
            <a:r>
              <a:rPr sz="1100" b="1">
                <a:solidFill>
                  <a:srgbClr val="FFFFFF"/>
                </a:solidFill>
                <a:latin typeface="Calibri"/>
              </a:rPr>
              <a:t>JSONL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2880360"/>
            <a:ext cx="182880" cy="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2880360"/>
            <a:ext cx="182880" cy="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52160" y="1737360"/>
            <a:ext cx="457200" cy="105156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52160" y="2971800"/>
            <a:ext cx="457200" cy="105156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95360" y="1600200"/>
            <a:ext cx="274320" cy="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95360" y="4160520"/>
            <a:ext cx="274320" cy="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09360" y="5120640"/>
            <a:ext cx="2286000" cy="6858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parse_adsblol_realtime.py</a:t>
            </a:r>
            <a:br/>
            <a:r>
              <a:rPr sz="1000" b="1">
                <a:solidFill>
                  <a:srgbClr val="FFFFFF"/>
                </a:solidFill>
                <a:latin typeface="Calibri"/>
              </a:rPr>
              <a:t>(günlük 17:00, yaz-sonra-sil)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5120640"/>
            <a:ext cx="1920240" cy="68580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SILVER</a:t>
            </a:r>
            <a:br/>
            <a:r>
              <a:rPr sz="1050" b="1">
                <a:solidFill>
                  <a:srgbClr val="FFFFFF"/>
                </a:solidFill>
                <a:latin typeface="Calibri"/>
              </a:rPr>
              <a:t>adsblol_realtime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29800" y="4526280"/>
            <a:ext cx="0" cy="59436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452360" y="4526280"/>
            <a:ext cx="2377440" cy="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52360" y="4526280"/>
            <a:ext cx="0" cy="59436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66760" y="5463540"/>
            <a:ext cx="502920" cy="0"/>
          </a:xfrm>
          <a:prstGeom prst="line">
            <a:avLst/>
          </a:prstGeom>
          <a:ln w="22225">
            <a:solidFill>
              <a:srgbClr val="5B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59893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5B6472"/>
                </a:solidFill>
                <a:latin typeface="Calibri"/>
              </a:rPr>
              <a:t>Not: Silver'daki güncel gerçek zamanlı veri, Gold'a yansımak için 'python -m src.gold.unify' komutunun ELLE tekrar çalıştırılmasını bekliyor (henüz otomatik değil).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GERÇEK ZAMANLI — KOD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Üretici: uav_producer.py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397763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10058400" cy="36575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>
                <a:solidFill>
                  <a:srgbClr val="D4D4D4"/>
                </a:solidFill>
                <a:latin typeface="Consolas"/>
              </a:rPr>
              <a:t>def delivery_report(err, msg):        # teslim geri-bildirimi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if err is not None: print(f"  [uyari] teslim hatasi: {err}")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def fetch_all_adsblol(args):           # radius=12000nm -&gt; tum dunya, ~57-61sn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return _fetch_adsblol_raw(args.lat, args.lon, args.radius)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while True:                            # ana dongu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t0 = time.time()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records = fetch_fn(args)           # kaynak Redis'ten degistirilebilir (adsblol/OpenSky)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for rec in records: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    rec["cycle_id"] = stats["cycles"]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    producer.produce(TOPIC, key=rec["icao24"],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                      value=json.dumps(rec).encode(), callback=delivery_report)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producer.flush()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time.sleep(max(0, current_interval - (time.time() - t0)))   # ~60sn hedefi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5B6472"/>
                </a:solidFill>
                <a:latin typeface="Calibri"/>
              </a:rPr>
              <a:t>Neden 60 saniye: 'world' modundaki tek dev sorgu zaten önemli bir yük — daha sık sorgu kaynağı gereksiz zorlar.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GERÇEK ZAMANLI — KOD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İki Bağımsız Tüketici: dashboard_consumer &amp; minio_archiver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397763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10058400" cy="36575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>
                <a:solidFill>
                  <a:srgbClr val="6A9955"/>
                </a:solidFill>
                <a:latin typeface="Consolas"/>
              </a:rPr>
              <a:t># dashboard_consumer.py (group.id="dashboard-consumer") -- gercek yazma kodu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rdb.set(f"iha:state:{icao}", json.dumps(data))          # Redis: canli durum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rdb.sadd("iha:active_flights", icao)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point = (Point("flights").tag("icao24", icao)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     .field("lat", float(data["lat"])).field("lon", float(data["lon"]))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     .field("is_military", bool(data.get("is_military", False)))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     .time(datetime.now(timezone.utc)))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write_api.write(bucket=INFLUX_BUCKET, record=point)     # InfluxDB: zaman serisi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6A9955"/>
                </a:solidFill>
                <a:latin typeface="Consolas"/>
              </a:rPr>
              <a:t># minio_archiver.py (group.id="minio-archiver") -- FARKLI, BAGIMSIZ grup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def flush(client, bucket, lines):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obj_name = f"{BRONZE_PREFIX}states-{ts}.jsonl"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client.put_object(bucket, obj_name, io.BytesIO(data), length=len(data))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if lines and (len(lines) &gt;= 500 or now - last_flush &gt;= 60):   # BATCH_SIZE / FLUSH_SECS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flush(client, BUCKET, lines)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5B6472"/>
                </a:solidFill>
                <a:latin typeface="Calibri"/>
              </a:rPr>
              <a:t>Kafka'nın consumer-group modeli, aynı topic'i FARKLI grupların bağımsız okumasına izin verir — mesaj kaybı/çakışma olmaz.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Bronze'a biriken bu JSONL'ler her gün nasıl Silver'a dönüşüyor?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GERÇEK ZAMANLI — KOD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Günlük Dönüşüm: parse_adsblol_realtime.py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397763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10058400" cy="36575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>
                <a:solidFill>
                  <a:srgbClr val="6A9955"/>
                </a:solidFill>
                <a:latin typeface="Consolas"/>
              </a:rPr>
              <a:t># run() -- oku / parse et / yaz / SONRA sil sirasi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for obj_name in sorted(jsonl_objects):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df = parse_jsonl_bytes(download_raw_bytes(client, obj_name), obj_name)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frames.append(add_provenance(df, source_type=SOURCE_TYPE, source_file=obj_name))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processed_objects.append(obj_name)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uri = write_silver(pd.concat(frames), SOURCE_TYPE, client=client)   # ONCE Silver'a yaz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def _delete_processed(client, bucket, object_names):    # SONRA Bronze'u temizle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for name in object_names: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    client.remove_object(bucket, name)   # basarisiz olursa bir sonraki kosuda tekrar denenir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_delete_processed(client, bronze_bucket, processed_objects)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6A9955"/>
                </a:solidFill>
                <a:latin typeface="Consolas"/>
              </a:rPr>
              <a:t># dis dongu: while True: run(); heartbeat.write_text(now); sleep(_seconds_until("17:00"))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5B6472"/>
                </a:solidFill>
                <a:latin typeface="Calibri"/>
              </a:rPr>
              <a:t>Neden sabit 86400sn değil '--daily-at': PC ne zaman açık olursa olsun HER GÜN aynı saati (17:00) hedefliyor.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Bu akışın çıktısını takım dashboard'unda canlı olarak izliyoruz.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ARAYÜZ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Takım Dashboard — Canlı İzleme Ekranı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Redis + InfluxDB'ye akan veriyi gerçek zamanlı bir haritada gösteriyor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Dash (Plotly) tabanlı, dashboard-app konteynerinde çalışıyor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FastAPI (port 8000) iç servis, Dash UI (port 8050) kullanıcı arayüzü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Aynı Docker Compose profili ("streaming") ile Kafka/Redis/InfluxDB'yle birlikte ayağa kalkıyor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920240"/>
            <a:ext cx="4023360" cy="3840480"/>
          </a:xfrm>
          <a:prstGeom prst="rect">
            <a:avLst/>
          </a:prstGeom>
          <a:solidFill>
            <a:srgbClr val="E4E8EE"/>
          </a:solidFill>
          <a:ln w="15875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 lIns="182880" rIns="18288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📷  Takım Dashboard arayüzü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http://localhost:8050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Canlı uçak konumlarının haritada göründüğü hâl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Varsa filtre/panel açıkken bir kare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920240"/>
            <a:ext cx="1234440" cy="36576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FIGURE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Bu akışın tamamı Docker üzerinde, tek bir komutla ayağa kalkıyor.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8A00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Docker Altyapısı ve MinIO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9C4D6"/>
                </a:solidFill>
                <a:latin typeface="Calibri"/>
              </a:rPr>
              <a:t>Tüm servisler tek docker-compose.yml ile yönetiliyor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ALTYAPI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Docker Compose — Profiller, Kaynak Sınırı, Çift Listener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6949440" cy="41605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6583679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>
                <a:solidFill>
                  <a:srgbClr val="6A9955"/>
                </a:solidFill>
                <a:latin typeface="Consolas"/>
              </a:rPr>
              <a:t># docker-compose.yml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kafka: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profiles: ["streaming"]        # gereksiz servisi atlamak icin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deploy: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resources: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  limits: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    memory: 2g   # 1g-&gt;2g: %94-97 doluluktaydi, OOM riski vardi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environment: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KAFKA_PROCESS_ROLES: broker,controller   # Zookeeper YOK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6A9955"/>
                </a:solidFill>
                <a:latin typeface="Consolas"/>
              </a:rPr>
              <a:t>    # iki ayri listener sart -- tek listener container-ici</a:t>
            </a:r>
          </a:p>
          <a:p>
            <a:r>
              <a:rPr sz="1200">
                <a:solidFill>
                  <a:srgbClr val="6A9955"/>
                </a:solidFill>
                <a:latin typeface="Consolas"/>
              </a:rPr>
              <a:t>    # client'lari kirardi (broker'a degil kendine baglanirdi)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KAFKA_LISTENERS: PLAINTEXT://0.0.0.0:9092,PLAINTEXT_HOST://0.0.0.0:29092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KAFKA_ADVERTISED_LISTENERS: PLAINTEXT://kafka:9092,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  PLAINTEXT_HOST://${KAFKA_LAN_HOST:-localhost}:29092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19" y="1828800"/>
            <a:ext cx="3703320" cy="4160520"/>
          </a:xfrm>
          <a:prstGeom prst="rect">
            <a:avLst/>
          </a:prstGeom>
          <a:solidFill>
            <a:srgbClr val="E4E8EE"/>
          </a:solidFill>
          <a:ln w="15875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 lIns="182880" rIns="18288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📷  Docker Desktop / docker ps çıktısı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Tüm servislerin "Up" durumda göründüğü liste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docker ps --format "table {{.Names}}\t{{.Status}}" komutu da olur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19" y="1828800"/>
            <a:ext cx="1234440" cy="36576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FIGURE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Bronze/Silver/Gold'un fiziksel olarak durduğu yer olan MinIO'ya bakalım.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ALTYAPI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MinIO — Nesne Depolama Katmanı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1B1F27"/>
                </a:solidFill>
                <a:latin typeface="Calibri"/>
              </a:rPr>
              <a:t>▸  NE: Bronze/Silver/Gold'un TÜMÜ MinIO'da (S3-uyumlu nesne depolama) tutuluyor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1B1F27"/>
                </a:solidFill>
                <a:latin typeface="Calibri"/>
              </a:rPr>
              <a:t>▸  NEDEN: TB'larca ham/parquet dosya için doğal bir eşleşme — dosya sistemi quota/inode sorunlarına takılmadan</a:t>
            </a:r>
          </a:p>
          <a:p>
            <a:pPr lvl="1">
              <a:spcAft>
                <a:spcPts val="1000"/>
              </a:spcAft>
            </a:pPr>
            <a:r>
              <a:rPr sz="1350">
                <a:solidFill>
                  <a:srgbClr val="5B6472"/>
                </a:solidFill>
                <a:latin typeface="Calibri"/>
              </a:rPr>
              <a:t>–  İleride gerçek AWS S3'e geçiş sadece endpoint/credential değişikliği — kod zaten soyutlanmış (ObjectStoreClient Protocol)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1B1F27"/>
                </a:solidFill>
                <a:latin typeface="Calibri"/>
              </a:rPr>
              <a:t>▸  NASIL: Docker Compose ile tek komutla ayağa kalkıyor, tüm ekip aynı kurulumu paylaşıyor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920240"/>
            <a:ext cx="4023360" cy="3840480"/>
          </a:xfrm>
          <a:prstGeom prst="rect">
            <a:avLst/>
          </a:prstGeom>
          <a:solidFill>
            <a:srgbClr val="E4E8EE"/>
          </a:solidFill>
          <a:ln w="15875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 lIns="182880" rIns="18288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📷  MinIO konsolu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http://localhost:9001 (minioadmin/minioadmin)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bronze / silver / gold bucket listesi bir arada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Tek bir bucket'a girip parça dosyalarının göründüğü hâl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920240"/>
            <a:ext cx="1234440" cy="36576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FIGURE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Bu altyapı üzerinde bugün elimizde ne var? Rakamlara bakalım.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8A00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Rakamlarla Proje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9C4D6"/>
                </a:solidFill>
                <a:latin typeface="Calibri"/>
              </a:rPr>
              <a:t>Veri hacmi, işlem süreleri, test sonuçları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RAKAMLAR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Veri Hacmi ve Gold Katmanı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74519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02920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Metrik</a:t>
                      </a:r>
                    </a:p>
                  </a:txBody>
                  <a:tcPr anchor="ctr"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Değer</a:t>
                      </a:r>
                    </a:p>
                  </a:txBody>
                  <a:tcPr anchor="ctr">
                    <a:solidFill>
                      <a:srgbClr val="0B1E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Gold toplam satır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2.762.067.817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Gold toplam parça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6.861  (4 kaynak tipi)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İşlenen tarihsel 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30 /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Toplam benzersiz uçak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386.779  (önceki veriye göre +%51,7)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Askeri işaretli uçak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12.753  (+%37,0)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Bu hacmin işlenmesi ne kadar sürdü?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RAKAMLAR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Uçtan Uca İşlem Süreleri (Bronze → Silver → Gold)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74519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4114800"/>
              </a:tblGrid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Aşama</a:t>
                      </a:r>
                    </a:p>
                  </a:txBody>
                  <a:tcPr anchor="ctr"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Süre</a:t>
                      </a:r>
                    </a:p>
                  </a:txBody>
                  <a:tcPr anchor="ctr">
                    <a:solidFill>
                      <a:srgbClr val="0B1E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Bronze yükleme (19 yeni tar, 64.1 GB)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~18 dakika (~63 MB/s)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Silver reprocess (30 tar toplam)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~17 saat 12 dakika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Gold birleştirme (2.76 milyar satır)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~1 saat 41 dakika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UÇTAN UCA TOPLAM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~19 saat 11 dakika işlem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5B6472"/>
                </a:solidFill>
                <a:latin typeface="Calibri"/>
              </a:rPr>
              <a:t>Darboğaz disk I/O değil CPU — JSON/gzip decode + birim dönüşümü tek makinede seri işleniyor.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Peki bu kod ne kadar güvenilir? Test sonuçlarına bakalım.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8A00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Test ve Doğrulama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9C4D6"/>
                </a:solidFill>
                <a:latin typeface="Calibri"/>
              </a:rPr>
              <a:t>Regresyon testleri ve gerçek koşu sonuçları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Test Sonuçları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74519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Grubu</a:t>
                      </a:r>
                    </a:p>
                  </a:txBody>
                  <a:tcPr anchor="ctr"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Sonuç</a:t>
                      </a:r>
                    </a:p>
                  </a:txBody>
                  <a:tcPr anchor="ctr">
                    <a:solidFill>
                      <a:srgbClr val="0B1E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Bronze / Silver / MinIO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46 / 46 geçti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Gold birleştirme regresyonu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7 / 7 geçti (çift-sayım koruması dahil)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Kafka /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40 / 40 geçti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Tüm aktif test paketi (ML hariç)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351 / 351 geçti</a:t>
                      </a:r>
                    </a:p>
                  </a:txBody>
                  <a:tcPr anchor="ctr"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E2E (Playwright, gerçek tarayıcı)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F27"/>
                          </a:solidFill>
                          <a:latin typeface="Calibri"/>
                        </a:defRPr>
                      </a:pPr>
                      <a:r>
                        <a:t>1 / 13 — açık bulgu, araştırılıyor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5B6472"/>
                </a:solidFill>
                <a:latin typeface="Calibri"/>
              </a:rPr>
              <a:t>Testler gerçek MinIO/Kafka gerektirmiyor — bellek-içi sahte istemci (FakeMinioClient) sayesinde saniyeler içinde çalışıyor.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Süreç boyunca karşılaştığımız gerçek sorunları kısaca özetleyelim.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SÜREÇ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Karşılaşılan Zorluklar (Özet)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1B1F27"/>
                </a:solidFill>
                <a:latin typeface="Calibri"/>
              </a:rPr>
              <a:t>▸  Gold çift-sayım bug'ı — art arda çalıştırmada veri katlanıyordu, regresyon testiyle kalıcı çözüldü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1B1F27"/>
                </a:solidFill>
                <a:latin typeface="Calibri"/>
              </a:rPr>
              <a:t>▸  PC kapanması — tar-bazlı checkpoint sayesinde 30 tar'lık işlem veri kaybı olmadan tamamlandı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1B1F27"/>
                </a:solidFill>
                <a:latin typeface="Calibri"/>
              </a:rPr>
              <a:t>▸  Altyapıda 'isim değişikliği kalıntısı' — kod güncellenmiş ama eski konteynerler eski ismi kullanıyordu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1B1F27"/>
                </a:solidFill>
                <a:latin typeface="Calibri"/>
              </a:rPr>
              <a:t>▸  Kafka + Docker: tek listener container-içi client'ları kırıyordu — iki ayrı listener (container-içi / host) ile çözüldü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Peki bugün geldiğimiz nokta ve önümüzdeki işler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KAPANIŞ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Sonuç ve Gelecek Çalışmalar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E3D"/>
                </a:solidFill>
                <a:latin typeface="Calibri"/>
              </a:rPr>
              <a:t>Bugün Elimizde Var Olan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Sağlam, test edilmiş Bronze/Silver/Gold veri hattı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Bağımsız çalışan hazır veri + gerçek zamanlı akış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2,76 milyar satırlık birleşik Gold veri seti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Katman/veri seti seçilebilen export panosu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E3D"/>
                </a:solidFill>
                <a:latin typeface="Calibri"/>
              </a:rPr>
              <a:t>Açık Kalan / Gelecek İşler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Gold'un gerçek zamanlı veriyi otomatik alması (şu an elle tetikleniyor)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7 günlük gerçek zamanlı sorgu modunun bellek sorunu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E2E tarayıcı testlerinin çoğunun geçmesi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Anomali tespiti modelinin ALFA/UAV Attack ile eğitilmesi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99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A24D"/>
                </a:solidFill>
                <a:latin typeface="Calibri"/>
              </a:rPr>
              <a:t>→  Kapanışta, tüm bu hattın üzerine kurulu genel export panosunu gösterelim.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GÖSTERIM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Genel Export Panosu — Katman ve Kolon Seçimi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Silver veya Gold katmanı seçilir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Ardından o katmandaki veri seti (adsblol_historical, alfa, uav_attack, ...) seçilir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O veri setinde GERÇEKTEN var olan kolonlar dinamik olarak listelenir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B1F27"/>
                </a:solidFill>
                <a:latin typeface="Calibri"/>
              </a:rPr>
              <a:t>▸  Tarih aralığı + CSV/Parquet formatı seçilip indirilir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920240"/>
            <a:ext cx="5303520" cy="4023360"/>
          </a:xfrm>
          <a:prstGeom prst="rect">
            <a:avLst/>
          </a:prstGeom>
          <a:solidFill>
            <a:srgbClr val="E4E8EE"/>
          </a:solidFill>
          <a:ln w="15875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 lIns="182880" rIns="18288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📷  Genel Export Dashboard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http://localhost:8010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Katman (Silver/Gold) + veri seti dropdown'ı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Calibri"/>
              </a:rPr>
              <a:t>•  Kolon seçim kutucukları + tarih aralığı + indirme butonu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920240"/>
            <a:ext cx="1234440" cy="36576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FIGURE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İHA / ADS-B Uçuş Verisi Analiz Platformu — Takım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834640"/>
            <a:ext cx="1280160" cy="5080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Teşekkürler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0A24D"/>
                </a:solidFill>
                <a:latin typeface="Calibri"/>
              </a:rPr>
              <a:t>Sorular?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