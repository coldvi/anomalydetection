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media/image2.svg" ContentType="image/sv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8288000" cy="10287000"/>
  <p:notesSz cx="7559675" cy="10691813"/>
  <p:embeddedFontLst>
    <p:embeddedFont>
      <p:font typeface="Red Hat Display Bold"/>
    </p:embeddedFont>
    <p:embeddedFont>
      <p:font typeface="Inter Medium"/>
    </p:embeddedFont>
    <p:embeddedFont>
      <p:font typeface="Inter"/>
      <p:regular r:id="rId20"/>
    </p:embeddedFont>
    <p:embeddedFont>
      <p:font typeface="Consolas"/>
      <p:regular r:id="rId21"/>
      <p:bold r:id="rId22"/>
      <p:italic r:id="rId23"/>
      <p:boldItalic r:id="rId24"/>
    </p:embeddedFont>
    <p:embeddedFont>
      <p:font typeface="Fira Sans"/>
    </p:embeddedFont>
    <p:embeddedFont>
      <p:font typeface="Lucida Sans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font" Target="fonts/Font_1_Inter_Regular.fntdata"/><Relationship Id="rId21" Type="http://schemas.openxmlformats.org/officeDocument/2006/relationships/font" Target="fonts/Font_2_Consolas_Regular.fntdata"/><Relationship Id="rId22" Type="http://schemas.openxmlformats.org/officeDocument/2006/relationships/font" Target="fonts/Font_3_Consolas_Bold.fntdata"/><Relationship Id="rId23" Type="http://schemas.openxmlformats.org/officeDocument/2006/relationships/font" Target="fonts/Font_4_Consolas_Italic.fntdata"/><Relationship Id="rId24" Type="http://schemas.openxmlformats.org/officeDocument/2006/relationships/font" Target="fonts/Font_5_Consolas_BoldItalic.fntdata"/><Relationship Id="rId2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5960" cy="585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8480" cy="585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tr-T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DB5091D-8432-4A82-AF70-F19AE9D42ED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tr-T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5BFE4AD-5871-43C2-8C74-4B2A13F590D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0960" cy="136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0960" cy="149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tr-T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FD30FD4-C5EE-40E3-BD5A-4D692C21C26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040" cy="452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040" cy="452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tr-T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CA08BD1-B30F-4BFB-B935-AC2D06B8B0C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8840" cy="63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8840" cy="3949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0280" cy="63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0280" cy="3949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7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tr-T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8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88C3197-5B53-48D0-8B80-8B45D799703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tr-T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9E34972-DBCF-4447-BDFC-E99CFB41CF9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tr-T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8728112-2DF4-48B2-8CC2-D5889B5649A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7760" cy="171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Ana başlık metnini düzenlemek için tıklayın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7760" cy="5964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Anahat metninin biçimini düzenlemek için tıklayın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İkinci Anahat Düzeyi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Üçüncü Anahat Düzeyi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Dördüncü Anahat Düzeyi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Beşinci Anahat Düzeyi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Altıncı Anahat Düzeyi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Yedinci Anahat Düzeyi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6720" cy="116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200" cy="585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6720" cy="4689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tr-T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4C577C7-43A5-4761-9A0D-9DD760CB4F3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4960" cy="56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9144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Anahat metninin biçimini düzenlemek için tıklayın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İkinci Anahat Düzeyi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Üçüncü Anahat Düzeyi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Dördüncü Anahat Düzeyi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Beşinci Anahat Düzeyi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Altıncı Anahat Düzeyi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Yedinci Anahat Düzeyi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4960" cy="803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tr-T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6785288-0550-4229-B781-0C220042D4C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0960" cy="1468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tr-T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1FAF1E7-879C-415A-A910-0AEB3698D3D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tr-T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3DFD2DE-3D6D-44B8-90A9-94ED1FE1D3B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slideLayout" Target="../slideLayouts/slideLayout7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7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7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7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video" Target="file:///C:/Users/PC_6276/Videos/Ekran Kay&#305;tlar&#305;/Ekran Kayd&#305; 2026-07-20 094837_1.75x_sikistirilmis.mp4" TargetMode="External"/><Relationship Id="rId2" Type="http://schemas.microsoft.com/office/2007/relationships/media" Target="file:///C:/Users/PC_6276/Videos/Ekran Kay&#305;tlar&#305;/Ekran Kayd&#305; 2026-07-20 094837_1.75x_sikistirilmis.mp4" TargetMode="External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7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2"/>
          <p:cNvGrpSpPr/>
          <p:nvPr/>
        </p:nvGrpSpPr>
        <p:grpSpPr>
          <a:xfrm>
            <a:off x="-5028120" y="1539000"/>
            <a:ext cx="7717680" cy="7717680"/>
            <a:chOff x="-5028120" y="1539000"/>
            <a:chExt cx="7717680" cy="7717680"/>
          </a:xfrm>
        </p:grpSpPr>
        <p:sp>
          <p:nvSpPr>
            <p:cNvPr id="62" name="Freeform 3"/>
            <p:cNvSpPr/>
            <p:nvPr/>
          </p:nvSpPr>
          <p:spPr>
            <a:xfrm>
              <a:off x="-5028120" y="1539000"/>
              <a:ext cx="7717680" cy="7717680"/>
            </a:xfrm>
            <a:custGeom>
              <a:avLst/>
              <a:gdLst>
                <a:gd name="textAreaLeft" fmla="*/ 0 w 7717680"/>
                <a:gd name="textAreaRight" fmla="*/ 7719120 w 7717680"/>
                <a:gd name="textAreaTop" fmla="*/ 0 h 7717680"/>
                <a:gd name="textAreaBottom" fmla="*/ 7719120 h 7717680"/>
              </a:gdLst>
              <a:ahLst/>
              <a:cxn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tr-T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" name="TextBox 4"/>
            <p:cNvSpPr/>
            <p:nvPr/>
          </p:nvSpPr>
          <p:spPr>
            <a:xfrm>
              <a:off x="-4304520" y="1901160"/>
              <a:ext cx="6270480" cy="6632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64" name="Group 5"/>
          <p:cNvGrpSpPr/>
          <p:nvPr/>
        </p:nvGrpSpPr>
        <p:grpSpPr>
          <a:xfrm>
            <a:off x="15597000" y="1539000"/>
            <a:ext cx="7717680" cy="7717680"/>
            <a:chOff x="15597000" y="1539000"/>
            <a:chExt cx="7717680" cy="7717680"/>
          </a:xfrm>
        </p:grpSpPr>
        <p:sp>
          <p:nvSpPr>
            <p:cNvPr id="65" name="Freeform 6"/>
            <p:cNvSpPr/>
            <p:nvPr/>
          </p:nvSpPr>
          <p:spPr>
            <a:xfrm>
              <a:off x="15597000" y="1539000"/>
              <a:ext cx="7717680" cy="7717680"/>
            </a:xfrm>
            <a:custGeom>
              <a:avLst/>
              <a:gdLst>
                <a:gd name="textAreaLeft" fmla="*/ 0 w 7717680"/>
                <a:gd name="textAreaRight" fmla="*/ 7719120 w 7717680"/>
                <a:gd name="textAreaTop" fmla="*/ 0 h 7717680"/>
                <a:gd name="textAreaBottom" fmla="*/ 7719120 h 7717680"/>
              </a:gdLst>
              <a:ahLst/>
              <a:cxn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tr-T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" name="TextBox 7"/>
            <p:cNvSpPr/>
            <p:nvPr/>
          </p:nvSpPr>
          <p:spPr>
            <a:xfrm>
              <a:off x="16320600" y="1901160"/>
              <a:ext cx="6270480" cy="6632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67" name="Freeform 8"/>
          <p:cNvSpPr/>
          <p:nvPr/>
        </p:nvSpPr>
        <p:spPr>
          <a:xfrm>
            <a:off x="736560" y="6009120"/>
            <a:ext cx="2467800" cy="4407840"/>
          </a:xfrm>
          <a:custGeom>
            <a:avLst/>
            <a:gdLst>
              <a:gd name="textAreaLeft" fmla="*/ 0 w 2467800"/>
              <a:gd name="textAreaRight" fmla="*/ 2469240 w 2467800"/>
              <a:gd name="textAreaTop" fmla="*/ 0 h 4407840"/>
              <a:gd name="textAreaBottom" fmla="*/ 4409280 h 4407840"/>
            </a:gdLst>
            <a:ahLst/>
            <a:cxnLst/>
            <a:rect l="textAreaLeft" t="textAreaTop" r="textAreaRight" b="textAreaBottom"/>
            <a:pathLst>
              <a:path w="2469284" h="4409435">
                <a:moveTo>
                  <a:pt x="0" y="0"/>
                </a:moveTo>
                <a:lnTo>
                  <a:pt x="2469283" y="0"/>
                </a:lnTo>
                <a:lnTo>
                  <a:pt x="2469283" y="4409435"/>
                </a:lnTo>
                <a:lnTo>
                  <a:pt x="0" y="440943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Freeform 9"/>
          <p:cNvSpPr/>
          <p:nvPr/>
        </p:nvSpPr>
        <p:spPr>
          <a:xfrm flipH="1">
            <a:off x="15080760" y="6009120"/>
            <a:ext cx="2467800" cy="4407840"/>
          </a:xfrm>
          <a:custGeom>
            <a:avLst/>
            <a:gdLst>
              <a:gd name="textAreaLeft" fmla="*/ 720 w 2467800"/>
              <a:gd name="textAreaRight" fmla="*/ 2469960 w 2467800"/>
              <a:gd name="textAreaTop" fmla="*/ 0 h 4407840"/>
              <a:gd name="textAreaBottom" fmla="*/ 4409280 h 4407840"/>
            </a:gdLst>
            <a:ahLst/>
            <a:cxnLst/>
            <a:rect l="textAreaLeft" t="textAreaTop" r="textAreaRight" b="textAreaBottom"/>
            <a:pathLst>
              <a:path w="2469284" h="4409435">
                <a:moveTo>
                  <a:pt x="2469283" y="0"/>
                </a:moveTo>
                <a:lnTo>
                  <a:pt x="0" y="0"/>
                </a:lnTo>
                <a:lnTo>
                  <a:pt x="0" y="4409435"/>
                </a:lnTo>
                <a:lnTo>
                  <a:pt x="2469283" y="4409435"/>
                </a:lnTo>
                <a:lnTo>
                  <a:pt x="2469283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9" name="Group 10"/>
          <p:cNvGrpSpPr/>
          <p:nvPr/>
        </p:nvGrpSpPr>
        <p:grpSpPr>
          <a:xfrm>
            <a:off x="1030320" y="1013400"/>
            <a:ext cx="858600" cy="332280"/>
            <a:chOff x="1030320" y="1013400"/>
            <a:chExt cx="858600" cy="332280"/>
          </a:xfrm>
        </p:grpSpPr>
        <p:grpSp>
          <p:nvGrpSpPr>
            <p:cNvPr id="70" name="Group 11"/>
            <p:cNvGrpSpPr/>
            <p:nvPr/>
          </p:nvGrpSpPr>
          <p:grpSpPr>
            <a:xfrm>
              <a:off x="1030320" y="1013400"/>
              <a:ext cx="332280" cy="332280"/>
              <a:chOff x="1030320" y="1013400"/>
              <a:chExt cx="332280" cy="332280"/>
            </a:xfrm>
          </p:grpSpPr>
          <p:sp>
            <p:nvSpPr>
              <p:cNvPr id="71" name="Freeform 12"/>
              <p:cNvSpPr/>
              <p:nvPr/>
            </p:nvSpPr>
            <p:spPr>
              <a:xfrm>
                <a:off x="1030320" y="1013400"/>
                <a:ext cx="332280" cy="332280"/>
              </a:xfrm>
              <a:custGeom>
                <a:avLst/>
                <a:gdLst>
                  <a:gd name="textAreaLeft" fmla="*/ 0 w 332280"/>
                  <a:gd name="textAreaRight" fmla="*/ 333720 w 332280"/>
                  <a:gd name="textAreaTop" fmla="*/ 0 h 332280"/>
                  <a:gd name="textAreaBottom" fmla="*/ 333720 h 33228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tr-T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" name="TextBox 13"/>
              <p:cNvSpPr/>
              <p:nvPr/>
            </p:nvSpPr>
            <p:spPr>
              <a:xfrm>
                <a:off x="1061640" y="1028880"/>
                <a:ext cx="269640" cy="285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tIns="50760" rIns="50760" bIns="5076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  <p:grpSp>
          <p:nvGrpSpPr>
            <p:cNvPr id="73" name="Group 14"/>
            <p:cNvGrpSpPr/>
            <p:nvPr/>
          </p:nvGrpSpPr>
          <p:grpSpPr>
            <a:xfrm>
              <a:off x="1556640" y="1013400"/>
              <a:ext cx="332280" cy="332280"/>
              <a:chOff x="1556640" y="1013400"/>
              <a:chExt cx="332280" cy="332280"/>
            </a:xfrm>
          </p:grpSpPr>
          <p:sp>
            <p:nvSpPr>
              <p:cNvPr id="74" name="Freeform 15"/>
              <p:cNvSpPr/>
              <p:nvPr/>
            </p:nvSpPr>
            <p:spPr>
              <a:xfrm>
                <a:off x="1556640" y="1013400"/>
                <a:ext cx="332280" cy="332280"/>
              </a:xfrm>
              <a:custGeom>
                <a:avLst/>
                <a:gdLst>
                  <a:gd name="textAreaLeft" fmla="*/ 0 w 332280"/>
                  <a:gd name="textAreaRight" fmla="*/ 333720 w 332280"/>
                  <a:gd name="textAreaTop" fmla="*/ 0 h 332280"/>
                  <a:gd name="textAreaBottom" fmla="*/ 333720 h 33228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tr-T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" name="TextBox 16"/>
              <p:cNvSpPr/>
              <p:nvPr/>
            </p:nvSpPr>
            <p:spPr>
              <a:xfrm>
                <a:off x="1587960" y="1028880"/>
                <a:ext cx="269640" cy="285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tIns="50760" rIns="50760" bIns="5076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grpSp>
        <p:nvGrpSpPr>
          <p:cNvPr id="76" name="Group 17"/>
          <p:cNvGrpSpPr/>
          <p:nvPr/>
        </p:nvGrpSpPr>
        <p:grpSpPr>
          <a:xfrm>
            <a:off x="16397640" y="1028880"/>
            <a:ext cx="858960" cy="332280"/>
            <a:chOff x="16397640" y="1028880"/>
            <a:chExt cx="858960" cy="332280"/>
          </a:xfrm>
        </p:grpSpPr>
        <p:grpSp>
          <p:nvGrpSpPr>
            <p:cNvPr id="77" name="Group 18"/>
            <p:cNvGrpSpPr/>
            <p:nvPr/>
          </p:nvGrpSpPr>
          <p:grpSpPr>
            <a:xfrm>
              <a:off x="16397640" y="1028880"/>
              <a:ext cx="332280" cy="332280"/>
              <a:chOff x="16397640" y="1028880"/>
              <a:chExt cx="332280" cy="332280"/>
            </a:xfrm>
          </p:grpSpPr>
          <p:sp>
            <p:nvSpPr>
              <p:cNvPr id="78" name="Freeform 19"/>
              <p:cNvSpPr/>
              <p:nvPr/>
            </p:nvSpPr>
            <p:spPr>
              <a:xfrm>
                <a:off x="16397640" y="1028880"/>
                <a:ext cx="332280" cy="332280"/>
              </a:xfrm>
              <a:custGeom>
                <a:avLst/>
                <a:gdLst>
                  <a:gd name="textAreaLeft" fmla="*/ 0 w 332280"/>
                  <a:gd name="textAreaRight" fmla="*/ 333720 w 332280"/>
                  <a:gd name="textAreaTop" fmla="*/ 0 h 332280"/>
                  <a:gd name="textAreaBottom" fmla="*/ 333720 h 33228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tr-T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" name="TextBox 20"/>
              <p:cNvSpPr/>
              <p:nvPr/>
            </p:nvSpPr>
            <p:spPr>
              <a:xfrm>
                <a:off x="16428960" y="1044360"/>
                <a:ext cx="269640" cy="285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tIns="50760" rIns="50760" bIns="5076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  <p:grpSp>
          <p:nvGrpSpPr>
            <p:cNvPr id="80" name="Group 21"/>
            <p:cNvGrpSpPr/>
            <p:nvPr/>
          </p:nvGrpSpPr>
          <p:grpSpPr>
            <a:xfrm>
              <a:off x="16924320" y="1028880"/>
              <a:ext cx="332280" cy="332280"/>
              <a:chOff x="16924320" y="1028880"/>
              <a:chExt cx="332280" cy="332280"/>
            </a:xfrm>
          </p:grpSpPr>
          <p:sp>
            <p:nvSpPr>
              <p:cNvPr id="81" name="Freeform 22"/>
              <p:cNvSpPr/>
              <p:nvPr/>
            </p:nvSpPr>
            <p:spPr>
              <a:xfrm>
                <a:off x="16924320" y="1028880"/>
                <a:ext cx="332280" cy="332280"/>
              </a:xfrm>
              <a:custGeom>
                <a:avLst/>
                <a:gdLst>
                  <a:gd name="textAreaLeft" fmla="*/ 0 w 332280"/>
                  <a:gd name="textAreaRight" fmla="*/ 333720 w 332280"/>
                  <a:gd name="textAreaTop" fmla="*/ 0 h 332280"/>
                  <a:gd name="textAreaBottom" fmla="*/ 333720 h 33228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tr-T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" name="TextBox 23"/>
              <p:cNvSpPr/>
              <p:nvPr/>
            </p:nvSpPr>
            <p:spPr>
              <a:xfrm>
                <a:off x="16955640" y="1044360"/>
                <a:ext cx="269640" cy="285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tIns="50760" rIns="50760" bIns="5076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sp>
        <p:nvSpPr>
          <p:cNvPr id="83" name="TextBox 24"/>
          <p:cNvSpPr/>
          <p:nvPr/>
        </p:nvSpPr>
        <p:spPr>
          <a:xfrm>
            <a:off x="3620880" y="2378160"/>
            <a:ext cx="1104480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tr-TR" sz="6000" b="1" u="none" strike="noStrike">
                <a:solidFill>
                  <a:srgbClr val="000000"/>
                </a:solidFill>
                <a:effectLst/>
                <a:uFillTx/>
                <a:latin typeface="Red Hat Display Bold"/>
                <a:ea typeface="Red Hat Display Bold"/>
              </a:rPr>
              <a:t>VERİ MADENCİLİĞİ TAKIMI</a:t>
            </a:r>
            <a:endParaRPr lang="tr-TR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25"/>
          <p:cNvSpPr/>
          <p:nvPr/>
        </p:nvSpPr>
        <p:spPr>
          <a:xfrm>
            <a:off x="3339000" y="5137200"/>
            <a:ext cx="11600280" cy="161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6358"/>
              </a:lnSpc>
            </a:pPr>
            <a:r>
              <a:rPr lang="tr-TR" sz="4540" b="1" u="none" spc="1361" strike="noStrike">
                <a:solidFill>
                  <a:srgbClr val="000000"/>
                </a:solidFill>
                <a:effectLst/>
                <a:uFillTx/>
                <a:latin typeface="Red Hat Display Bold"/>
                <a:ea typeface="Red Hat Display Bold"/>
              </a:rPr>
              <a:t>TAKIM PROJESİ SUNUMU</a:t>
            </a:r>
            <a:br>
              <a:rPr sz="4540"/>
            </a:br>
            <a:endParaRPr lang="tr-TR" sz="4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27"/>
          <p:cNvSpPr/>
          <p:nvPr/>
        </p:nvSpPr>
        <p:spPr>
          <a:xfrm>
            <a:off x="5868000" y="879120"/>
            <a:ext cx="6555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Red Hat Display Bold"/>
                <a:ea typeface="Red Hat Display Bold"/>
              </a:rPr>
              <a:t>YAPAY ZEKÂ YAZILIM TEKNOLOJİLERİ </a:t>
            </a:r>
            <a:endParaRPr lang="tr-T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4140000" y="6752520"/>
            <a:ext cx="9719640" cy="278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tr-TR" sz="4540" b="1" u="none" strike="noStrike">
                <a:solidFill>
                  <a:srgbClr val="000000"/>
                </a:solidFill>
                <a:effectLst/>
                <a:uFillTx/>
                <a:latin typeface="Arial"/>
                <a:ea typeface="Red Hat Display Bold"/>
              </a:rPr>
              <a:t>METEHAN SARIKAYA</a:t>
            </a:r>
            <a:endParaRPr lang="tr-TR" sz="4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tr-TR" sz="4540" b="1" u="none" strike="noStrike">
                <a:solidFill>
                  <a:srgbClr val="000000"/>
                </a:solidFill>
                <a:effectLst/>
                <a:uFillTx/>
                <a:latin typeface="Arial"/>
                <a:ea typeface="Red Hat Display Bold"/>
              </a:rPr>
              <a:t>YUSUF KAĞAN YILDIZ</a:t>
            </a:r>
            <a:endParaRPr lang="tr-TR" sz="4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tr-TR" sz="4540" b="1" u="none" strike="noStrike">
                <a:solidFill>
                  <a:srgbClr val="000000"/>
                </a:solidFill>
                <a:effectLst/>
                <a:uFillTx/>
                <a:latin typeface="Arial"/>
                <a:ea typeface="Red Hat Display Bold"/>
              </a:rPr>
              <a:t>ANIL KESKİN</a:t>
            </a:r>
            <a:endParaRPr lang="tr-TR" sz="4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Box 4"/>
          <p:cNvSpPr/>
          <p:nvPr/>
        </p:nvSpPr>
        <p:spPr>
          <a:xfrm>
            <a:off x="3922560" y="1884600"/>
            <a:ext cx="10441440" cy="99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7841"/>
              </a:lnSpc>
            </a:pPr>
            <a:r>
              <a:rPr lang="tr-TR" sz="5600" b="1" u="none" strike="noStrike">
                <a:solidFill>
                  <a:srgbClr val="000000"/>
                </a:solidFill>
                <a:effectLst/>
                <a:uFillTx/>
                <a:latin typeface="Red Hat Display Bold"/>
                <a:ea typeface="Red Hat Display Bold"/>
              </a:rPr>
              <a:t>İÇİNDEKİLER</a:t>
            </a:r>
            <a:endParaRPr lang="tr-TR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8" name="Group 5"/>
          <p:cNvGrpSpPr/>
          <p:nvPr/>
        </p:nvGrpSpPr>
        <p:grpSpPr>
          <a:xfrm>
            <a:off x="1028880" y="3485880"/>
            <a:ext cx="3688200" cy="4352760"/>
            <a:chOff x="1028880" y="3485880"/>
            <a:chExt cx="3688200" cy="4352760"/>
          </a:xfrm>
        </p:grpSpPr>
        <p:grpSp>
          <p:nvGrpSpPr>
            <p:cNvPr id="89" name="Group 6"/>
            <p:cNvGrpSpPr/>
            <p:nvPr/>
          </p:nvGrpSpPr>
          <p:grpSpPr>
            <a:xfrm>
              <a:off x="1436400" y="3485880"/>
              <a:ext cx="2872440" cy="2872440"/>
              <a:chOff x="1436400" y="3485880"/>
              <a:chExt cx="2872440" cy="2872440"/>
            </a:xfrm>
          </p:grpSpPr>
          <p:sp>
            <p:nvSpPr>
              <p:cNvPr id="90" name="Freeform 7"/>
              <p:cNvSpPr/>
              <p:nvPr/>
            </p:nvSpPr>
            <p:spPr>
              <a:xfrm>
                <a:off x="1436400" y="3485880"/>
                <a:ext cx="2872440" cy="2872440"/>
              </a:xfrm>
              <a:custGeom>
                <a:avLst/>
                <a:gdLst>
                  <a:gd name="textAreaLeft" fmla="*/ 0 w 2872440"/>
                  <a:gd name="textAreaRight" fmla="*/ 2873880 w 2872440"/>
                  <a:gd name="textAreaTop" fmla="*/ 0 h 2872440"/>
                  <a:gd name="textAreaBottom" fmla="*/ 2873880 h 287244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tr-T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" name="TextBox 8"/>
              <p:cNvSpPr/>
              <p:nvPr/>
            </p:nvSpPr>
            <p:spPr>
              <a:xfrm>
                <a:off x="1706040" y="3620880"/>
                <a:ext cx="2333520" cy="2468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tIns="50760" rIns="50760" bIns="5076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  <p:sp>
          <p:nvSpPr>
            <p:cNvPr id="92" name="TextBox 9"/>
            <p:cNvSpPr/>
            <p:nvPr/>
          </p:nvSpPr>
          <p:spPr>
            <a:xfrm>
              <a:off x="2152440" y="4563720"/>
              <a:ext cx="1440720" cy="708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spAutoFit/>
            </a:bodyPr>
            <a:p>
              <a:pPr algn="ctr" defTabSz="914400">
                <a:lnSpc>
                  <a:spcPts val="5584"/>
                </a:lnSpc>
              </a:pPr>
              <a:r>
                <a:rPr lang="en-US" sz="3990" b="1" u="none" strike="noStrike">
                  <a:solidFill>
                    <a:srgbClr val="FFFFFF"/>
                  </a:solidFill>
                  <a:effectLst/>
                  <a:uFillTx/>
                  <a:latin typeface="Inter Medium"/>
                  <a:ea typeface="Inter Medium"/>
                </a:rPr>
                <a:t>01</a:t>
              </a:r>
              <a:endParaRPr lang="tr-TR" sz="399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" name="TextBox 10"/>
            <p:cNvSpPr/>
            <p:nvPr/>
          </p:nvSpPr>
          <p:spPr>
            <a:xfrm>
              <a:off x="1028880" y="7198920"/>
              <a:ext cx="3688200" cy="63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spAutoFit/>
            </a:bodyPr>
            <a:p>
              <a:pPr algn="ctr" defTabSz="914400">
                <a:lnSpc>
                  <a:spcPts val="2520"/>
                </a:lnSpc>
                <a:spcBef>
                  <a:spcPts val="1191"/>
                </a:spcBef>
                <a:spcAft>
                  <a:spcPts val="992"/>
                </a:spcAft>
              </a:pPr>
              <a:r>
                <a:rPr lang="tr-TR" sz="1800" b="0" u="none" strike="noStrike">
                  <a:solidFill>
                    <a:srgbClr val="000000"/>
                  </a:solidFill>
                  <a:effectLst/>
                  <a:uFillTx/>
                  <a:latin typeface="Inter"/>
                  <a:ea typeface="Inter"/>
                </a:rPr>
                <a:t>Hangi Veri Kaynakları Seçildi?</a:t>
              </a:r>
              <a:br>
                <a:rPr sz="1800"/>
              </a:br>
              <a:r>
                <a:rPr lang="tr-TR" sz="1800" b="0" u="none" strike="noStrike">
                  <a:solidFill>
                    <a:srgbClr val="000000"/>
                  </a:solidFill>
                  <a:effectLst/>
                  <a:uFillTx/>
                  <a:latin typeface="Inter"/>
                  <a:ea typeface="Inter"/>
                </a:rPr>
                <a:t> Medallion Architecture </a:t>
              </a:r>
              <a:endParaRPr lang="tr-T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" name="TextBox 11"/>
            <p:cNvSpPr/>
            <p:nvPr/>
          </p:nvSpPr>
          <p:spPr>
            <a:xfrm>
              <a:off x="1028880" y="6654600"/>
              <a:ext cx="3688200" cy="372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spAutoFit/>
            </a:bodyPr>
            <a:p>
              <a:pPr algn="ctr" defTabSz="914400">
                <a:lnSpc>
                  <a:spcPts val="2940"/>
                </a:lnSpc>
              </a:pPr>
              <a:r>
                <a:rPr lang="tr-TR" sz="2100" b="1" u="none" strike="noStrike">
                  <a:solidFill>
                    <a:srgbClr val="000000"/>
                  </a:solidFill>
                  <a:effectLst/>
                  <a:uFillTx/>
                  <a:latin typeface="Inter Medium"/>
                  <a:ea typeface="Inter Medium"/>
                </a:rPr>
                <a:t>VERİ KAYNAĞI VE MİMARİ</a:t>
              </a:r>
              <a:endParaRPr lang="tr-TR" sz="2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5" name="Group 12"/>
          <p:cNvGrpSpPr/>
          <p:nvPr/>
        </p:nvGrpSpPr>
        <p:grpSpPr>
          <a:xfrm>
            <a:off x="5176800" y="3422160"/>
            <a:ext cx="3731400" cy="4124520"/>
            <a:chOff x="5176800" y="3422160"/>
            <a:chExt cx="3731400" cy="4124520"/>
          </a:xfrm>
        </p:grpSpPr>
        <p:grpSp>
          <p:nvGrpSpPr>
            <p:cNvPr id="96" name="Group 13"/>
            <p:cNvGrpSpPr/>
            <p:nvPr/>
          </p:nvGrpSpPr>
          <p:grpSpPr>
            <a:xfrm>
              <a:off x="5584680" y="3422160"/>
              <a:ext cx="2872440" cy="2872440"/>
              <a:chOff x="5584680" y="3422160"/>
              <a:chExt cx="2872440" cy="2872440"/>
            </a:xfrm>
          </p:grpSpPr>
          <p:sp>
            <p:nvSpPr>
              <p:cNvPr id="97" name="Freeform 14"/>
              <p:cNvSpPr/>
              <p:nvPr/>
            </p:nvSpPr>
            <p:spPr>
              <a:xfrm>
                <a:off x="5584680" y="3422160"/>
                <a:ext cx="2872440" cy="2872440"/>
              </a:xfrm>
              <a:custGeom>
                <a:avLst/>
                <a:gdLst>
                  <a:gd name="textAreaLeft" fmla="*/ 0 w 2872440"/>
                  <a:gd name="textAreaRight" fmla="*/ 2873880 w 2872440"/>
                  <a:gd name="textAreaTop" fmla="*/ 0 h 2872440"/>
                  <a:gd name="textAreaBottom" fmla="*/ 2873880 h 287244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tr-T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8" name="TextBox 15"/>
              <p:cNvSpPr/>
              <p:nvPr/>
            </p:nvSpPr>
            <p:spPr>
              <a:xfrm>
                <a:off x="5854320" y="3557160"/>
                <a:ext cx="2333520" cy="2468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tIns="50760" rIns="50760" bIns="5076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  <p:sp>
          <p:nvSpPr>
            <p:cNvPr id="99" name="TextBox 16"/>
            <p:cNvSpPr/>
            <p:nvPr/>
          </p:nvSpPr>
          <p:spPr>
            <a:xfrm>
              <a:off x="6300720" y="4500000"/>
              <a:ext cx="1440720" cy="708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spAutoFit/>
            </a:bodyPr>
            <a:p>
              <a:pPr algn="ctr" defTabSz="914400">
                <a:lnSpc>
                  <a:spcPts val="5584"/>
                </a:lnSpc>
              </a:pPr>
              <a:r>
                <a:rPr lang="en-US" sz="3990" b="1" u="none" strike="noStrike">
                  <a:solidFill>
                    <a:srgbClr val="FFFFFF"/>
                  </a:solidFill>
                  <a:effectLst/>
                  <a:uFillTx/>
                  <a:latin typeface="Inter Medium"/>
                  <a:ea typeface="Inter Medium"/>
                </a:rPr>
                <a:t>02</a:t>
              </a:r>
              <a:endParaRPr lang="tr-TR" sz="399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" name="TextBox 17"/>
            <p:cNvSpPr/>
            <p:nvPr/>
          </p:nvSpPr>
          <p:spPr>
            <a:xfrm>
              <a:off x="5176800" y="7227000"/>
              <a:ext cx="3688200" cy="319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spAutoFit/>
            </a:bodyPr>
            <a:p>
              <a:pPr algn="ctr" defTabSz="914400">
                <a:lnSpc>
                  <a:spcPts val="2520"/>
                </a:lnSpc>
              </a:pPr>
              <a:r>
                <a:rPr lang="tr-TR" sz="1800" b="0" u="none" strike="noStrike">
                  <a:solidFill>
                    <a:srgbClr val="000000"/>
                  </a:solidFill>
                  <a:effectLst/>
                  <a:uFillTx/>
                  <a:latin typeface="Inter"/>
                  <a:ea typeface="Inter"/>
                </a:rPr>
                <a:t>Günlük Dönüşüm</a:t>
              </a:r>
              <a:endParaRPr lang="tr-T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" name="TextBox 18"/>
            <p:cNvSpPr/>
            <p:nvPr/>
          </p:nvSpPr>
          <p:spPr>
            <a:xfrm>
              <a:off x="5220000" y="6660000"/>
              <a:ext cx="3688200" cy="37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spAutoFit/>
            </a:bodyPr>
            <a:p>
              <a:pPr algn="ctr" defTabSz="914400">
                <a:lnSpc>
                  <a:spcPts val="2940"/>
                </a:lnSpc>
              </a:pPr>
              <a:r>
                <a:rPr lang="tr-TR" sz="2100" b="1" u="none" strike="noStrike">
                  <a:solidFill>
                    <a:srgbClr val="000000"/>
                  </a:solidFill>
                  <a:effectLst/>
                  <a:uFillTx/>
                  <a:latin typeface="Inter Medium"/>
                  <a:ea typeface="Inter Medium"/>
                </a:rPr>
                <a:t>GERÇEK ZAMANLI AKIŞ</a:t>
              </a:r>
              <a:endParaRPr lang="tr-TR" sz="2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2" name="Group 19"/>
          <p:cNvGrpSpPr/>
          <p:nvPr/>
        </p:nvGrpSpPr>
        <p:grpSpPr>
          <a:xfrm>
            <a:off x="9389160" y="3485880"/>
            <a:ext cx="3688200" cy="4032720"/>
            <a:chOff x="9389160" y="3485880"/>
            <a:chExt cx="3688200" cy="4032720"/>
          </a:xfrm>
        </p:grpSpPr>
        <p:grpSp>
          <p:nvGrpSpPr>
            <p:cNvPr id="103" name="Group 20"/>
            <p:cNvGrpSpPr/>
            <p:nvPr/>
          </p:nvGrpSpPr>
          <p:grpSpPr>
            <a:xfrm>
              <a:off x="9797040" y="3485880"/>
              <a:ext cx="2872440" cy="2872440"/>
              <a:chOff x="9797040" y="3485880"/>
              <a:chExt cx="2872440" cy="2872440"/>
            </a:xfrm>
          </p:grpSpPr>
          <p:sp>
            <p:nvSpPr>
              <p:cNvPr id="104" name="Freeform 21"/>
              <p:cNvSpPr/>
              <p:nvPr/>
            </p:nvSpPr>
            <p:spPr>
              <a:xfrm>
                <a:off x="9797040" y="3485880"/>
                <a:ext cx="2872440" cy="2872440"/>
              </a:xfrm>
              <a:custGeom>
                <a:avLst/>
                <a:gdLst>
                  <a:gd name="textAreaLeft" fmla="*/ 0 w 2872440"/>
                  <a:gd name="textAreaRight" fmla="*/ 2873880 w 2872440"/>
                  <a:gd name="textAreaTop" fmla="*/ 0 h 2872440"/>
                  <a:gd name="textAreaBottom" fmla="*/ 2873880 h 287244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tr-T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" name="TextBox 22"/>
              <p:cNvSpPr/>
              <p:nvPr/>
            </p:nvSpPr>
            <p:spPr>
              <a:xfrm>
                <a:off x="10066680" y="3620880"/>
                <a:ext cx="2333520" cy="2468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tIns="50760" rIns="50760" bIns="5076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  <p:sp>
          <p:nvSpPr>
            <p:cNvPr id="106" name="TextBox 23"/>
            <p:cNvSpPr/>
            <p:nvPr/>
          </p:nvSpPr>
          <p:spPr>
            <a:xfrm>
              <a:off x="10513080" y="4563720"/>
              <a:ext cx="1440720" cy="708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spAutoFit/>
            </a:bodyPr>
            <a:p>
              <a:pPr algn="ctr" defTabSz="914400">
                <a:lnSpc>
                  <a:spcPts val="5584"/>
                </a:lnSpc>
              </a:pPr>
              <a:r>
                <a:rPr lang="en-US" sz="3990" b="1" u="none" strike="noStrike">
                  <a:solidFill>
                    <a:srgbClr val="FFFFFF"/>
                  </a:solidFill>
                  <a:effectLst/>
                  <a:uFillTx/>
                  <a:latin typeface="Inter Medium"/>
                  <a:ea typeface="Inter Medium"/>
                </a:rPr>
                <a:t>03</a:t>
              </a:r>
              <a:endParaRPr lang="tr-TR" sz="399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" name="TextBox 24"/>
            <p:cNvSpPr/>
            <p:nvPr/>
          </p:nvSpPr>
          <p:spPr>
            <a:xfrm>
              <a:off x="9389160" y="7198920"/>
              <a:ext cx="3688200" cy="319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spAutoFit/>
            </a:bodyPr>
            <a:p>
              <a:pPr algn="ctr" defTabSz="914400">
                <a:lnSpc>
                  <a:spcPts val="2520"/>
                </a:lnSpc>
              </a:pPr>
              <a:r>
                <a:rPr lang="tr-TR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Inter"/>
                </a:rPr>
                <a:t>Tercih Edilen Uygulamalar</a:t>
              </a:r>
              <a:endParaRPr lang="tr-T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" name="TextBox 25"/>
            <p:cNvSpPr/>
            <p:nvPr/>
          </p:nvSpPr>
          <p:spPr>
            <a:xfrm>
              <a:off x="9389160" y="6654600"/>
              <a:ext cx="3688200" cy="37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spAutoFit/>
            </a:bodyPr>
            <a:p>
              <a:pPr algn="ctr" defTabSz="914400">
                <a:lnSpc>
                  <a:spcPts val="2940"/>
                </a:lnSpc>
              </a:pPr>
              <a:r>
                <a:rPr lang="tr-TR" sz="2100" b="1" u="none" strike="noStrike">
                  <a:solidFill>
                    <a:srgbClr val="000000"/>
                  </a:solidFill>
                  <a:effectLst/>
                  <a:uFillTx/>
                  <a:latin typeface="Inter Medium"/>
                  <a:ea typeface="Inter Medium"/>
                </a:rPr>
                <a:t>TEKNOLOJİ KULLANIMI</a:t>
              </a:r>
              <a:endParaRPr lang="tr-TR" sz="2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9" name="Group 26"/>
          <p:cNvGrpSpPr/>
          <p:nvPr/>
        </p:nvGrpSpPr>
        <p:grpSpPr>
          <a:xfrm>
            <a:off x="13569480" y="3485880"/>
            <a:ext cx="3688200" cy="4352760"/>
            <a:chOff x="13569480" y="3485880"/>
            <a:chExt cx="3688200" cy="4352760"/>
          </a:xfrm>
        </p:grpSpPr>
        <p:grpSp>
          <p:nvGrpSpPr>
            <p:cNvPr id="110" name="Group 27"/>
            <p:cNvGrpSpPr/>
            <p:nvPr/>
          </p:nvGrpSpPr>
          <p:grpSpPr>
            <a:xfrm>
              <a:off x="13977360" y="3485880"/>
              <a:ext cx="2872440" cy="2872440"/>
              <a:chOff x="13977360" y="3485880"/>
              <a:chExt cx="2872440" cy="2872440"/>
            </a:xfrm>
          </p:grpSpPr>
          <p:sp>
            <p:nvSpPr>
              <p:cNvPr id="111" name="Freeform 28"/>
              <p:cNvSpPr/>
              <p:nvPr/>
            </p:nvSpPr>
            <p:spPr>
              <a:xfrm>
                <a:off x="13977360" y="3485880"/>
                <a:ext cx="2872440" cy="2872440"/>
              </a:xfrm>
              <a:custGeom>
                <a:avLst/>
                <a:gdLst>
                  <a:gd name="textAreaLeft" fmla="*/ 0 w 2872440"/>
                  <a:gd name="textAreaRight" fmla="*/ 2873880 w 2872440"/>
                  <a:gd name="textAreaTop" fmla="*/ 0 h 2872440"/>
                  <a:gd name="textAreaBottom" fmla="*/ 2873880 h 287244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tr-T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" name="TextBox 29"/>
              <p:cNvSpPr/>
              <p:nvPr/>
            </p:nvSpPr>
            <p:spPr>
              <a:xfrm>
                <a:off x="14247000" y="3620880"/>
                <a:ext cx="2333520" cy="2468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tIns="50760" rIns="50760" bIns="5076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  <p:sp>
          <p:nvSpPr>
            <p:cNvPr id="113" name="TextBox 30"/>
            <p:cNvSpPr/>
            <p:nvPr/>
          </p:nvSpPr>
          <p:spPr>
            <a:xfrm>
              <a:off x="14693400" y="4563720"/>
              <a:ext cx="1440720" cy="708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spAutoFit/>
            </a:bodyPr>
            <a:p>
              <a:pPr algn="ctr" defTabSz="914400">
                <a:lnSpc>
                  <a:spcPts val="5584"/>
                </a:lnSpc>
              </a:pPr>
              <a:r>
                <a:rPr lang="en-US" sz="3990" b="1" u="none" strike="noStrike">
                  <a:solidFill>
                    <a:srgbClr val="FFFFFF"/>
                  </a:solidFill>
                  <a:effectLst/>
                  <a:uFillTx/>
                  <a:latin typeface="Inter Medium"/>
                  <a:ea typeface="Inter Medium"/>
                </a:rPr>
                <a:t>04</a:t>
              </a:r>
              <a:endParaRPr lang="tr-TR" sz="399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" name="TextBox 31"/>
            <p:cNvSpPr/>
            <p:nvPr/>
          </p:nvSpPr>
          <p:spPr>
            <a:xfrm>
              <a:off x="13569480" y="7198920"/>
              <a:ext cx="3688200" cy="63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spAutoFit/>
            </a:bodyPr>
            <a:p>
              <a:pPr algn="ctr" defTabSz="914400">
                <a:lnSpc>
                  <a:spcPts val="2520"/>
                </a:lnSpc>
              </a:pPr>
              <a:r>
                <a:rPr lang="tr-TR" sz="1800" b="0" u="none" strike="noStrike">
                  <a:solidFill>
                    <a:srgbClr val="000000"/>
                  </a:solidFill>
                  <a:effectLst/>
                  <a:uFillTx/>
                  <a:latin typeface="Inter"/>
                  <a:ea typeface="Inter"/>
                </a:rPr>
                <a:t>Rakamlarla Proje </a:t>
              </a:r>
              <a:br>
                <a:rPr sz="1800"/>
              </a:br>
              <a:r>
                <a:rPr lang="tr-TR" sz="1800" b="0" u="none" strike="noStrike">
                  <a:solidFill>
                    <a:srgbClr val="000000"/>
                  </a:solidFill>
                  <a:effectLst/>
                  <a:uFillTx/>
                  <a:latin typeface="Inter"/>
                  <a:ea typeface="Inter"/>
                </a:rPr>
                <a:t>Sonuçlar</a:t>
              </a:r>
              <a:endParaRPr lang="tr-T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" name="TextBox 32"/>
            <p:cNvSpPr/>
            <p:nvPr/>
          </p:nvSpPr>
          <p:spPr>
            <a:xfrm>
              <a:off x="13569480" y="6480000"/>
              <a:ext cx="3688200" cy="74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spAutoFit/>
            </a:bodyPr>
            <a:p>
              <a:pPr algn="ctr" defTabSz="914400">
                <a:lnSpc>
                  <a:spcPts val="2940"/>
                </a:lnSpc>
              </a:pPr>
              <a:r>
                <a:rPr lang="tr-TR" sz="2100" b="1" u="none" strike="noStrike">
                  <a:solidFill>
                    <a:srgbClr val="000000"/>
                  </a:solidFill>
                  <a:effectLst/>
                  <a:uFillTx/>
                  <a:latin typeface="Inter Medium"/>
                  <a:ea typeface="Inter Medium"/>
                </a:rPr>
                <a:t>TEST SONUÇLARI VE KARŞILAŞILAN ZORLUKLAR</a:t>
              </a:r>
              <a:endParaRPr lang="tr-TR" sz="2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roup 2"/>
          <p:cNvGrpSpPr/>
          <p:nvPr/>
        </p:nvGrpSpPr>
        <p:grpSpPr>
          <a:xfrm>
            <a:off x="1028880" y="8924760"/>
            <a:ext cx="858600" cy="332280"/>
            <a:chOff x="1028880" y="8924760"/>
            <a:chExt cx="858600" cy="332280"/>
          </a:xfrm>
        </p:grpSpPr>
        <p:grpSp>
          <p:nvGrpSpPr>
            <p:cNvPr id="117" name="Group 3"/>
            <p:cNvGrpSpPr/>
            <p:nvPr/>
          </p:nvGrpSpPr>
          <p:grpSpPr>
            <a:xfrm>
              <a:off x="1028880" y="8924760"/>
              <a:ext cx="332280" cy="332280"/>
              <a:chOff x="1028880" y="8924760"/>
              <a:chExt cx="332280" cy="332280"/>
            </a:xfrm>
          </p:grpSpPr>
          <p:sp>
            <p:nvSpPr>
              <p:cNvPr id="118" name="Freeform 4"/>
              <p:cNvSpPr/>
              <p:nvPr/>
            </p:nvSpPr>
            <p:spPr>
              <a:xfrm>
                <a:off x="1028880" y="8924760"/>
                <a:ext cx="332280" cy="332280"/>
              </a:xfrm>
              <a:custGeom>
                <a:avLst/>
                <a:gdLst>
                  <a:gd name="textAreaLeft" fmla="*/ 0 w 332280"/>
                  <a:gd name="textAreaRight" fmla="*/ 333720 w 332280"/>
                  <a:gd name="textAreaTop" fmla="*/ 0 h 332280"/>
                  <a:gd name="textAreaBottom" fmla="*/ 333720 h 33228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tr-T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" name="TextBox 5"/>
              <p:cNvSpPr/>
              <p:nvPr/>
            </p:nvSpPr>
            <p:spPr>
              <a:xfrm>
                <a:off x="1059840" y="8940240"/>
                <a:ext cx="269640" cy="285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tIns="50760" rIns="50760" bIns="5076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  <p:grpSp>
          <p:nvGrpSpPr>
            <p:cNvPr id="120" name="Group 6"/>
            <p:cNvGrpSpPr/>
            <p:nvPr/>
          </p:nvGrpSpPr>
          <p:grpSpPr>
            <a:xfrm>
              <a:off x="1555200" y="8924760"/>
              <a:ext cx="332280" cy="332280"/>
              <a:chOff x="1555200" y="8924760"/>
              <a:chExt cx="332280" cy="332280"/>
            </a:xfrm>
          </p:grpSpPr>
          <p:sp>
            <p:nvSpPr>
              <p:cNvPr id="121" name="Freeform 7"/>
              <p:cNvSpPr/>
              <p:nvPr/>
            </p:nvSpPr>
            <p:spPr>
              <a:xfrm>
                <a:off x="1555200" y="8924760"/>
                <a:ext cx="332280" cy="332280"/>
              </a:xfrm>
              <a:custGeom>
                <a:avLst/>
                <a:gdLst>
                  <a:gd name="textAreaLeft" fmla="*/ 0 w 332280"/>
                  <a:gd name="textAreaRight" fmla="*/ 333720 w 332280"/>
                  <a:gd name="textAreaTop" fmla="*/ 0 h 332280"/>
                  <a:gd name="textAreaBottom" fmla="*/ 333720 h 33228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tr-T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" name="TextBox 8"/>
              <p:cNvSpPr/>
              <p:nvPr/>
            </p:nvSpPr>
            <p:spPr>
              <a:xfrm>
                <a:off x="1586520" y="8940240"/>
                <a:ext cx="269640" cy="285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tIns="50760" rIns="50760" bIns="5076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sp>
        <p:nvSpPr>
          <p:cNvPr id="123" name="TextBox 12"/>
          <p:cNvSpPr/>
          <p:nvPr/>
        </p:nvSpPr>
        <p:spPr>
          <a:xfrm>
            <a:off x="1028880" y="2095560"/>
            <a:ext cx="10704600" cy="95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13"/>
          <p:cNvSpPr/>
          <p:nvPr/>
        </p:nvSpPr>
        <p:spPr>
          <a:xfrm>
            <a:off x="1028880" y="981000"/>
            <a:ext cx="4550040" cy="37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940"/>
              </a:lnSpc>
            </a:pPr>
            <a:r>
              <a:rPr lang="tr-TR" sz="3200" b="1" u="none" strike="noStrike">
                <a:solidFill>
                  <a:srgbClr val="000000"/>
                </a:solidFill>
                <a:effectLst/>
                <a:uFillTx/>
                <a:latin typeface="Inter Medium"/>
                <a:ea typeface="Inter Medium"/>
              </a:rPr>
              <a:t>NEDEN BU PROJE?</a:t>
            </a:r>
            <a:endParaRPr lang="tr-T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12"/>
          <p:cNvSpPr/>
          <p:nvPr/>
        </p:nvSpPr>
        <p:spPr>
          <a:xfrm>
            <a:off x="12115800" y="7581960"/>
            <a:ext cx="5577480" cy="96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Box 1"/>
          <p:cNvSpPr/>
          <p:nvPr/>
        </p:nvSpPr>
        <p:spPr>
          <a:xfrm>
            <a:off x="5940000" y="1810440"/>
            <a:ext cx="953892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2000" b="0" u="none" strike="noStrike">
                <a:solidFill>
                  <a:srgbClr val="1B1F27"/>
                </a:solidFill>
                <a:effectLst/>
                <a:uFillTx/>
                <a:latin typeface="Arial"/>
              </a:rPr>
              <a:t>▸  Karmaşık ve anlaşılması zor hava trafiği verilerini (uçak konum / hız / irtifa..) anlaşılabilir formatlara getirip bu verileri ihtiyaç doğrultusunda kullanabileceğimiz bir platforma dönüştürdük.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Rectangle 6"/>
          <p:cNvSpPr/>
          <p:nvPr/>
        </p:nvSpPr>
        <p:spPr>
          <a:xfrm>
            <a:off x="1800000" y="4140000"/>
            <a:ext cx="3138480" cy="718920"/>
          </a:xfrm>
          <a:prstGeom prst="rect">
            <a:avLst/>
          </a:prstGeom>
          <a:solidFill>
            <a:srgbClr val="8C5A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NEDEN YAPTIK ?</a:t>
            </a:r>
            <a:endParaRPr lang="tr-T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2"/>
          <p:cNvSpPr/>
          <p:nvPr/>
        </p:nvSpPr>
        <p:spPr>
          <a:xfrm>
            <a:off x="5899320" y="3600000"/>
            <a:ext cx="9759600" cy="17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2000" b="0" u="none" strike="noStrike">
                <a:solidFill>
                  <a:srgbClr val="1B1F27"/>
                </a:solidFill>
                <a:effectLst/>
                <a:uFillTx/>
                <a:latin typeface="Arial"/>
              </a:rPr>
              <a:t>▸  Rota sapması, ani sinyal kaybı, askeri/sivil karışık trafik gibi örüntüleri hem canlı hem tarihsel olarak yakalayabilmek gerekiyordu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2000" b="0" u="none" strike="noStrike">
                <a:solidFill>
                  <a:srgbClr val="1B1F27"/>
                </a:solidFill>
                <a:effectLst/>
                <a:uFillTx/>
                <a:latin typeface="Arial"/>
              </a:rPr>
              <a:t>▸  Bunu güvenilir yapabilmek için önce sağlam, tekrarlanabilir bir veri altyapısı şarttı, model eğitmeden önce veri akışının kendisi doğru kurulmalıydı.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3"/>
          <p:cNvSpPr/>
          <p:nvPr/>
        </p:nvSpPr>
        <p:spPr>
          <a:xfrm>
            <a:off x="5899320" y="6179040"/>
            <a:ext cx="9399600" cy="17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2000" b="0" u="none" strike="noStrike">
                <a:solidFill>
                  <a:srgbClr val="1B1F27"/>
                </a:solidFill>
                <a:effectLst/>
                <a:uFillTx/>
                <a:latin typeface="Arial"/>
              </a:rPr>
              <a:t>▸  İki paralel veri yolu kurduk: (1) tarihsel/hazır veri setleri için toplu bir işleme hattı, (2) canlı adsb.lol akışı için sürekli çalışan bir Kafka hattı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2000" b="0" u="none" strike="noStrike">
                <a:solidFill>
                  <a:srgbClr val="1B1F27"/>
                </a:solidFill>
                <a:effectLst/>
                <a:uFillTx/>
                <a:latin typeface="Arial"/>
              </a:rPr>
              <a:t>▸  Bu sunum, esas olarak bu iki hattın nasıl tasarlandığını, hangi kararların neden alındığını ve karşılaşılan gerçek sorunları anlatıyor.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Rectangle 1"/>
          <p:cNvSpPr/>
          <p:nvPr/>
        </p:nvSpPr>
        <p:spPr>
          <a:xfrm>
            <a:off x="1800000" y="1980000"/>
            <a:ext cx="3138480" cy="690120"/>
          </a:xfrm>
          <a:prstGeom prst="rect">
            <a:avLst/>
          </a:prstGeom>
          <a:solidFill>
            <a:srgbClr val="0B1E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NE YAPTIK ?</a:t>
            </a:r>
            <a:endParaRPr lang="tr-T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Rectangle 2"/>
          <p:cNvSpPr/>
          <p:nvPr/>
        </p:nvSpPr>
        <p:spPr>
          <a:xfrm>
            <a:off x="1800000" y="6654600"/>
            <a:ext cx="3138480" cy="724320"/>
          </a:xfrm>
          <a:prstGeom prst="rect">
            <a:avLst/>
          </a:prstGeom>
          <a:solidFill>
            <a:srgbClr val="2F6F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NASIL YAPTIK ?</a:t>
            </a:r>
            <a:endParaRPr lang="tr-T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"/>
          <p:cNvSpPr/>
          <p:nvPr/>
        </p:nvSpPr>
        <p:spPr>
          <a:xfrm>
            <a:off x="2160000" y="9000000"/>
            <a:ext cx="64789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600" b="0" i="1" u="none" strike="noStrike">
                <a:solidFill>
                  <a:srgbClr val="E0A24D"/>
                </a:solidFill>
                <a:effectLst/>
                <a:uFillTx/>
                <a:latin typeface="Arial"/>
              </a:rPr>
              <a:t>→  Peki bu iki hattı besleyecek veri kaynağını nasıl seçtik?</a:t>
            </a:r>
            <a:endParaRPr lang="tr-T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Rectangle 12"/>
          <p:cNvSpPr/>
          <p:nvPr/>
        </p:nvSpPr>
        <p:spPr>
          <a:xfrm>
            <a:off x="703080" y="1440000"/>
            <a:ext cx="1095840" cy="36720"/>
          </a:xfrm>
          <a:prstGeom prst="rect">
            <a:avLst/>
          </a:prstGeom>
          <a:solidFill>
            <a:srgbClr val="FF8A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Group 2"/>
          <p:cNvGrpSpPr/>
          <p:nvPr/>
        </p:nvGrpSpPr>
        <p:grpSpPr>
          <a:xfrm>
            <a:off x="1028880" y="8924760"/>
            <a:ext cx="858600" cy="332280"/>
            <a:chOff x="1028880" y="8924760"/>
            <a:chExt cx="858600" cy="332280"/>
          </a:xfrm>
        </p:grpSpPr>
        <p:grpSp>
          <p:nvGrpSpPr>
            <p:cNvPr id="135" name="Group 3"/>
            <p:cNvGrpSpPr/>
            <p:nvPr/>
          </p:nvGrpSpPr>
          <p:grpSpPr>
            <a:xfrm>
              <a:off x="1028880" y="8924760"/>
              <a:ext cx="332280" cy="332280"/>
              <a:chOff x="1028880" y="8924760"/>
              <a:chExt cx="332280" cy="332280"/>
            </a:xfrm>
          </p:grpSpPr>
          <p:sp>
            <p:nvSpPr>
              <p:cNvPr id="136" name="Freeform 4"/>
              <p:cNvSpPr/>
              <p:nvPr/>
            </p:nvSpPr>
            <p:spPr>
              <a:xfrm>
                <a:off x="1028880" y="8924760"/>
                <a:ext cx="332280" cy="332280"/>
              </a:xfrm>
              <a:custGeom>
                <a:avLst/>
                <a:gdLst>
                  <a:gd name="textAreaLeft" fmla="*/ 0 w 332280"/>
                  <a:gd name="textAreaRight" fmla="*/ 333720 w 332280"/>
                  <a:gd name="textAreaTop" fmla="*/ 0 h 332280"/>
                  <a:gd name="textAreaBottom" fmla="*/ 333720 h 33228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tr-T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7" name="TextBox 5"/>
              <p:cNvSpPr/>
              <p:nvPr/>
            </p:nvSpPr>
            <p:spPr>
              <a:xfrm>
                <a:off x="1059840" y="8940240"/>
                <a:ext cx="269640" cy="285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tIns="50760" rIns="50760" bIns="5076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  <p:grpSp>
          <p:nvGrpSpPr>
            <p:cNvPr id="138" name="Group 6"/>
            <p:cNvGrpSpPr/>
            <p:nvPr/>
          </p:nvGrpSpPr>
          <p:grpSpPr>
            <a:xfrm>
              <a:off x="1555200" y="8924760"/>
              <a:ext cx="332280" cy="332280"/>
              <a:chOff x="1555200" y="8924760"/>
              <a:chExt cx="332280" cy="332280"/>
            </a:xfrm>
          </p:grpSpPr>
          <p:sp>
            <p:nvSpPr>
              <p:cNvPr id="139" name="Freeform 7"/>
              <p:cNvSpPr/>
              <p:nvPr/>
            </p:nvSpPr>
            <p:spPr>
              <a:xfrm>
                <a:off x="1555200" y="8924760"/>
                <a:ext cx="332280" cy="332280"/>
              </a:xfrm>
              <a:custGeom>
                <a:avLst/>
                <a:gdLst>
                  <a:gd name="textAreaLeft" fmla="*/ 0 w 332280"/>
                  <a:gd name="textAreaRight" fmla="*/ 333720 w 332280"/>
                  <a:gd name="textAreaTop" fmla="*/ 0 h 332280"/>
                  <a:gd name="textAreaBottom" fmla="*/ 333720 h 33228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tr-T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0" name="TextBox 8"/>
              <p:cNvSpPr/>
              <p:nvPr/>
            </p:nvSpPr>
            <p:spPr>
              <a:xfrm>
                <a:off x="1586520" y="8940240"/>
                <a:ext cx="269640" cy="285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tIns="50760" rIns="50760" bIns="5076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sp>
        <p:nvSpPr>
          <p:cNvPr id="141" name="TextBox 12"/>
          <p:cNvSpPr/>
          <p:nvPr/>
        </p:nvSpPr>
        <p:spPr>
          <a:xfrm>
            <a:off x="1028880" y="2095560"/>
            <a:ext cx="10704600" cy="93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13"/>
          <p:cNvSpPr/>
          <p:nvPr/>
        </p:nvSpPr>
        <p:spPr>
          <a:xfrm>
            <a:off x="1028880" y="997920"/>
            <a:ext cx="8150400" cy="37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940"/>
              </a:lnSpc>
            </a:pPr>
            <a:r>
              <a:rPr lang="tr-TR" sz="3200" b="1" u="none" strike="noStrike">
                <a:solidFill>
                  <a:srgbClr val="000000"/>
                </a:solidFill>
                <a:effectLst/>
                <a:uFillTx/>
                <a:latin typeface="Inter Medium"/>
                <a:ea typeface="Inter Medium"/>
              </a:rPr>
              <a:t>1) VERİ KAYNAKLARI &amp; SEÇİM SEBEPLERİ</a:t>
            </a:r>
            <a:endParaRPr lang="tr-T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Box 12"/>
          <p:cNvSpPr/>
          <p:nvPr/>
        </p:nvSpPr>
        <p:spPr>
          <a:xfrm>
            <a:off x="6354720" y="9586440"/>
            <a:ext cx="5577480" cy="32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Rectangle 3"/>
          <p:cNvSpPr/>
          <p:nvPr/>
        </p:nvSpPr>
        <p:spPr>
          <a:xfrm>
            <a:off x="640440" y="1371600"/>
            <a:ext cx="1095840" cy="36720"/>
          </a:xfrm>
          <a:prstGeom prst="rect">
            <a:avLst/>
          </a:prstGeom>
          <a:solidFill>
            <a:srgbClr val="FF8A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145" name="Table 4"/>
          <p:cNvGraphicFramePr/>
          <p:nvPr/>
        </p:nvGraphicFramePr>
        <p:xfrm>
          <a:off x="757440" y="1828080"/>
          <a:ext cx="10515240" cy="3017520"/>
        </p:xfrm>
        <a:graphic>
          <a:graphicData uri="http://schemas.openxmlformats.org/drawingml/2006/table">
            <a:tbl>
              <a:tblPr/>
              <a:tblGrid>
                <a:gridCol w="3200400"/>
                <a:gridCol w="3657600"/>
                <a:gridCol w="3657600"/>
              </a:tblGrid>
              <a:tr h="5029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Kriter</a:t>
                      </a:r>
                      <a:endParaRPr lang="tr-TR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OpenSky Network</a:t>
                      </a:r>
                      <a:endParaRPr lang="tr-TR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adsb.lol</a:t>
                      </a:r>
                      <a:endParaRPr lang="tr-TR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B1E3D"/>
                    </a:solidFill>
                  </a:tcPr>
                </a:tc>
              </a:tr>
              <a:tr h="5029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1B1F27"/>
                          </a:solidFill>
                          <a:effectLst/>
                          <a:uFillTx/>
                          <a:latin typeface="Arial"/>
                        </a:rPr>
                        <a:t>Kimlik doğrulama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1B1F27"/>
                          </a:solidFill>
                          <a:effectLst/>
                          <a:uFillTx/>
                          <a:latin typeface="Arial"/>
                        </a:rPr>
                        <a:t>Gerekli (OAuth2)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1B1F27"/>
                          </a:solidFill>
                          <a:effectLst/>
                          <a:uFillTx/>
                          <a:latin typeface="Arial"/>
                        </a:rPr>
                        <a:t>Gerekmiyor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1B1F27"/>
                          </a:solidFill>
                          <a:effectLst/>
                          <a:uFillTx/>
                          <a:latin typeface="Arial"/>
                        </a:rPr>
                        <a:t>Günlük kota / kredi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1B1F27"/>
                          </a:solidFill>
                          <a:effectLst/>
                          <a:uFillTx/>
                          <a:latin typeface="Arial"/>
                        </a:rPr>
                        <a:t>Var, sınırlı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1B1F27"/>
                          </a:solidFill>
                          <a:effectLst/>
                          <a:uFillTx/>
                          <a:latin typeface="Arial"/>
                        </a:rPr>
                        <a:t>Yok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EFF4"/>
                    </a:solidFill>
                  </a:tcPr>
                </a:tc>
              </a:tr>
              <a:tr h="5029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1B1F27"/>
                          </a:solidFill>
                          <a:effectLst/>
                          <a:uFillTx/>
                          <a:latin typeface="Arial"/>
                        </a:rPr>
                        <a:t>Tarihsel veri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1B1F27"/>
                          </a:solidFill>
                          <a:effectLst/>
                          <a:uFillTx/>
                          <a:latin typeface="Arial"/>
                        </a:rPr>
                        <a:t>Sınırlı erişim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1B1F27"/>
                          </a:solidFill>
                          <a:effectLst/>
                          <a:uFillTx/>
                          <a:latin typeface="Arial"/>
                        </a:rPr>
                        <a:t>Günlük tam-ağ tar arşivi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1B1F27"/>
                          </a:solidFill>
                          <a:effectLst/>
                          <a:uFillTx/>
                          <a:latin typeface="Arial"/>
                        </a:rPr>
                        <a:t>Gerçek zamanlı erişim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1B1F27"/>
                          </a:solidFill>
                          <a:effectLst/>
                          <a:uFillTx/>
                          <a:latin typeface="Arial"/>
                        </a:rPr>
                        <a:t>Var ama limitli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1B1F27"/>
                          </a:solidFill>
                          <a:effectLst/>
                          <a:uFillTx/>
                          <a:latin typeface="Arial"/>
                        </a:rPr>
                        <a:t>REST feed, sınırsız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EFF4"/>
                    </a:solidFill>
                  </a:tcPr>
                </a:tc>
              </a:tr>
              <a:tr h="5029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1B1F27"/>
                          </a:solidFill>
                          <a:effectLst/>
                          <a:uFillTx/>
                          <a:latin typeface="Arial"/>
                        </a:rPr>
                        <a:t>Tek kaynaktan ikisi birden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1B1F27"/>
                          </a:solidFill>
                          <a:effectLst/>
                          <a:uFillTx/>
                          <a:latin typeface="Arial"/>
                        </a:rPr>
                        <a:t>Hayır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1B1F27"/>
                          </a:solidFill>
                          <a:effectLst/>
                          <a:uFillTx/>
                          <a:latin typeface="Arial"/>
                        </a:rPr>
                        <a:t>Evet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6" name="TextBox 6"/>
          <p:cNvSpPr/>
          <p:nvPr/>
        </p:nvSpPr>
        <p:spPr>
          <a:xfrm>
            <a:off x="823320" y="5029200"/>
            <a:ext cx="1033128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Rectangle 4"/>
          <p:cNvSpPr/>
          <p:nvPr/>
        </p:nvSpPr>
        <p:spPr>
          <a:xfrm>
            <a:off x="551160" y="5325120"/>
            <a:ext cx="5027760" cy="3313800"/>
          </a:xfrm>
          <a:prstGeom prst="rect">
            <a:avLst/>
          </a:prstGeom>
          <a:solidFill>
            <a:srgbClr val="F6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8" name="Rectangle 5"/>
          <p:cNvSpPr/>
          <p:nvPr/>
        </p:nvSpPr>
        <p:spPr>
          <a:xfrm>
            <a:off x="6131160" y="5325120"/>
            <a:ext cx="5027760" cy="3313800"/>
          </a:xfrm>
          <a:prstGeom prst="rect">
            <a:avLst/>
          </a:prstGeom>
          <a:solidFill>
            <a:srgbClr val="F6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9" name="Rectangle 7"/>
          <p:cNvSpPr/>
          <p:nvPr/>
        </p:nvSpPr>
        <p:spPr>
          <a:xfrm>
            <a:off x="551160" y="5325120"/>
            <a:ext cx="5027760" cy="501480"/>
          </a:xfrm>
          <a:prstGeom prst="rect">
            <a:avLst/>
          </a:prstGeom>
          <a:solidFill>
            <a:srgbClr val="0B1E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0" name="Rectangle 8"/>
          <p:cNvSpPr/>
          <p:nvPr/>
        </p:nvSpPr>
        <p:spPr>
          <a:xfrm>
            <a:off x="6131160" y="5325120"/>
            <a:ext cx="5027760" cy="501480"/>
          </a:xfrm>
          <a:prstGeom prst="rect">
            <a:avLst/>
          </a:prstGeom>
          <a:solidFill>
            <a:srgbClr val="0B1E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" name="TextBox 14"/>
          <p:cNvSpPr/>
          <p:nvPr/>
        </p:nvSpPr>
        <p:spPr>
          <a:xfrm>
            <a:off x="551160" y="5398200"/>
            <a:ext cx="50277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ALFA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19"/>
          <p:cNvSpPr/>
          <p:nvPr/>
        </p:nvSpPr>
        <p:spPr>
          <a:xfrm>
            <a:off x="6131160" y="5398200"/>
            <a:ext cx="50277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UAV Attack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Box 21"/>
          <p:cNvSpPr/>
          <p:nvPr/>
        </p:nvSpPr>
        <p:spPr>
          <a:xfrm>
            <a:off x="779760" y="6010920"/>
            <a:ext cx="4570560" cy="12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lang="en-US" sz="1500" b="0" u="none" strike="noStrike">
                <a:solidFill>
                  <a:srgbClr val="1B1F27"/>
                </a:solidFill>
                <a:effectLst/>
                <a:uFillTx/>
                <a:latin typeface="Arial"/>
              </a:rPr>
              <a:t>▸  Gerçek uçuş arızası ground-truth verisi</a:t>
            </a:r>
            <a:endParaRPr lang="tr-T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lang="en-US" sz="1500" b="0" u="none" strike="noStrike">
                <a:solidFill>
                  <a:srgbClr val="1B1F27"/>
                </a:solidFill>
                <a:effectLst/>
                <a:uFillTx/>
                <a:latin typeface="Arial"/>
              </a:rPr>
              <a:t>▸  Fault/anomaly etiketleri gerçek uçuşlardan geliyor</a:t>
            </a:r>
            <a:endParaRPr lang="tr-T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lang="en-US" sz="1500" b="0" u="none" strike="noStrike">
                <a:solidFill>
                  <a:srgbClr val="1B1F27"/>
                </a:solidFill>
                <a:effectLst/>
                <a:uFillTx/>
                <a:latin typeface="Arial"/>
              </a:rPr>
              <a:t>▸  İleride model doğrulaması için referans noktası</a:t>
            </a:r>
            <a:endParaRPr lang="tr-T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Box 26"/>
          <p:cNvSpPr/>
          <p:nvPr/>
        </p:nvSpPr>
        <p:spPr>
          <a:xfrm>
            <a:off x="6359760" y="6010920"/>
            <a:ext cx="4570560" cy="91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lang="en-US" sz="1500" b="0" u="none" strike="noStrike">
                <a:solidFill>
                  <a:srgbClr val="1B1F27"/>
                </a:solidFill>
                <a:effectLst/>
                <a:uFillTx/>
                <a:latin typeface="Arial"/>
              </a:rPr>
              <a:t>▸  İyi huylu/ kötü niyetli (malicious) saldırı etiketleri</a:t>
            </a:r>
            <a:endParaRPr lang="tr-T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lang="en-US" sz="1500" b="0" u="none" strike="noStrike">
                <a:solidFill>
                  <a:srgbClr val="1B1F27"/>
                </a:solidFill>
                <a:effectLst/>
                <a:uFillTx/>
                <a:latin typeface="Arial"/>
              </a:rPr>
              <a:t>▸  Anomali tespitini precision/recall ile ölçülebilir kılıyor</a:t>
            </a:r>
            <a:endParaRPr lang="tr-T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"/>
          <p:cNvSpPr/>
          <p:nvPr/>
        </p:nvSpPr>
        <p:spPr>
          <a:xfrm>
            <a:off x="11880000" y="2160000"/>
            <a:ext cx="5038920" cy="13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111111"/>
                </a:solidFill>
                <a:effectLst/>
                <a:uFillTx/>
                <a:latin typeface="Arial"/>
              </a:rPr>
              <a:t>Sonuç: adsb.lol, hem TB'larca tarihsel arşivi hem sürekli canlı sorguyu kota/kimlik doğrulama derdi olmadan tek kaynaktan karşılıyor.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"/>
          <p:cNvSpPr/>
          <p:nvPr/>
        </p:nvSpPr>
        <p:spPr>
          <a:xfrm>
            <a:off x="11739600" y="5885640"/>
            <a:ext cx="4819320" cy="13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111111"/>
                </a:solidFill>
                <a:effectLst/>
                <a:uFillTx/>
                <a:latin typeface="Arial"/>
              </a:rPr>
              <a:t>Neden önemli: ham MAVLink log'unda bu tür etiketler yok, bu ikisi sayesinde "ne kadar iyi tespit ettik" sorusu sayısal cevaplanabiliyor</a:t>
            </a:r>
            <a:r>
              <a:rPr lang="en-US" sz="1350" b="1" u="none" strike="noStrike">
                <a:solidFill>
                  <a:srgbClr val="111111"/>
                </a:solidFill>
                <a:effectLst/>
                <a:uFillTx/>
                <a:latin typeface="Calibri"/>
              </a:rPr>
              <a:t>.</a:t>
            </a:r>
            <a:endParaRPr lang="tr-T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"/>
          <p:cNvSpPr/>
          <p:nvPr/>
        </p:nvSpPr>
        <p:spPr>
          <a:xfrm>
            <a:off x="11880000" y="3420000"/>
            <a:ext cx="53989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tr-TR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Bkz: https://github.com/adsblol/globe_history_2026/</a:t>
            </a: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2158920" y="9000000"/>
            <a:ext cx="82800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000" b="0" i="1" u="none" strike="noStrike">
                <a:solidFill>
                  <a:srgbClr val="E0A24D"/>
                </a:solidFill>
                <a:effectLst/>
                <a:uFillTx/>
                <a:latin typeface="Calibri"/>
              </a:rPr>
              <a:t>→  Şimdi bu üç kaynağın veriyi nasıl güvenilir bir hatta işlediğine bakalım.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Box 13"/>
          <p:cNvSpPr/>
          <p:nvPr/>
        </p:nvSpPr>
        <p:spPr>
          <a:xfrm>
            <a:off x="1028880" y="981000"/>
            <a:ext cx="11750400" cy="37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940"/>
              </a:lnSpc>
            </a:pPr>
            <a:r>
              <a:rPr lang="tr-TR" sz="3200" b="1" u="none" strike="noStrike">
                <a:solidFill>
                  <a:srgbClr val="000000"/>
                </a:solidFill>
                <a:effectLst/>
                <a:uFillTx/>
                <a:latin typeface="Inter Medium"/>
                <a:ea typeface="Inter Medium"/>
              </a:rPr>
              <a:t>ÜÇ KATMANLI VERİ İŞLEME HATTI (MEDALLION)</a:t>
            </a:r>
            <a:endParaRPr lang="tr-T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Rectangle 9"/>
          <p:cNvSpPr/>
          <p:nvPr/>
        </p:nvSpPr>
        <p:spPr>
          <a:xfrm>
            <a:off x="1000080" y="1980000"/>
            <a:ext cx="4781160" cy="3835440"/>
          </a:xfrm>
          <a:prstGeom prst="rect">
            <a:avLst/>
          </a:prstGeom>
          <a:solidFill>
            <a:srgbClr val="8C5A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286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BRONZE</a:t>
            </a:r>
            <a:endParaRPr lang="tr-TR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br>
              <a:rPr sz="2000"/>
            </a:b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Ham veri — hiç dönüştürülmemiş</a:t>
            </a:r>
            <a:br>
              <a:rPr sz="2000"/>
            </a:b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(.tar / .zip / .jsonl)</a:t>
            </a:r>
            <a:br>
              <a:rPr sz="2000"/>
            </a:b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MinIO</a:t>
            </a:r>
            <a:endParaRPr lang="tr-T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Rectangle 10"/>
          <p:cNvSpPr/>
          <p:nvPr/>
        </p:nvSpPr>
        <p:spPr>
          <a:xfrm>
            <a:off x="6658920" y="1980000"/>
            <a:ext cx="4781160" cy="3835440"/>
          </a:xfrm>
          <a:prstGeom prst="rect">
            <a:avLst/>
          </a:prstGeom>
          <a:solidFill>
            <a:srgbClr val="6B74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286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SILVER</a:t>
            </a:r>
            <a:endParaRPr lang="tr-TR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br>
              <a:rPr sz="2000"/>
            </a:b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Birim dönüşümü, etiket çıkarımı,</a:t>
            </a:r>
            <a:br>
              <a:rPr sz="2000"/>
            </a:b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source eklenmiş Parquet</a:t>
            </a:r>
            <a:br>
              <a:rPr sz="2000"/>
            </a:b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(feet→m, knots→m/s)</a:t>
            </a:r>
            <a:endParaRPr lang="tr-T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Rectangle 11"/>
          <p:cNvSpPr/>
          <p:nvPr/>
        </p:nvSpPr>
        <p:spPr>
          <a:xfrm>
            <a:off x="12317760" y="1980000"/>
            <a:ext cx="4781160" cy="3835440"/>
          </a:xfrm>
          <a:prstGeom prst="rect">
            <a:avLst/>
          </a:prstGeom>
          <a:solidFill>
            <a:srgbClr val="C99A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286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GOLD</a:t>
            </a:r>
            <a:endParaRPr lang="tr-T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br>
              <a:rPr sz="2000"/>
            </a:b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Tüm kaynakların ortak</a:t>
            </a:r>
            <a:br>
              <a:rPr sz="2000"/>
            </a:b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7+3 şemaya hizalandığı</a:t>
            </a:r>
            <a:br>
              <a:rPr sz="2000"/>
            </a:b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birleşik veri seti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Right Arrow 7"/>
          <p:cNvSpPr/>
          <p:nvPr/>
        </p:nvSpPr>
        <p:spPr>
          <a:xfrm>
            <a:off x="5917680" y="3361320"/>
            <a:ext cx="672120" cy="7657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8A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4" name="Right Arrow 8"/>
          <p:cNvSpPr/>
          <p:nvPr/>
        </p:nvSpPr>
        <p:spPr>
          <a:xfrm>
            <a:off x="11576520" y="3361320"/>
            <a:ext cx="672120" cy="7657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8A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5" name="TextBox 28"/>
          <p:cNvSpPr/>
          <p:nvPr/>
        </p:nvSpPr>
        <p:spPr>
          <a:xfrm>
            <a:off x="1107720" y="6385320"/>
            <a:ext cx="15991200" cy="81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2000" b="0" u="none" strike="noStrike">
                <a:solidFill>
                  <a:srgbClr val="1B1F27"/>
                </a:solidFill>
                <a:effectLst/>
                <a:uFillTx/>
                <a:latin typeface="Calibri"/>
              </a:rPr>
              <a:t>▸ </a:t>
            </a:r>
            <a:r>
              <a:rPr lang="en-US" sz="2000" b="0" u="none" strike="noStrike">
                <a:solidFill>
                  <a:srgbClr val="1B1F27"/>
                </a:solidFill>
                <a:effectLst/>
                <a:uFillTx/>
                <a:latin typeface="Arial"/>
              </a:rPr>
              <a:t> Neden üç katman (tek 'temiz tablo' değil): geri dönülebilirlik, sorumluluk ayrımı, test edilebilirlik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2000" b="0" u="none" strike="noStrike">
                <a:solidFill>
                  <a:srgbClr val="1B1F27"/>
                </a:solidFill>
                <a:effectLst/>
                <a:uFillTx/>
                <a:latin typeface="Arial"/>
              </a:rPr>
              <a:t>▸  Parse hatası olduğunda (gerçekte 2 kez oldu) sadece ilgili katman yeniden üretiliyor, ham veri asla bozulmuyor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33"/>
          <p:cNvSpPr/>
          <p:nvPr/>
        </p:nvSpPr>
        <p:spPr>
          <a:xfrm>
            <a:off x="2160000" y="8965440"/>
            <a:ext cx="151189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i="1" u="none" strike="noStrike">
                <a:solidFill>
                  <a:srgbClr val="E0A24D"/>
                </a:solidFill>
                <a:effectLst/>
                <a:uFillTx/>
                <a:latin typeface="Calibri"/>
              </a:rPr>
              <a:t>→  Şimdi her katmanı tek tek, gerçek kodla inceleyelim.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67" name="Group 1"/>
          <p:cNvGrpSpPr/>
          <p:nvPr/>
        </p:nvGrpSpPr>
        <p:grpSpPr>
          <a:xfrm>
            <a:off x="1028880" y="8924760"/>
            <a:ext cx="858600" cy="332280"/>
            <a:chOff x="1028880" y="8924760"/>
            <a:chExt cx="858600" cy="332280"/>
          </a:xfrm>
        </p:grpSpPr>
        <p:grpSp>
          <p:nvGrpSpPr>
            <p:cNvPr id="168" name="Group 4"/>
            <p:cNvGrpSpPr/>
            <p:nvPr/>
          </p:nvGrpSpPr>
          <p:grpSpPr>
            <a:xfrm>
              <a:off x="1028880" y="8924760"/>
              <a:ext cx="332280" cy="332280"/>
              <a:chOff x="1028880" y="8924760"/>
              <a:chExt cx="332280" cy="332280"/>
            </a:xfrm>
          </p:grpSpPr>
          <p:sp>
            <p:nvSpPr>
              <p:cNvPr id="169" name="Freeform 1"/>
              <p:cNvSpPr/>
              <p:nvPr/>
            </p:nvSpPr>
            <p:spPr>
              <a:xfrm>
                <a:off x="1028880" y="8924760"/>
                <a:ext cx="332280" cy="332280"/>
              </a:xfrm>
              <a:custGeom>
                <a:avLst/>
                <a:gdLst>
                  <a:gd name="textAreaLeft" fmla="*/ 0 w 332280"/>
                  <a:gd name="textAreaRight" fmla="*/ 333720 w 332280"/>
                  <a:gd name="textAreaTop" fmla="*/ 0 h 332280"/>
                  <a:gd name="textAreaBottom" fmla="*/ 333720 h 33228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tr-T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0" name="TextBox 34"/>
              <p:cNvSpPr/>
              <p:nvPr/>
            </p:nvSpPr>
            <p:spPr>
              <a:xfrm>
                <a:off x="1059840" y="8940240"/>
                <a:ext cx="269640" cy="285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tIns="50760" rIns="50760" bIns="5076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  <p:grpSp>
          <p:nvGrpSpPr>
            <p:cNvPr id="171" name="Group 7"/>
            <p:cNvGrpSpPr/>
            <p:nvPr/>
          </p:nvGrpSpPr>
          <p:grpSpPr>
            <a:xfrm>
              <a:off x="1555200" y="8924760"/>
              <a:ext cx="332280" cy="332280"/>
              <a:chOff x="1555200" y="8924760"/>
              <a:chExt cx="332280" cy="332280"/>
            </a:xfrm>
          </p:grpSpPr>
          <p:sp>
            <p:nvSpPr>
              <p:cNvPr id="172" name="Freeform 2"/>
              <p:cNvSpPr/>
              <p:nvPr/>
            </p:nvSpPr>
            <p:spPr>
              <a:xfrm>
                <a:off x="1555200" y="8924760"/>
                <a:ext cx="332280" cy="332280"/>
              </a:xfrm>
              <a:custGeom>
                <a:avLst/>
                <a:gdLst>
                  <a:gd name="textAreaLeft" fmla="*/ 0 w 332280"/>
                  <a:gd name="textAreaRight" fmla="*/ 333720 w 332280"/>
                  <a:gd name="textAreaTop" fmla="*/ 0 h 332280"/>
                  <a:gd name="textAreaBottom" fmla="*/ 333720 h 33228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tr-T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3" name="TextBox 35"/>
              <p:cNvSpPr/>
              <p:nvPr/>
            </p:nvSpPr>
            <p:spPr>
              <a:xfrm>
                <a:off x="1586520" y="8940240"/>
                <a:ext cx="269640" cy="285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tIns="50760" rIns="50760" bIns="5076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sp>
        <p:nvSpPr>
          <p:cNvPr id="174" name="Rectangle 13"/>
          <p:cNvSpPr/>
          <p:nvPr/>
        </p:nvSpPr>
        <p:spPr>
          <a:xfrm>
            <a:off x="720000" y="1371960"/>
            <a:ext cx="1095840" cy="36720"/>
          </a:xfrm>
          <a:prstGeom prst="rect">
            <a:avLst/>
          </a:prstGeom>
          <a:solidFill>
            <a:srgbClr val="FF8A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5" name=""/>
          <p:cNvSpPr/>
          <p:nvPr/>
        </p:nvSpPr>
        <p:spPr>
          <a:xfrm>
            <a:off x="1080000" y="7863120"/>
            <a:ext cx="10619280" cy="136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000" b="0" i="1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Calibri"/>
              </a:rPr>
              <a:t>Medallion mimari (Bronze → Silver → Gold), Databricks tarafından tanıtılmış bir data lakehouse tasarım deseni. Kaynaklar:  https://docs.databricks.com/aws/en/lakehouse/medallion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TextBox 36"/>
          <p:cNvSpPr/>
          <p:nvPr/>
        </p:nvSpPr>
        <p:spPr>
          <a:xfrm>
            <a:off x="1028880" y="981360"/>
            <a:ext cx="10310040" cy="37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940"/>
              </a:lnSpc>
            </a:pPr>
            <a:r>
              <a:rPr lang="tr-TR" sz="3200" b="1" u="none" strike="noStrike">
                <a:solidFill>
                  <a:srgbClr val="000000"/>
                </a:solidFill>
                <a:effectLst/>
                <a:uFillTx/>
                <a:latin typeface="Inter Medium"/>
                <a:ea typeface="Inter Medium"/>
              </a:rPr>
              <a:t>BRONZE – RAW DATA DEPOSU</a:t>
            </a:r>
            <a:endParaRPr lang="tr-T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Box 38"/>
          <p:cNvSpPr/>
          <p:nvPr/>
        </p:nvSpPr>
        <p:spPr>
          <a:xfrm>
            <a:off x="2160000" y="8965800"/>
            <a:ext cx="15118920" cy="39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78" name="Group 8"/>
          <p:cNvGrpSpPr/>
          <p:nvPr/>
        </p:nvGrpSpPr>
        <p:grpSpPr>
          <a:xfrm>
            <a:off x="1028880" y="8925120"/>
            <a:ext cx="858600" cy="332280"/>
            <a:chOff x="1028880" y="8925120"/>
            <a:chExt cx="858600" cy="332280"/>
          </a:xfrm>
        </p:grpSpPr>
        <p:grpSp>
          <p:nvGrpSpPr>
            <p:cNvPr id="179" name="Group 9"/>
            <p:cNvGrpSpPr/>
            <p:nvPr/>
          </p:nvGrpSpPr>
          <p:grpSpPr>
            <a:xfrm>
              <a:off x="1028880" y="8925120"/>
              <a:ext cx="332280" cy="332280"/>
              <a:chOff x="1028880" y="8925120"/>
              <a:chExt cx="332280" cy="332280"/>
            </a:xfrm>
          </p:grpSpPr>
          <p:sp>
            <p:nvSpPr>
              <p:cNvPr id="180" name="Freeform 5"/>
              <p:cNvSpPr/>
              <p:nvPr/>
            </p:nvSpPr>
            <p:spPr>
              <a:xfrm>
                <a:off x="1028880" y="8925120"/>
                <a:ext cx="332280" cy="332280"/>
              </a:xfrm>
              <a:custGeom>
                <a:avLst/>
                <a:gdLst>
                  <a:gd name="textAreaLeft" fmla="*/ 0 w 332280"/>
                  <a:gd name="textAreaRight" fmla="*/ 333720 w 332280"/>
                  <a:gd name="textAreaTop" fmla="*/ 0 h 332280"/>
                  <a:gd name="textAreaBottom" fmla="*/ 333720 h 33228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tr-T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1" name="TextBox 39"/>
              <p:cNvSpPr/>
              <p:nvPr/>
            </p:nvSpPr>
            <p:spPr>
              <a:xfrm>
                <a:off x="1059840" y="8940600"/>
                <a:ext cx="269640" cy="285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tIns="50760" rIns="50760" bIns="5076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  <p:grpSp>
          <p:nvGrpSpPr>
            <p:cNvPr id="182" name="Group 15"/>
            <p:cNvGrpSpPr/>
            <p:nvPr/>
          </p:nvGrpSpPr>
          <p:grpSpPr>
            <a:xfrm>
              <a:off x="1555200" y="8925120"/>
              <a:ext cx="332280" cy="332280"/>
              <a:chOff x="1555200" y="8925120"/>
              <a:chExt cx="332280" cy="332280"/>
            </a:xfrm>
          </p:grpSpPr>
          <p:sp>
            <p:nvSpPr>
              <p:cNvPr id="183" name="Freeform 10"/>
              <p:cNvSpPr/>
              <p:nvPr/>
            </p:nvSpPr>
            <p:spPr>
              <a:xfrm>
                <a:off x="1555200" y="8925120"/>
                <a:ext cx="332280" cy="332280"/>
              </a:xfrm>
              <a:custGeom>
                <a:avLst/>
                <a:gdLst>
                  <a:gd name="textAreaLeft" fmla="*/ 0 w 332280"/>
                  <a:gd name="textAreaRight" fmla="*/ 333720 w 332280"/>
                  <a:gd name="textAreaTop" fmla="*/ 0 h 332280"/>
                  <a:gd name="textAreaBottom" fmla="*/ 333720 h 33228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tr-T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4" name="TextBox 40"/>
              <p:cNvSpPr/>
              <p:nvPr/>
            </p:nvSpPr>
            <p:spPr>
              <a:xfrm>
                <a:off x="1586520" y="8940600"/>
                <a:ext cx="269640" cy="285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tIns="50760" rIns="50760" bIns="5076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sp>
        <p:nvSpPr>
          <p:cNvPr id="185" name="Rectangle 17"/>
          <p:cNvSpPr/>
          <p:nvPr/>
        </p:nvSpPr>
        <p:spPr>
          <a:xfrm>
            <a:off x="720000" y="1372320"/>
            <a:ext cx="1095840" cy="36720"/>
          </a:xfrm>
          <a:prstGeom prst="rect">
            <a:avLst/>
          </a:prstGeom>
          <a:solidFill>
            <a:srgbClr val="FF8A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6" name="Rectangle 14"/>
          <p:cNvSpPr/>
          <p:nvPr/>
        </p:nvSpPr>
        <p:spPr>
          <a:xfrm>
            <a:off x="540000" y="1674000"/>
            <a:ext cx="2729880" cy="439200"/>
          </a:xfrm>
          <a:prstGeom prst="rect">
            <a:avLst/>
          </a:prstGeom>
          <a:solidFill>
            <a:srgbClr val="0B1E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NE YAPTIK ?</a:t>
            </a:r>
            <a:endParaRPr lang="tr-T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Box 37"/>
          <p:cNvSpPr/>
          <p:nvPr/>
        </p:nvSpPr>
        <p:spPr>
          <a:xfrm>
            <a:off x="518040" y="2474280"/>
            <a:ext cx="2540880" cy="16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2000" b="0" u="none" strike="noStrike">
                <a:solidFill>
                  <a:srgbClr val="1B1F27"/>
                </a:solidFill>
                <a:effectLst/>
                <a:uFillTx/>
                <a:latin typeface="Arial"/>
              </a:rPr>
              <a:t>▸  Tar/zip/JSONL dosyalarını hiçbir dönüşüm yapmadan MinIO'ya olduğu gibi kaydediyoruz 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Rectangle 15"/>
          <p:cNvSpPr/>
          <p:nvPr/>
        </p:nvSpPr>
        <p:spPr>
          <a:xfrm>
            <a:off x="3780000" y="1673640"/>
            <a:ext cx="2729880" cy="439560"/>
          </a:xfrm>
          <a:prstGeom prst="rect">
            <a:avLst/>
          </a:prstGeom>
          <a:solidFill>
            <a:srgbClr val="8C5A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NEDEN YAPTIK ?</a:t>
            </a:r>
            <a:endParaRPr lang="tr-T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Box 46"/>
          <p:cNvSpPr/>
          <p:nvPr/>
        </p:nvSpPr>
        <p:spPr>
          <a:xfrm>
            <a:off x="3600000" y="2520000"/>
            <a:ext cx="2878920" cy="357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2000" b="0" u="none" strike="noStrike">
                <a:solidFill>
                  <a:srgbClr val="1B1F27"/>
                </a:solidFill>
                <a:effectLst/>
                <a:uFillTx/>
                <a:latin typeface="Arial"/>
              </a:rPr>
              <a:t>▸  Kaynak veriye her zaman geri dönebilmek için. Silver/Gold parse mantığı hatalıysa (nitekim oldu) ham veri bozulmadan kalıyor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2000" b="0" u="none" strike="noStrike">
                <a:solidFill>
                  <a:srgbClr val="1B1F27"/>
                </a:solidFill>
                <a:effectLst/>
                <a:uFillTx/>
                <a:latin typeface="Arial"/>
              </a:rPr>
              <a:t>▸  Yeniden indirme derdi olmadan sadece parser'ı düzeltip yeniden üretebiliyoruz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Rectangle 16"/>
          <p:cNvSpPr/>
          <p:nvPr/>
        </p:nvSpPr>
        <p:spPr>
          <a:xfrm>
            <a:off x="7169040" y="1674360"/>
            <a:ext cx="2729880" cy="438840"/>
          </a:xfrm>
          <a:prstGeom prst="rect">
            <a:avLst/>
          </a:prstGeom>
          <a:solidFill>
            <a:srgbClr val="2F6F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NASIL YAPTIK ?</a:t>
            </a:r>
            <a:endParaRPr lang="tr-T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Box 47"/>
          <p:cNvSpPr/>
          <p:nvPr/>
        </p:nvSpPr>
        <p:spPr>
          <a:xfrm>
            <a:off x="6818040" y="2340000"/>
            <a:ext cx="4521240" cy="458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2000" b="0" u="none" strike="noStrike">
                <a:solidFill>
                  <a:srgbClr val="1B1F27"/>
                </a:solidFill>
                <a:effectLst/>
                <a:uFillTx/>
                <a:latin typeface="Arial"/>
              </a:rPr>
              <a:t>▸  30 tar (~100 GB) yerel diskten bir script ile MinIO'ya yüklendi 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2000" b="0" u="none" strike="noStrike">
                <a:solidFill>
                  <a:srgbClr val="1B1F27"/>
                </a:solidFill>
                <a:effectLst/>
                <a:uFillTx/>
                <a:latin typeface="Arial"/>
              </a:rPr>
              <a:t>▸  Zaten yüklenmiş dosyalar otomatik atlanıyor, script güvenle tekrar çalıştırılabiliyor 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000" b="0" u="none" strike="noStrike">
                <a:solidFill>
                  <a:srgbClr val="1B1F27"/>
                </a:solidFill>
                <a:effectLst/>
                <a:uFillTx/>
                <a:latin typeface="Arial"/>
              </a:rPr>
              <a:t>▸ </a:t>
            </a:r>
            <a:r>
              <a:rPr lang="en-US" sz="2000" b="1" u="none" strike="noStrike">
                <a:solidFill>
                  <a:srgbClr val="1B1F27"/>
                </a:solidFill>
                <a:effectLst/>
                <a:uFillTx/>
                <a:latin typeface="Arial"/>
              </a:rPr>
              <a:t>Yeni veri seti eklemek</a:t>
            </a:r>
            <a:r>
              <a:rPr lang="en-US" sz="2000" b="0" u="none" strike="noStrike">
                <a:solidFill>
                  <a:srgbClr val="1B1F27"/>
                </a:solidFill>
                <a:effectLst/>
                <a:uFillTx/>
                <a:latin typeface="Arial"/>
              </a:rPr>
              <a:t> genelde özel kod gerektirmiyor, genel amaçlı bir parser (*parse_generic.py) dosya türünü otomatik tanıyıp Silver'a çeviriyor. 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Rectangle 22"/>
          <p:cNvSpPr/>
          <p:nvPr/>
        </p:nvSpPr>
        <p:spPr>
          <a:xfrm>
            <a:off x="11340000" y="1620000"/>
            <a:ext cx="6118920" cy="3958920"/>
          </a:xfrm>
          <a:prstGeom prst="rect">
            <a:avLst/>
          </a:prstGeom>
          <a:solidFill>
            <a:srgbClr val="1E1E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3" name="TextBox 48"/>
          <p:cNvSpPr/>
          <p:nvPr/>
        </p:nvSpPr>
        <p:spPr>
          <a:xfrm>
            <a:off x="11340360" y="1620360"/>
            <a:ext cx="7918920" cy="503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A9955"/>
                </a:solidFill>
                <a:effectLst/>
                <a:uFillTx/>
                <a:latin typeface="Consolas"/>
              </a:rPr>
              <a:t># scripts/upload_bronze_all.py -- idempotent kontrol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def already_uploaded(client, bucket, object_name) -&gt; bool: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try: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    client.stat_object(bucket, object_name)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    return True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except S3Error as e: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    if e.code == "NoSuchKey": return False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    raise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A9955"/>
                </a:solidFill>
                <a:effectLst/>
                <a:uFillTx/>
                <a:latin typeface="Consolas"/>
              </a:rPr>
              <a:t># ana yukleme dongusu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for source, f in files: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object_name = f"{source}/{f.name}"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if already_uploaded(client, bucket, object_name):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    skipped += 1; continue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ok = upload_file(client, bucket, object_name, f)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if ok: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    f.unlink()   # basarili yuklemeden SONRA yerel kopyayi sil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A9955"/>
                </a:solidFill>
                <a:effectLst/>
                <a:uFillTx/>
                <a:latin typeface="Consolas"/>
              </a:rPr>
              <a:t># Sonuc: uploaded=30 skipped=0 failed=0 (~63 MB/s, ~18 dakika)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"/>
          <p:cNvSpPr/>
          <p:nvPr/>
        </p:nvSpPr>
        <p:spPr>
          <a:xfrm>
            <a:off x="13680000" y="5580000"/>
            <a:ext cx="215928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600" b="0" u="none" spc="65" strike="noStrike">
                <a:solidFill>
                  <a:srgbClr val="000000"/>
                </a:solidFill>
                <a:effectLst/>
                <a:uFillTx/>
                <a:latin typeface="Arial"/>
                <a:ea typeface="Fira Sans"/>
              </a:rPr>
              <a:t>Şekil 1 - Script  </a:t>
            </a:r>
            <a:endParaRPr lang="tr-T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"/>
          <p:cNvSpPr/>
          <p:nvPr/>
        </p:nvSpPr>
        <p:spPr>
          <a:xfrm>
            <a:off x="-540000" y="-1980000"/>
            <a:ext cx="360" cy="17892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ctr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6" name=""/>
          <p:cNvPicPr/>
          <p:nvPr/>
        </p:nvPicPr>
        <p:blipFill>
          <a:blip r:embed="rId1"/>
          <a:stretch/>
        </p:blipFill>
        <p:spPr>
          <a:xfrm>
            <a:off x="6589800" y="6391080"/>
            <a:ext cx="11229480" cy="2788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7" name=""/>
          <p:cNvSpPr/>
          <p:nvPr/>
        </p:nvSpPr>
        <p:spPr>
          <a:xfrm>
            <a:off x="10679400" y="9360360"/>
            <a:ext cx="37195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600" b="0" u="none" spc="65" strike="noStrike">
                <a:solidFill>
                  <a:srgbClr val="000000"/>
                </a:solidFill>
                <a:effectLst/>
                <a:uFillTx/>
                <a:latin typeface="Arial"/>
                <a:ea typeface="Fira Sans"/>
              </a:rPr>
              <a:t>Şekil 2 – Bronze Data MinIO’da</a:t>
            </a:r>
            <a:endParaRPr lang="tr-T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"/>
          <p:cNvSpPr/>
          <p:nvPr/>
        </p:nvSpPr>
        <p:spPr>
          <a:xfrm>
            <a:off x="430200" y="7120440"/>
            <a:ext cx="4789080" cy="128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tr-TR" sz="14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parse_generic çevirebildikleri:</a:t>
            </a:r>
            <a:br>
              <a:rPr sz="1400"/>
            </a:br>
            <a:r>
              <a:rPr lang="tr-TR" sz="14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.csv , .tsv , .json , .jsonl / .ndjson , .parquet , .xlsx / .xls , .gz (içindeki uzantıya göre tekrar dağıtılır) , .db / .sqlite , .bin / .tlog / .log (MAVLink), .mat (MATLAB), ayrıca .zip ve .tar / .tar.gz / .tgz içindeki her dosya </a:t>
            </a:r>
            <a:endParaRPr lang="tr-T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TextBox 41"/>
          <p:cNvSpPr/>
          <p:nvPr/>
        </p:nvSpPr>
        <p:spPr>
          <a:xfrm>
            <a:off x="1028880" y="981360"/>
            <a:ext cx="10310040" cy="37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940"/>
              </a:lnSpc>
            </a:pPr>
            <a:r>
              <a:rPr lang="tr-TR" sz="3200" b="1" u="none" strike="noStrike">
                <a:solidFill>
                  <a:srgbClr val="000000"/>
                </a:solidFill>
                <a:effectLst/>
                <a:uFillTx/>
                <a:latin typeface="Inter Medium"/>
                <a:ea typeface="Inter Medium"/>
              </a:rPr>
              <a:t>SILVER  - DÖNÜŞÜMLER</a:t>
            </a:r>
            <a:endParaRPr lang="tr-T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Box 43"/>
          <p:cNvSpPr/>
          <p:nvPr/>
        </p:nvSpPr>
        <p:spPr>
          <a:xfrm>
            <a:off x="2160000" y="8965800"/>
            <a:ext cx="15118920" cy="39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01" name="Group 16"/>
          <p:cNvGrpSpPr/>
          <p:nvPr/>
        </p:nvGrpSpPr>
        <p:grpSpPr>
          <a:xfrm>
            <a:off x="1028880" y="8925120"/>
            <a:ext cx="858600" cy="332280"/>
            <a:chOff x="1028880" y="8925120"/>
            <a:chExt cx="858600" cy="332280"/>
          </a:xfrm>
        </p:grpSpPr>
        <p:grpSp>
          <p:nvGrpSpPr>
            <p:cNvPr id="202" name="Group 22"/>
            <p:cNvGrpSpPr/>
            <p:nvPr/>
          </p:nvGrpSpPr>
          <p:grpSpPr>
            <a:xfrm>
              <a:off x="1028880" y="8925120"/>
              <a:ext cx="332280" cy="332280"/>
              <a:chOff x="1028880" y="8925120"/>
              <a:chExt cx="332280" cy="332280"/>
            </a:xfrm>
          </p:grpSpPr>
          <p:sp>
            <p:nvSpPr>
              <p:cNvPr id="203" name="Freeform 11"/>
              <p:cNvSpPr/>
              <p:nvPr/>
            </p:nvSpPr>
            <p:spPr>
              <a:xfrm>
                <a:off x="1028880" y="8925120"/>
                <a:ext cx="332280" cy="332280"/>
              </a:xfrm>
              <a:custGeom>
                <a:avLst/>
                <a:gdLst>
                  <a:gd name="textAreaLeft" fmla="*/ 0 w 332280"/>
                  <a:gd name="textAreaRight" fmla="*/ 333720 w 332280"/>
                  <a:gd name="textAreaTop" fmla="*/ 0 h 332280"/>
                  <a:gd name="textAreaBottom" fmla="*/ 333720 h 33228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tr-T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4" name="TextBox 44"/>
              <p:cNvSpPr/>
              <p:nvPr/>
            </p:nvSpPr>
            <p:spPr>
              <a:xfrm>
                <a:off x="1059840" y="8940600"/>
                <a:ext cx="269640" cy="285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tIns="50760" rIns="50760" bIns="5076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  <p:grpSp>
          <p:nvGrpSpPr>
            <p:cNvPr id="205" name="Group 23"/>
            <p:cNvGrpSpPr/>
            <p:nvPr/>
          </p:nvGrpSpPr>
          <p:grpSpPr>
            <a:xfrm>
              <a:off x="1555200" y="8925120"/>
              <a:ext cx="332280" cy="332280"/>
              <a:chOff x="1555200" y="8925120"/>
              <a:chExt cx="332280" cy="332280"/>
            </a:xfrm>
          </p:grpSpPr>
          <p:sp>
            <p:nvSpPr>
              <p:cNvPr id="206" name="Freeform 13"/>
              <p:cNvSpPr/>
              <p:nvPr/>
            </p:nvSpPr>
            <p:spPr>
              <a:xfrm>
                <a:off x="1555200" y="8925120"/>
                <a:ext cx="332280" cy="332280"/>
              </a:xfrm>
              <a:custGeom>
                <a:avLst/>
                <a:gdLst>
                  <a:gd name="textAreaLeft" fmla="*/ 0 w 332280"/>
                  <a:gd name="textAreaRight" fmla="*/ 333720 w 332280"/>
                  <a:gd name="textAreaTop" fmla="*/ 0 h 332280"/>
                  <a:gd name="textAreaBottom" fmla="*/ 333720 h 33228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tr-T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7" name="TextBox 45"/>
              <p:cNvSpPr/>
              <p:nvPr/>
            </p:nvSpPr>
            <p:spPr>
              <a:xfrm>
                <a:off x="1586520" y="8940600"/>
                <a:ext cx="269640" cy="285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tIns="50760" rIns="50760" bIns="5076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sp>
        <p:nvSpPr>
          <p:cNvPr id="208" name="Rectangle 21"/>
          <p:cNvSpPr/>
          <p:nvPr/>
        </p:nvSpPr>
        <p:spPr>
          <a:xfrm>
            <a:off x="720000" y="1372320"/>
            <a:ext cx="1095840" cy="36720"/>
          </a:xfrm>
          <a:prstGeom prst="rect">
            <a:avLst/>
          </a:prstGeom>
          <a:solidFill>
            <a:srgbClr val="FF8A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9" name="TextBox 42"/>
          <p:cNvSpPr/>
          <p:nvPr/>
        </p:nvSpPr>
        <p:spPr>
          <a:xfrm>
            <a:off x="1029240" y="981720"/>
            <a:ext cx="10310040" cy="37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Box 49"/>
          <p:cNvSpPr/>
          <p:nvPr/>
        </p:nvSpPr>
        <p:spPr>
          <a:xfrm>
            <a:off x="2160360" y="8966160"/>
            <a:ext cx="15118920" cy="39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11" name="Group 24"/>
          <p:cNvGrpSpPr/>
          <p:nvPr/>
        </p:nvGrpSpPr>
        <p:grpSpPr>
          <a:xfrm>
            <a:off x="1029240" y="8925480"/>
            <a:ext cx="858600" cy="332280"/>
            <a:chOff x="1029240" y="8925480"/>
            <a:chExt cx="858600" cy="332280"/>
          </a:xfrm>
        </p:grpSpPr>
        <p:grpSp>
          <p:nvGrpSpPr>
            <p:cNvPr id="212" name="Group 25"/>
            <p:cNvGrpSpPr/>
            <p:nvPr/>
          </p:nvGrpSpPr>
          <p:grpSpPr>
            <a:xfrm>
              <a:off x="1029240" y="8925480"/>
              <a:ext cx="332280" cy="332280"/>
              <a:chOff x="1029240" y="8925480"/>
              <a:chExt cx="332280" cy="332280"/>
            </a:xfrm>
          </p:grpSpPr>
          <p:sp>
            <p:nvSpPr>
              <p:cNvPr id="213" name="Freeform 16"/>
              <p:cNvSpPr/>
              <p:nvPr/>
            </p:nvSpPr>
            <p:spPr>
              <a:xfrm>
                <a:off x="1029240" y="8925480"/>
                <a:ext cx="332280" cy="332280"/>
              </a:xfrm>
              <a:custGeom>
                <a:avLst/>
                <a:gdLst>
                  <a:gd name="textAreaLeft" fmla="*/ 0 w 332280"/>
                  <a:gd name="textAreaRight" fmla="*/ 333720 w 332280"/>
                  <a:gd name="textAreaTop" fmla="*/ 0 h 332280"/>
                  <a:gd name="textAreaBottom" fmla="*/ 333720 h 33228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tr-T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4" name="TextBox 50"/>
              <p:cNvSpPr/>
              <p:nvPr/>
            </p:nvSpPr>
            <p:spPr>
              <a:xfrm>
                <a:off x="1060200" y="8940960"/>
                <a:ext cx="269640" cy="285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tIns="50760" rIns="50760" bIns="5076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  <p:grpSp>
          <p:nvGrpSpPr>
            <p:cNvPr id="215" name="Group 28"/>
            <p:cNvGrpSpPr/>
            <p:nvPr/>
          </p:nvGrpSpPr>
          <p:grpSpPr>
            <a:xfrm>
              <a:off x="1555560" y="8925480"/>
              <a:ext cx="332280" cy="332280"/>
              <a:chOff x="1555560" y="8925480"/>
              <a:chExt cx="332280" cy="332280"/>
            </a:xfrm>
          </p:grpSpPr>
          <p:sp>
            <p:nvSpPr>
              <p:cNvPr id="216" name="Freeform 17"/>
              <p:cNvSpPr/>
              <p:nvPr/>
            </p:nvSpPr>
            <p:spPr>
              <a:xfrm>
                <a:off x="1555560" y="8925480"/>
                <a:ext cx="332280" cy="332280"/>
              </a:xfrm>
              <a:custGeom>
                <a:avLst/>
                <a:gdLst>
                  <a:gd name="textAreaLeft" fmla="*/ 0 w 332280"/>
                  <a:gd name="textAreaRight" fmla="*/ 333720 w 332280"/>
                  <a:gd name="textAreaTop" fmla="*/ 0 h 332280"/>
                  <a:gd name="textAreaBottom" fmla="*/ 333720 h 33228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tr-T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7" name="TextBox 51"/>
              <p:cNvSpPr/>
              <p:nvPr/>
            </p:nvSpPr>
            <p:spPr>
              <a:xfrm>
                <a:off x="1586880" y="8940960"/>
                <a:ext cx="269640" cy="285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tIns="50760" rIns="50760" bIns="5076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sp>
        <p:nvSpPr>
          <p:cNvPr id="218" name="Rectangle 18"/>
          <p:cNvSpPr/>
          <p:nvPr/>
        </p:nvSpPr>
        <p:spPr>
          <a:xfrm>
            <a:off x="720360" y="1372680"/>
            <a:ext cx="1095840" cy="36720"/>
          </a:xfrm>
          <a:prstGeom prst="rect">
            <a:avLst/>
          </a:prstGeom>
          <a:solidFill>
            <a:srgbClr val="FF8A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9" name="Rectangle 19"/>
          <p:cNvSpPr/>
          <p:nvPr/>
        </p:nvSpPr>
        <p:spPr>
          <a:xfrm>
            <a:off x="540360" y="1674360"/>
            <a:ext cx="2729880" cy="439200"/>
          </a:xfrm>
          <a:prstGeom prst="rect">
            <a:avLst/>
          </a:prstGeom>
          <a:solidFill>
            <a:srgbClr val="0B1E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NE YAPTIK ?</a:t>
            </a:r>
            <a:endParaRPr lang="tr-T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Box 52"/>
          <p:cNvSpPr/>
          <p:nvPr/>
        </p:nvSpPr>
        <p:spPr>
          <a:xfrm>
            <a:off x="518400" y="2474640"/>
            <a:ext cx="2540880" cy="19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2000" b="0" u="none" strike="noStrike">
                <a:solidFill>
                  <a:srgbClr val="1B1F27"/>
                </a:solidFill>
                <a:effectLst/>
                <a:uFillTx/>
                <a:latin typeface="Arial"/>
              </a:rPr>
              <a:t>▸  Ham veriyi birim dönüşümü yapılmış, etiketlenmiş, izi sürülebilir Parquet dosyalarına çeviriyoruz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Rectangle 20"/>
          <p:cNvSpPr/>
          <p:nvPr/>
        </p:nvSpPr>
        <p:spPr>
          <a:xfrm>
            <a:off x="3780360" y="1674000"/>
            <a:ext cx="2729880" cy="439560"/>
          </a:xfrm>
          <a:prstGeom prst="rect">
            <a:avLst/>
          </a:prstGeom>
          <a:solidFill>
            <a:srgbClr val="8C5A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NEDEN YAPTIK ?</a:t>
            </a:r>
            <a:endParaRPr lang="tr-T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Box 53"/>
          <p:cNvSpPr/>
          <p:nvPr/>
        </p:nvSpPr>
        <p:spPr>
          <a:xfrm>
            <a:off x="3600360" y="2520360"/>
            <a:ext cx="2878920" cy="350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2000" b="0" u="none" strike="noStrike">
                <a:solidFill>
                  <a:srgbClr val="1B1F27"/>
                </a:solidFill>
                <a:effectLst/>
                <a:uFillTx/>
                <a:latin typeface="Arial"/>
              </a:rPr>
              <a:t>▸  Görselleştirme/analiz feet, knots, fpm gibi karışık birimlerle değil, tek bir standart (metre, m/s) ile çalışmalı[1]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2000" b="0" u="none" strike="noStrike">
                <a:solidFill>
                  <a:srgbClr val="1B1F27"/>
                </a:solidFill>
                <a:effectLst/>
                <a:uFillTx/>
                <a:latin typeface="Arial"/>
              </a:rPr>
              <a:t>▸  Askeri/sivil ayrımı gibi etiketler bu aşamada çıkarılmazsa her sonraki katman aynı işi tekrar tekrar yapmak zorunda kalır.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Rectangle 23"/>
          <p:cNvSpPr/>
          <p:nvPr/>
        </p:nvSpPr>
        <p:spPr>
          <a:xfrm>
            <a:off x="7169400" y="1674720"/>
            <a:ext cx="2729880" cy="438840"/>
          </a:xfrm>
          <a:prstGeom prst="rect">
            <a:avLst/>
          </a:prstGeom>
          <a:solidFill>
            <a:srgbClr val="2F6F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NASIL YAPTIK ?</a:t>
            </a:r>
            <a:endParaRPr lang="tr-T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Box 54"/>
          <p:cNvSpPr/>
          <p:nvPr/>
        </p:nvSpPr>
        <p:spPr>
          <a:xfrm>
            <a:off x="6998400" y="2486880"/>
            <a:ext cx="2900880" cy="259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2000" b="0" u="none" strike="noStrike">
                <a:solidFill>
                  <a:srgbClr val="1B1F27"/>
                </a:solidFill>
                <a:effectLst/>
                <a:uFillTx/>
                <a:latin typeface="Arial"/>
              </a:rPr>
              <a:t>Her tar dosyası JSON'a açılıp trace satırları birim dönüşümünden geçiriliyor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2000" b="0" u="none" strike="noStrike">
                <a:solidFill>
                  <a:srgbClr val="1B1F27"/>
                </a:solidFill>
                <a:effectLst/>
                <a:uFillTx/>
                <a:latin typeface="Arial"/>
              </a:rPr>
              <a:t>▸  Kesinti/PC kapanması riskine karşı tar bazlı bir checkpoint sistemi ekledik 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"/>
          <p:cNvSpPr/>
          <p:nvPr/>
        </p:nvSpPr>
        <p:spPr>
          <a:xfrm>
            <a:off x="12600000" y="5534280"/>
            <a:ext cx="269892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600" b="0" u="none" spc="65" strike="noStrike">
                <a:solidFill>
                  <a:srgbClr val="000000"/>
                </a:solidFill>
                <a:effectLst/>
                <a:uFillTx/>
                <a:latin typeface="Arial"/>
                <a:ea typeface="Fira Sans"/>
              </a:rPr>
              <a:t>Şekil 1 - Dönüşümler  </a:t>
            </a:r>
            <a:endParaRPr lang="tr-T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Rectangle 24"/>
          <p:cNvSpPr/>
          <p:nvPr/>
        </p:nvSpPr>
        <p:spPr>
          <a:xfrm>
            <a:off x="10330920" y="1260000"/>
            <a:ext cx="6948000" cy="4159080"/>
          </a:xfrm>
          <a:prstGeom prst="rect">
            <a:avLst/>
          </a:prstGeom>
          <a:solidFill>
            <a:srgbClr val="1E1E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7" name="TextBox 55"/>
          <p:cNvSpPr/>
          <p:nvPr/>
        </p:nvSpPr>
        <p:spPr>
          <a:xfrm>
            <a:off x="10513800" y="1424520"/>
            <a:ext cx="6582240" cy="383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A9955"/>
                </a:solidFill>
                <a:effectLst/>
                <a:uFillTx/>
                <a:latin typeface="Consolas"/>
              </a:rPr>
              <a:t># src/silver/parse_adsblol_historical.py -- parse_trace_bytes()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is_military = bool(int(data.get("dbFlags", 0) or 0) &amp; 1)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A9955"/>
                </a:solidFill>
                <a:effectLst/>
                <a:uFillTx/>
                <a:latin typeface="Consolas"/>
              </a:rPr>
              <a:t># dbFlags bit'i dosya seviyesinde sabit, trace'in HER satirinda gecerli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for row in trace: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rec = dict(zip(TRACE_COLS, row[:14]))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alt_raw = rec["alt_raw"]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on_ground = alt_raw == "ground"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alt_m = None if (on_ground or alt_raw is None) else round(float(alt_raw)*0.3048, 1)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output_row = {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    "source_id": icao, "timestamp_utc": current_timestamp,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    "lat": rec["lat"], "lon": rec["lon"], "alt": alt_m,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    "on_ground": on_ground, "is_military": is_military,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    "ground_speed_ms": round(float(rec["gs"])*0.5144, 2) if rec["gs"] else None,   # knots-&gt;m/s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    "vertical_rate_ms": round(float(rec["vrate"])*0.00508, 3) if rec["vrate"] else None,  # fpm-&gt;m/s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A9955"/>
                </a:solidFill>
                <a:effectLst/>
                <a:uFillTx/>
                <a:latin typeface="Consolas"/>
              </a:rPr>
              <a:t>        # ... squawk, nic, category, adsb_version gibi provenance kolonlari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}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8" name=""/>
          <p:cNvPicPr/>
          <p:nvPr/>
        </p:nvPicPr>
        <p:blipFill>
          <a:blip r:embed="rId1"/>
          <a:stretch/>
        </p:blipFill>
        <p:spPr>
          <a:xfrm>
            <a:off x="6840000" y="6089400"/>
            <a:ext cx="11158920" cy="308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9" name=""/>
          <p:cNvSpPr/>
          <p:nvPr/>
        </p:nvSpPr>
        <p:spPr>
          <a:xfrm>
            <a:off x="11160000" y="9358200"/>
            <a:ext cx="34189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600" b="0" u="none" spc="65" strike="noStrike">
                <a:solidFill>
                  <a:srgbClr val="000000"/>
                </a:solidFill>
                <a:effectLst/>
                <a:uFillTx/>
                <a:latin typeface="Arial"/>
                <a:ea typeface="Fira Sans"/>
              </a:rPr>
              <a:t>Şekil 2 – Silver Data MinIO’da  </a:t>
            </a:r>
            <a:endParaRPr lang="tr-T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"/>
          <p:cNvSpPr/>
          <p:nvPr/>
        </p:nvSpPr>
        <p:spPr>
          <a:xfrm>
            <a:off x="720000" y="6660000"/>
            <a:ext cx="388656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tr-TR" sz="3200" b="1" u="none" strike="noStrike">
                <a:solidFill>
                  <a:srgbClr val="000000"/>
                </a:solidFill>
                <a:effectLst/>
                <a:uFillTx/>
                <a:latin typeface="Inter Medium"/>
                <a:ea typeface="Inter Medium"/>
              </a:rPr>
              <a:t>NEDEN PARQUET ?</a:t>
            </a:r>
            <a:endParaRPr lang="tr-T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"/>
          <p:cNvSpPr/>
          <p:nvPr/>
        </p:nvSpPr>
        <p:spPr>
          <a:xfrm>
            <a:off x="494640" y="7200000"/>
            <a:ext cx="5720040" cy="275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tr-T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Parquet sütun bazlı ve sıkıştırılmış olduğu için CSV/JSON'dan hem küçük hem hızlı, tip bilgisini de koruyor; üstelik bir veritabanı sunucusu gerektirmeden düz dosya olarak MinIO'da durabiliyor.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TextBox 56"/>
          <p:cNvSpPr/>
          <p:nvPr/>
        </p:nvSpPr>
        <p:spPr>
          <a:xfrm>
            <a:off x="1028880" y="981360"/>
            <a:ext cx="10310040" cy="37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940"/>
              </a:lnSpc>
            </a:pPr>
            <a:r>
              <a:rPr lang="tr-TR" sz="3200" b="1" u="none" strike="noStrike">
                <a:solidFill>
                  <a:srgbClr val="000000"/>
                </a:solidFill>
                <a:effectLst/>
                <a:uFillTx/>
                <a:latin typeface="Inter Medium"/>
                <a:ea typeface="Inter Medium"/>
              </a:rPr>
              <a:t>GOLD  - ORTAK ŞEMA</a:t>
            </a:r>
            <a:endParaRPr lang="tr-T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Box 57"/>
          <p:cNvSpPr/>
          <p:nvPr/>
        </p:nvSpPr>
        <p:spPr>
          <a:xfrm>
            <a:off x="2160000" y="8965800"/>
            <a:ext cx="15118920" cy="39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34" name="Group 29"/>
          <p:cNvGrpSpPr/>
          <p:nvPr/>
        </p:nvGrpSpPr>
        <p:grpSpPr>
          <a:xfrm>
            <a:off x="1028880" y="8925120"/>
            <a:ext cx="858600" cy="332280"/>
            <a:chOff x="1028880" y="8925120"/>
            <a:chExt cx="858600" cy="332280"/>
          </a:xfrm>
        </p:grpSpPr>
        <p:grpSp>
          <p:nvGrpSpPr>
            <p:cNvPr id="235" name="Group 30"/>
            <p:cNvGrpSpPr/>
            <p:nvPr/>
          </p:nvGrpSpPr>
          <p:grpSpPr>
            <a:xfrm>
              <a:off x="1028880" y="8925120"/>
              <a:ext cx="332280" cy="332280"/>
              <a:chOff x="1028880" y="8925120"/>
              <a:chExt cx="332280" cy="332280"/>
            </a:xfrm>
          </p:grpSpPr>
          <p:sp>
            <p:nvSpPr>
              <p:cNvPr id="236" name="Freeform 18"/>
              <p:cNvSpPr/>
              <p:nvPr/>
            </p:nvSpPr>
            <p:spPr>
              <a:xfrm>
                <a:off x="1028880" y="8925120"/>
                <a:ext cx="332280" cy="332280"/>
              </a:xfrm>
              <a:custGeom>
                <a:avLst/>
                <a:gdLst>
                  <a:gd name="textAreaLeft" fmla="*/ 0 w 332280"/>
                  <a:gd name="textAreaRight" fmla="*/ 333720 w 332280"/>
                  <a:gd name="textAreaTop" fmla="*/ 0 h 332280"/>
                  <a:gd name="textAreaBottom" fmla="*/ 333720 h 33228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tr-T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7" name="TextBox 58"/>
              <p:cNvSpPr/>
              <p:nvPr/>
            </p:nvSpPr>
            <p:spPr>
              <a:xfrm>
                <a:off x="1059840" y="8940600"/>
                <a:ext cx="269640" cy="285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tIns="50760" rIns="50760" bIns="5076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  <p:grpSp>
          <p:nvGrpSpPr>
            <p:cNvPr id="238" name="Group 31"/>
            <p:cNvGrpSpPr/>
            <p:nvPr/>
          </p:nvGrpSpPr>
          <p:grpSpPr>
            <a:xfrm>
              <a:off x="1555200" y="8925120"/>
              <a:ext cx="332280" cy="332280"/>
              <a:chOff x="1555200" y="8925120"/>
              <a:chExt cx="332280" cy="332280"/>
            </a:xfrm>
          </p:grpSpPr>
          <p:sp>
            <p:nvSpPr>
              <p:cNvPr id="239" name="Freeform 20"/>
              <p:cNvSpPr/>
              <p:nvPr/>
            </p:nvSpPr>
            <p:spPr>
              <a:xfrm>
                <a:off x="1555200" y="8925120"/>
                <a:ext cx="332280" cy="332280"/>
              </a:xfrm>
              <a:custGeom>
                <a:avLst/>
                <a:gdLst>
                  <a:gd name="textAreaLeft" fmla="*/ 0 w 332280"/>
                  <a:gd name="textAreaRight" fmla="*/ 333720 w 332280"/>
                  <a:gd name="textAreaTop" fmla="*/ 0 h 332280"/>
                  <a:gd name="textAreaBottom" fmla="*/ 333720 h 33228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tr-T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0" name="TextBox 59"/>
              <p:cNvSpPr/>
              <p:nvPr/>
            </p:nvSpPr>
            <p:spPr>
              <a:xfrm>
                <a:off x="1586520" y="8940600"/>
                <a:ext cx="269640" cy="285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tIns="50760" rIns="50760" bIns="5076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sp>
        <p:nvSpPr>
          <p:cNvPr id="241" name="Rectangle 25"/>
          <p:cNvSpPr/>
          <p:nvPr/>
        </p:nvSpPr>
        <p:spPr>
          <a:xfrm>
            <a:off x="720000" y="1372320"/>
            <a:ext cx="1095840" cy="36720"/>
          </a:xfrm>
          <a:prstGeom prst="rect">
            <a:avLst/>
          </a:prstGeom>
          <a:solidFill>
            <a:srgbClr val="FF8A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2" name="TextBox 60"/>
          <p:cNvSpPr/>
          <p:nvPr/>
        </p:nvSpPr>
        <p:spPr>
          <a:xfrm>
            <a:off x="1029240" y="981720"/>
            <a:ext cx="10310040" cy="37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Box 61"/>
          <p:cNvSpPr/>
          <p:nvPr/>
        </p:nvSpPr>
        <p:spPr>
          <a:xfrm>
            <a:off x="2160360" y="8966160"/>
            <a:ext cx="15118920" cy="39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44" name="Group 32"/>
          <p:cNvGrpSpPr/>
          <p:nvPr/>
        </p:nvGrpSpPr>
        <p:grpSpPr>
          <a:xfrm>
            <a:off x="1029240" y="8925480"/>
            <a:ext cx="858600" cy="332280"/>
            <a:chOff x="1029240" y="8925480"/>
            <a:chExt cx="858600" cy="332280"/>
          </a:xfrm>
        </p:grpSpPr>
        <p:grpSp>
          <p:nvGrpSpPr>
            <p:cNvPr id="245" name="Group 33"/>
            <p:cNvGrpSpPr/>
            <p:nvPr/>
          </p:nvGrpSpPr>
          <p:grpSpPr>
            <a:xfrm>
              <a:off x="1029240" y="8925480"/>
              <a:ext cx="332280" cy="332280"/>
              <a:chOff x="1029240" y="8925480"/>
              <a:chExt cx="332280" cy="332280"/>
            </a:xfrm>
          </p:grpSpPr>
          <p:sp>
            <p:nvSpPr>
              <p:cNvPr id="246" name="Freeform 23"/>
              <p:cNvSpPr/>
              <p:nvPr/>
            </p:nvSpPr>
            <p:spPr>
              <a:xfrm>
                <a:off x="1029240" y="8925480"/>
                <a:ext cx="332280" cy="332280"/>
              </a:xfrm>
              <a:custGeom>
                <a:avLst/>
                <a:gdLst>
                  <a:gd name="textAreaLeft" fmla="*/ 0 w 332280"/>
                  <a:gd name="textAreaRight" fmla="*/ 333720 w 332280"/>
                  <a:gd name="textAreaTop" fmla="*/ 0 h 332280"/>
                  <a:gd name="textAreaBottom" fmla="*/ 333720 h 33228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tr-T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7" name="TextBox 62"/>
              <p:cNvSpPr/>
              <p:nvPr/>
            </p:nvSpPr>
            <p:spPr>
              <a:xfrm>
                <a:off x="1060200" y="8940960"/>
                <a:ext cx="269640" cy="285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tIns="50760" rIns="50760" bIns="5076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  <p:grpSp>
          <p:nvGrpSpPr>
            <p:cNvPr id="248" name="Group 34"/>
            <p:cNvGrpSpPr/>
            <p:nvPr/>
          </p:nvGrpSpPr>
          <p:grpSpPr>
            <a:xfrm>
              <a:off x="1555560" y="8925480"/>
              <a:ext cx="332280" cy="332280"/>
              <a:chOff x="1555560" y="8925480"/>
              <a:chExt cx="332280" cy="332280"/>
            </a:xfrm>
          </p:grpSpPr>
          <p:sp>
            <p:nvSpPr>
              <p:cNvPr id="249" name="Freeform 24"/>
              <p:cNvSpPr/>
              <p:nvPr/>
            </p:nvSpPr>
            <p:spPr>
              <a:xfrm>
                <a:off x="1555560" y="8925480"/>
                <a:ext cx="332280" cy="332280"/>
              </a:xfrm>
              <a:custGeom>
                <a:avLst/>
                <a:gdLst>
                  <a:gd name="textAreaLeft" fmla="*/ 0 w 332280"/>
                  <a:gd name="textAreaRight" fmla="*/ 333720 w 332280"/>
                  <a:gd name="textAreaTop" fmla="*/ 0 h 332280"/>
                  <a:gd name="textAreaBottom" fmla="*/ 333720 h 33228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tr-T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0" name="TextBox 63"/>
              <p:cNvSpPr/>
              <p:nvPr/>
            </p:nvSpPr>
            <p:spPr>
              <a:xfrm>
                <a:off x="1586880" y="8940960"/>
                <a:ext cx="269640" cy="285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tIns="50760" rIns="50760" bIns="5076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sp>
        <p:nvSpPr>
          <p:cNvPr id="251" name="Rectangle 26"/>
          <p:cNvSpPr/>
          <p:nvPr/>
        </p:nvSpPr>
        <p:spPr>
          <a:xfrm>
            <a:off x="720360" y="1372680"/>
            <a:ext cx="1095840" cy="36720"/>
          </a:xfrm>
          <a:prstGeom prst="rect">
            <a:avLst/>
          </a:prstGeom>
          <a:solidFill>
            <a:srgbClr val="FF8A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2" name="Rectangle 27"/>
          <p:cNvSpPr/>
          <p:nvPr/>
        </p:nvSpPr>
        <p:spPr>
          <a:xfrm>
            <a:off x="540360" y="1674360"/>
            <a:ext cx="2729880" cy="439200"/>
          </a:xfrm>
          <a:prstGeom prst="rect">
            <a:avLst/>
          </a:prstGeom>
          <a:solidFill>
            <a:srgbClr val="0B1E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NE YAPTIK ?</a:t>
            </a:r>
            <a:endParaRPr lang="tr-T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Box 64"/>
          <p:cNvSpPr/>
          <p:nvPr/>
        </p:nvSpPr>
        <p:spPr>
          <a:xfrm>
            <a:off x="540000" y="2260080"/>
            <a:ext cx="2540880" cy="252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2000" b="0" u="none" strike="noStrike">
                <a:solidFill>
                  <a:srgbClr val="1B1F27"/>
                </a:solidFill>
                <a:effectLst/>
                <a:uFillTx/>
                <a:latin typeface="Arial"/>
              </a:rPr>
              <a:t>▸  adsb.lol tarihsel,    adsb.lol gerçek   zamanlı, OpenSKY gerçek zamanlı, ALFA ve UAV Attack'i tek, ortak 7+3 kolonluk şemaya hizalıyoruz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Rectangle 28"/>
          <p:cNvSpPr/>
          <p:nvPr/>
        </p:nvSpPr>
        <p:spPr>
          <a:xfrm>
            <a:off x="3780360" y="1674000"/>
            <a:ext cx="2729880" cy="439560"/>
          </a:xfrm>
          <a:prstGeom prst="rect">
            <a:avLst/>
          </a:prstGeom>
          <a:solidFill>
            <a:srgbClr val="8C5A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NEDEN YAPTIK ?</a:t>
            </a:r>
            <a:endParaRPr lang="tr-T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Box 65"/>
          <p:cNvSpPr/>
          <p:nvPr/>
        </p:nvSpPr>
        <p:spPr>
          <a:xfrm>
            <a:off x="3621960" y="2307240"/>
            <a:ext cx="3238560" cy="38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2000" b="0" u="none" strike="noStrike">
                <a:solidFill>
                  <a:srgbClr val="1B1F27"/>
                </a:solidFill>
                <a:effectLst/>
                <a:uFillTx/>
                <a:latin typeface="Arial"/>
              </a:rPr>
              <a:t>▸Görselleştirme/dashboard/export tek bir şemaya bakmak istiyor. </a:t>
            </a:r>
            <a:br>
              <a:rPr sz="2000"/>
            </a:br>
            <a:r>
              <a:rPr lang="en-US" sz="2000" b="0" u="none" strike="noStrike">
                <a:solidFill>
                  <a:srgbClr val="1B1F27"/>
                </a:solidFill>
                <a:effectLst/>
                <a:uFillTx/>
                <a:latin typeface="Arial"/>
              </a:rPr>
              <a:t>4 farklı kaynağın 4 farklı kolon adını (ör. 'vel' vs 'velocity_') bilmesine gerek kalmıyor [1]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2000" b="0" u="none" strike="noStrike">
                <a:solidFill>
                  <a:srgbClr val="1B1F27"/>
                </a:solidFill>
                <a:effectLst/>
                <a:uFillTx/>
                <a:latin typeface="Arial"/>
              </a:rPr>
              <a:t>▸  İlk versiyonda çift-sayım bug'ı vardı: tekrar çalıştırmada veri katlanıyordu, eski çıktıyı silmeden yeni yazıyordu.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Rectangle 29"/>
          <p:cNvSpPr/>
          <p:nvPr/>
        </p:nvSpPr>
        <p:spPr>
          <a:xfrm>
            <a:off x="7169400" y="1674720"/>
            <a:ext cx="2729880" cy="438840"/>
          </a:xfrm>
          <a:prstGeom prst="rect">
            <a:avLst/>
          </a:prstGeom>
          <a:solidFill>
            <a:srgbClr val="2F6F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NASIL YAPTIK ?</a:t>
            </a:r>
            <a:endParaRPr lang="tr-T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Box 66"/>
          <p:cNvSpPr/>
          <p:nvPr/>
        </p:nvSpPr>
        <p:spPr>
          <a:xfrm>
            <a:off x="7020000" y="2272680"/>
            <a:ext cx="3240000" cy="448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000" b="0" u="none" strike="noStrike">
                <a:solidFill>
                  <a:srgbClr val="1B1F27"/>
                </a:solidFill>
                <a:effectLst/>
                <a:uFillTx/>
                <a:latin typeface="Arial"/>
              </a:rPr>
              <a:t>▸ stream_unify(): eski Gold çıktısını tamamen silip her Silver parçasını tek tek okuyup hemen Gold'a yazar (RAM'e toplu yüklemeden),  istenirse sadece tek bir kaynağı hedefleyip diğerlerine hiç dokunmadan da çalışabiliyor. 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2000" b="0" u="none" strike="noStrike">
                <a:solidFill>
                  <a:srgbClr val="1B1F27"/>
                </a:solidFill>
                <a:effectLst/>
                <a:uFillTx/>
                <a:latin typeface="Arial"/>
              </a:rPr>
              <a:t>▸  Çift sayım bug'ı düzeltilip bir daha geri gelmesin diye özel regresyon testi eklendi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"/>
          <p:cNvSpPr/>
          <p:nvPr/>
        </p:nvSpPr>
        <p:spPr>
          <a:xfrm>
            <a:off x="12060000" y="5534280"/>
            <a:ext cx="3779280" cy="8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600" b="0" u="none" spc="65" strike="noStrike">
                <a:solidFill>
                  <a:srgbClr val="000000"/>
                </a:solidFill>
                <a:effectLst/>
                <a:uFillTx/>
                <a:latin typeface="Arial"/>
                <a:ea typeface="Fira Sans"/>
              </a:rPr>
              <a:t>Şekil 1 – Birleştirme işlemi (unify.py)  </a:t>
            </a:r>
            <a:endParaRPr lang="tr-T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"/>
          <p:cNvSpPr/>
          <p:nvPr/>
        </p:nvSpPr>
        <p:spPr>
          <a:xfrm>
            <a:off x="11340000" y="9566640"/>
            <a:ext cx="34189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600" b="0" u="none" spc="65" strike="noStrike">
                <a:solidFill>
                  <a:srgbClr val="000000"/>
                </a:solidFill>
                <a:effectLst/>
                <a:uFillTx/>
                <a:latin typeface="Arial"/>
                <a:ea typeface="Fira Sans"/>
              </a:rPr>
              <a:t>Şekil 2 – Gold Data MinIO’da  </a:t>
            </a:r>
            <a:endParaRPr lang="tr-T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Rectangle 30"/>
          <p:cNvSpPr/>
          <p:nvPr/>
        </p:nvSpPr>
        <p:spPr>
          <a:xfrm>
            <a:off x="10330920" y="1260000"/>
            <a:ext cx="6948000" cy="4159080"/>
          </a:xfrm>
          <a:prstGeom prst="rect">
            <a:avLst/>
          </a:prstGeom>
          <a:solidFill>
            <a:srgbClr val="1E1E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1" name="TextBox 67"/>
          <p:cNvSpPr/>
          <p:nvPr/>
        </p:nvSpPr>
        <p:spPr>
          <a:xfrm>
            <a:off x="10513800" y="1424520"/>
            <a:ext cx="6582240" cy="383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A9955"/>
                </a:solidFill>
                <a:effectLst/>
                <a:uFillTx/>
                <a:latin typeface="Consolas"/>
              </a:rPr>
              <a:t># src/gold/unify.py -- her kaynagin kendi kolon adini Gold'a esler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COLUMN_MAPS = {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"adsblol_historical": {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 "velocity_mps": "ground_speed_ms", "heading_deg": "track_deg",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 "is_military": "is_military", ... },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"alfa": {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 "velocity_mps": "velocity_measured", "heading_deg": "yaw_measured",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 "is_military": None,  # adsb.lol disi kaynak -- dbFlags yok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 ... },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}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def _apply_column_map(df, mapping):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out = pd.DataFrame(index=df.index)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for gold_col in GOLD_COLUMNS: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    silver_col = mapping.get(gold_col)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    out[gold_col] = df[silver_col] if silver_col in df.columns else None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return out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2" name=""/>
          <p:cNvPicPr/>
          <p:nvPr/>
        </p:nvPicPr>
        <p:blipFill>
          <a:blip r:embed="rId1"/>
          <a:stretch/>
        </p:blipFill>
        <p:spPr>
          <a:xfrm>
            <a:off x="7920000" y="6780600"/>
            <a:ext cx="9900000" cy="2722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TextBox 68"/>
          <p:cNvSpPr/>
          <p:nvPr/>
        </p:nvSpPr>
        <p:spPr>
          <a:xfrm>
            <a:off x="1028880" y="981720"/>
            <a:ext cx="10310040" cy="37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940"/>
              </a:lnSpc>
            </a:pPr>
            <a:r>
              <a:rPr lang="tr-TR" sz="3200" b="1" u="none" strike="noStrike">
                <a:solidFill>
                  <a:srgbClr val="000000"/>
                </a:solidFill>
                <a:effectLst/>
                <a:uFillTx/>
                <a:latin typeface="Inter Medium"/>
                <a:ea typeface="Inter Medium"/>
              </a:rPr>
              <a:t>UÇTAN UCA AKIŞ: RAW DATA -&gt; GOLD</a:t>
            </a:r>
            <a:endParaRPr lang="tr-T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Box 69"/>
          <p:cNvSpPr/>
          <p:nvPr/>
        </p:nvSpPr>
        <p:spPr>
          <a:xfrm>
            <a:off x="2160000" y="8966160"/>
            <a:ext cx="15118920" cy="39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65" name="Group 35"/>
          <p:cNvGrpSpPr/>
          <p:nvPr/>
        </p:nvGrpSpPr>
        <p:grpSpPr>
          <a:xfrm>
            <a:off x="1028880" y="8925480"/>
            <a:ext cx="858600" cy="332280"/>
            <a:chOff x="1028880" y="8925480"/>
            <a:chExt cx="858600" cy="332280"/>
          </a:xfrm>
        </p:grpSpPr>
        <p:grpSp>
          <p:nvGrpSpPr>
            <p:cNvPr id="266" name="Group 36"/>
            <p:cNvGrpSpPr/>
            <p:nvPr/>
          </p:nvGrpSpPr>
          <p:grpSpPr>
            <a:xfrm>
              <a:off x="1028880" y="8925480"/>
              <a:ext cx="332280" cy="332280"/>
              <a:chOff x="1028880" y="8925480"/>
              <a:chExt cx="332280" cy="332280"/>
            </a:xfrm>
          </p:grpSpPr>
          <p:sp>
            <p:nvSpPr>
              <p:cNvPr id="267" name="Freeform 25"/>
              <p:cNvSpPr/>
              <p:nvPr/>
            </p:nvSpPr>
            <p:spPr>
              <a:xfrm>
                <a:off x="1028880" y="8925480"/>
                <a:ext cx="332280" cy="332280"/>
              </a:xfrm>
              <a:custGeom>
                <a:avLst/>
                <a:gdLst>
                  <a:gd name="textAreaLeft" fmla="*/ 0 w 332280"/>
                  <a:gd name="textAreaRight" fmla="*/ 333720 w 332280"/>
                  <a:gd name="textAreaTop" fmla="*/ 0 h 332280"/>
                  <a:gd name="textAreaBottom" fmla="*/ 333720 h 33228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tr-T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8" name="TextBox 70"/>
              <p:cNvSpPr/>
              <p:nvPr/>
            </p:nvSpPr>
            <p:spPr>
              <a:xfrm>
                <a:off x="1059840" y="8940960"/>
                <a:ext cx="269640" cy="285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tIns="50760" rIns="50760" bIns="5076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  <p:grpSp>
          <p:nvGrpSpPr>
            <p:cNvPr id="269" name="Group 37"/>
            <p:cNvGrpSpPr/>
            <p:nvPr/>
          </p:nvGrpSpPr>
          <p:grpSpPr>
            <a:xfrm>
              <a:off x="1555200" y="8925480"/>
              <a:ext cx="332280" cy="332280"/>
              <a:chOff x="1555200" y="8925480"/>
              <a:chExt cx="332280" cy="332280"/>
            </a:xfrm>
          </p:grpSpPr>
          <p:sp>
            <p:nvSpPr>
              <p:cNvPr id="270" name="Freeform 26"/>
              <p:cNvSpPr/>
              <p:nvPr/>
            </p:nvSpPr>
            <p:spPr>
              <a:xfrm>
                <a:off x="1555200" y="8925480"/>
                <a:ext cx="332280" cy="332280"/>
              </a:xfrm>
              <a:custGeom>
                <a:avLst/>
                <a:gdLst>
                  <a:gd name="textAreaLeft" fmla="*/ 0 w 332280"/>
                  <a:gd name="textAreaRight" fmla="*/ 333720 w 332280"/>
                  <a:gd name="textAreaTop" fmla="*/ 0 h 332280"/>
                  <a:gd name="textAreaBottom" fmla="*/ 333720 h 33228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tr-T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1" name="TextBox 71"/>
              <p:cNvSpPr/>
              <p:nvPr/>
            </p:nvSpPr>
            <p:spPr>
              <a:xfrm>
                <a:off x="1586520" y="8940960"/>
                <a:ext cx="269640" cy="285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tIns="50760" rIns="50760" bIns="5076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sp>
        <p:nvSpPr>
          <p:cNvPr id="272" name="Rectangle 31"/>
          <p:cNvSpPr/>
          <p:nvPr/>
        </p:nvSpPr>
        <p:spPr>
          <a:xfrm>
            <a:off x="720000" y="1372680"/>
            <a:ext cx="1095840" cy="36720"/>
          </a:xfrm>
          <a:prstGeom prst="rect">
            <a:avLst/>
          </a:prstGeom>
          <a:solidFill>
            <a:srgbClr val="FF8A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3" name="TextBox 72"/>
          <p:cNvSpPr/>
          <p:nvPr/>
        </p:nvSpPr>
        <p:spPr>
          <a:xfrm>
            <a:off x="1029240" y="982080"/>
            <a:ext cx="10310040" cy="37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Box 73"/>
          <p:cNvSpPr/>
          <p:nvPr/>
        </p:nvSpPr>
        <p:spPr>
          <a:xfrm>
            <a:off x="2160360" y="8966520"/>
            <a:ext cx="15118920" cy="39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75" name="Group 38"/>
          <p:cNvGrpSpPr/>
          <p:nvPr/>
        </p:nvGrpSpPr>
        <p:grpSpPr>
          <a:xfrm>
            <a:off x="1029240" y="8925840"/>
            <a:ext cx="858600" cy="332280"/>
            <a:chOff x="1029240" y="8925840"/>
            <a:chExt cx="858600" cy="332280"/>
          </a:xfrm>
        </p:grpSpPr>
        <p:grpSp>
          <p:nvGrpSpPr>
            <p:cNvPr id="276" name="Group 39"/>
            <p:cNvGrpSpPr/>
            <p:nvPr/>
          </p:nvGrpSpPr>
          <p:grpSpPr>
            <a:xfrm>
              <a:off x="1029240" y="8925840"/>
              <a:ext cx="332280" cy="332280"/>
              <a:chOff x="1029240" y="8925840"/>
              <a:chExt cx="332280" cy="332280"/>
            </a:xfrm>
          </p:grpSpPr>
          <p:sp>
            <p:nvSpPr>
              <p:cNvPr id="277" name="Freeform 27"/>
              <p:cNvSpPr/>
              <p:nvPr/>
            </p:nvSpPr>
            <p:spPr>
              <a:xfrm>
                <a:off x="1029240" y="8925840"/>
                <a:ext cx="332280" cy="332280"/>
              </a:xfrm>
              <a:custGeom>
                <a:avLst/>
                <a:gdLst>
                  <a:gd name="textAreaLeft" fmla="*/ 0 w 332280"/>
                  <a:gd name="textAreaRight" fmla="*/ 333720 w 332280"/>
                  <a:gd name="textAreaTop" fmla="*/ 0 h 332280"/>
                  <a:gd name="textAreaBottom" fmla="*/ 333720 h 33228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tr-T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8" name="TextBox 74"/>
              <p:cNvSpPr/>
              <p:nvPr/>
            </p:nvSpPr>
            <p:spPr>
              <a:xfrm>
                <a:off x="1060200" y="8941320"/>
                <a:ext cx="269640" cy="285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tIns="50760" rIns="50760" bIns="5076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  <p:grpSp>
          <p:nvGrpSpPr>
            <p:cNvPr id="279" name="Group 40"/>
            <p:cNvGrpSpPr/>
            <p:nvPr/>
          </p:nvGrpSpPr>
          <p:grpSpPr>
            <a:xfrm>
              <a:off x="1555560" y="8925840"/>
              <a:ext cx="332280" cy="332280"/>
              <a:chOff x="1555560" y="8925840"/>
              <a:chExt cx="332280" cy="332280"/>
            </a:xfrm>
          </p:grpSpPr>
          <p:sp>
            <p:nvSpPr>
              <p:cNvPr id="280" name="Freeform 29"/>
              <p:cNvSpPr/>
              <p:nvPr/>
            </p:nvSpPr>
            <p:spPr>
              <a:xfrm>
                <a:off x="1555560" y="8925840"/>
                <a:ext cx="332280" cy="332280"/>
              </a:xfrm>
              <a:custGeom>
                <a:avLst/>
                <a:gdLst>
                  <a:gd name="textAreaLeft" fmla="*/ 0 w 332280"/>
                  <a:gd name="textAreaRight" fmla="*/ 333720 w 332280"/>
                  <a:gd name="textAreaTop" fmla="*/ 0 h 332280"/>
                  <a:gd name="textAreaBottom" fmla="*/ 333720 h 33228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tr-T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1" name="TextBox 75"/>
              <p:cNvSpPr/>
              <p:nvPr/>
            </p:nvSpPr>
            <p:spPr>
              <a:xfrm>
                <a:off x="1586880" y="8941320"/>
                <a:ext cx="269640" cy="285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tIns="50760" rIns="50760" bIns="5076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sp>
        <p:nvSpPr>
          <p:cNvPr id="282" name="Rectangle 32"/>
          <p:cNvSpPr/>
          <p:nvPr/>
        </p:nvSpPr>
        <p:spPr>
          <a:xfrm>
            <a:off x="720360" y="1373040"/>
            <a:ext cx="1095840" cy="36720"/>
          </a:xfrm>
          <a:prstGeom prst="rect">
            <a:avLst/>
          </a:prstGeom>
          <a:solidFill>
            <a:srgbClr val="FF8A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83" name=""/>
          <p:cNvPicPr/>
          <p:nvPr/>
        </p:nvPicPr>
        <p:blipFill>
          <a:blip r:embed="rId1"/>
          <a:stretch/>
        </p:blipFill>
        <p:spPr>
          <a:xfrm>
            <a:off x="857160" y="2429280"/>
            <a:ext cx="15465600" cy="423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4" name="Group 41"/>
          <p:cNvGrpSpPr/>
          <p:nvPr/>
        </p:nvGrpSpPr>
        <p:grpSpPr>
          <a:xfrm>
            <a:off x="1028880" y="8925120"/>
            <a:ext cx="858600" cy="332280"/>
            <a:chOff x="1028880" y="8925120"/>
            <a:chExt cx="858600" cy="332280"/>
          </a:xfrm>
        </p:grpSpPr>
        <p:grpSp>
          <p:nvGrpSpPr>
            <p:cNvPr id="285" name="Group 42"/>
            <p:cNvGrpSpPr/>
            <p:nvPr/>
          </p:nvGrpSpPr>
          <p:grpSpPr>
            <a:xfrm>
              <a:off x="1028880" y="8925120"/>
              <a:ext cx="332280" cy="332280"/>
              <a:chOff x="1028880" y="8925120"/>
              <a:chExt cx="332280" cy="332280"/>
            </a:xfrm>
          </p:grpSpPr>
          <p:sp>
            <p:nvSpPr>
              <p:cNvPr id="286" name="Freeform 30"/>
              <p:cNvSpPr/>
              <p:nvPr/>
            </p:nvSpPr>
            <p:spPr>
              <a:xfrm>
                <a:off x="1028880" y="8925120"/>
                <a:ext cx="332280" cy="332280"/>
              </a:xfrm>
              <a:custGeom>
                <a:avLst/>
                <a:gdLst>
                  <a:gd name="textAreaLeft" fmla="*/ 0 w 332280"/>
                  <a:gd name="textAreaRight" fmla="*/ 333720 w 332280"/>
                  <a:gd name="textAreaTop" fmla="*/ 0 h 332280"/>
                  <a:gd name="textAreaBottom" fmla="*/ 333720 h 33228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tr-T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7" name="TextBox 77"/>
              <p:cNvSpPr/>
              <p:nvPr/>
            </p:nvSpPr>
            <p:spPr>
              <a:xfrm>
                <a:off x="1059840" y="8940600"/>
                <a:ext cx="269640" cy="285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tIns="50760" rIns="50760" bIns="5076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  <p:grpSp>
          <p:nvGrpSpPr>
            <p:cNvPr id="288" name="Group 43"/>
            <p:cNvGrpSpPr/>
            <p:nvPr/>
          </p:nvGrpSpPr>
          <p:grpSpPr>
            <a:xfrm>
              <a:off x="1555200" y="8925120"/>
              <a:ext cx="332280" cy="332280"/>
              <a:chOff x="1555200" y="8925120"/>
              <a:chExt cx="332280" cy="332280"/>
            </a:xfrm>
          </p:grpSpPr>
          <p:sp>
            <p:nvSpPr>
              <p:cNvPr id="289" name="Freeform 31"/>
              <p:cNvSpPr/>
              <p:nvPr/>
            </p:nvSpPr>
            <p:spPr>
              <a:xfrm>
                <a:off x="1555200" y="8925120"/>
                <a:ext cx="332280" cy="332280"/>
              </a:xfrm>
              <a:custGeom>
                <a:avLst/>
                <a:gdLst>
                  <a:gd name="textAreaLeft" fmla="*/ 0 w 332280"/>
                  <a:gd name="textAreaRight" fmla="*/ 333720 w 332280"/>
                  <a:gd name="textAreaTop" fmla="*/ 0 h 332280"/>
                  <a:gd name="textAreaBottom" fmla="*/ 333720 h 33228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tr-T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0" name="TextBox 78"/>
              <p:cNvSpPr/>
              <p:nvPr/>
            </p:nvSpPr>
            <p:spPr>
              <a:xfrm>
                <a:off x="1586520" y="8940600"/>
                <a:ext cx="269640" cy="285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tIns="50760" rIns="50760" bIns="5076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sp>
        <p:nvSpPr>
          <p:cNvPr id="291" name="TextBox 79"/>
          <p:cNvSpPr/>
          <p:nvPr/>
        </p:nvSpPr>
        <p:spPr>
          <a:xfrm>
            <a:off x="1028880" y="2095920"/>
            <a:ext cx="10704600" cy="95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Box 80"/>
          <p:cNvSpPr/>
          <p:nvPr/>
        </p:nvSpPr>
        <p:spPr>
          <a:xfrm>
            <a:off x="1028880" y="981360"/>
            <a:ext cx="6170400" cy="37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940"/>
              </a:lnSpc>
            </a:pPr>
            <a:r>
              <a:rPr lang="tr-TR" sz="3200" b="1" u="none" strike="noStrike">
                <a:solidFill>
                  <a:srgbClr val="000000"/>
                </a:solidFill>
                <a:effectLst/>
                <a:uFillTx/>
                <a:latin typeface="Inter Medium"/>
                <a:ea typeface="Inter Medium"/>
              </a:rPr>
              <a:t>2) GERÇEK ZAMANLI AKIŞ</a:t>
            </a:r>
            <a:endParaRPr lang="tr-T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Box 81"/>
          <p:cNvSpPr/>
          <p:nvPr/>
        </p:nvSpPr>
        <p:spPr>
          <a:xfrm>
            <a:off x="5940360" y="2000520"/>
            <a:ext cx="953892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2000" b="0" u="none" strike="noStrike">
                <a:solidFill>
                  <a:srgbClr val="1B1F27"/>
                </a:solidFill>
                <a:effectLst/>
                <a:uFillTx/>
                <a:latin typeface="Arial"/>
              </a:rPr>
              <a:t>▸  adsb.lol'ün canlı rest feed'ini sürekli okuyup hem anlık dashboard'u besliyor hem ham veriyi günlük olarak .parquet şeklinde Silver’da arşivliyoruz.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Rectangle 33"/>
          <p:cNvSpPr/>
          <p:nvPr/>
        </p:nvSpPr>
        <p:spPr>
          <a:xfrm>
            <a:off x="1800000" y="4140360"/>
            <a:ext cx="3138480" cy="718920"/>
          </a:xfrm>
          <a:prstGeom prst="rect">
            <a:avLst/>
          </a:prstGeom>
          <a:solidFill>
            <a:srgbClr val="8C5A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NEDEN YAPTIK ?</a:t>
            </a:r>
            <a:endParaRPr lang="tr-T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Box 82"/>
          <p:cNvSpPr/>
          <p:nvPr/>
        </p:nvSpPr>
        <p:spPr>
          <a:xfrm>
            <a:off x="5899680" y="3847320"/>
            <a:ext cx="9759600" cy="137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2000" b="0" u="none" strike="noStrike">
                <a:solidFill>
                  <a:srgbClr val="1B1F27"/>
                </a:solidFill>
                <a:effectLst/>
                <a:uFillTx/>
                <a:latin typeface="Arial"/>
              </a:rPr>
              <a:t>▸  Kafka: tek üreticiden gelen veriyi birden fazla bağımsız tüketiciye dağıtmak için, dashboard ve arşivleme birbirinden etkilenmemeli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2000" b="0" u="none" strike="noStrike">
                <a:solidFill>
                  <a:srgbClr val="1B1F27"/>
                </a:solidFill>
                <a:effectLst/>
                <a:uFillTx/>
                <a:latin typeface="Arial"/>
              </a:rPr>
              <a:t>▸  İki ayrı consumer (aynı topic, farklı group.id): biri çökerse/yavaşlarsa diğeri etkilenmez (Separation of Concerns)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Box 83"/>
          <p:cNvSpPr/>
          <p:nvPr/>
        </p:nvSpPr>
        <p:spPr>
          <a:xfrm>
            <a:off x="5899320" y="6492240"/>
            <a:ext cx="9399600" cy="10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2000" b="0" u="none" strike="noStrike">
                <a:solidFill>
                  <a:srgbClr val="1B1F27"/>
                </a:solidFill>
                <a:effectLst/>
                <a:uFillTx/>
                <a:latin typeface="Arial"/>
              </a:rPr>
              <a:t>▸  uav_producer.py tüm dünyayı sorgulayıp Kafka'ya yazıyor.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2000" b="0" u="none" strike="noStrike">
                <a:solidFill>
                  <a:srgbClr val="1B1F27"/>
                </a:solidFill>
                <a:effectLst/>
                <a:uFillTx/>
                <a:latin typeface="Arial"/>
              </a:rPr>
              <a:t>▸  dashboard_consumer.py (Redis+InfluxDB) ve minio_archiver.py (Bronze JSONL) bağımsız olarak aynı veriyi tüketiyor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Rectangle 34"/>
          <p:cNvSpPr/>
          <p:nvPr/>
        </p:nvSpPr>
        <p:spPr>
          <a:xfrm>
            <a:off x="1800000" y="1980360"/>
            <a:ext cx="3138480" cy="690120"/>
          </a:xfrm>
          <a:prstGeom prst="rect">
            <a:avLst/>
          </a:prstGeom>
          <a:solidFill>
            <a:srgbClr val="0B1E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NE YAPTIK ?</a:t>
            </a:r>
            <a:endParaRPr lang="tr-T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Rectangle 35"/>
          <p:cNvSpPr/>
          <p:nvPr/>
        </p:nvSpPr>
        <p:spPr>
          <a:xfrm>
            <a:off x="1800000" y="6654960"/>
            <a:ext cx="3138480" cy="724320"/>
          </a:xfrm>
          <a:prstGeom prst="rect">
            <a:avLst/>
          </a:prstGeom>
          <a:solidFill>
            <a:srgbClr val="2F6F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NASIL YAPTIK ?</a:t>
            </a:r>
            <a:endParaRPr lang="tr-T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"/>
          <p:cNvSpPr/>
          <p:nvPr/>
        </p:nvSpPr>
        <p:spPr>
          <a:xfrm>
            <a:off x="2160000" y="9000360"/>
            <a:ext cx="64789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Rectangle 36"/>
          <p:cNvSpPr/>
          <p:nvPr/>
        </p:nvSpPr>
        <p:spPr>
          <a:xfrm>
            <a:off x="703080" y="1440360"/>
            <a:ext cx="1095840" cy="36720"/>
          </a:xfrm>
          <a:prstGeom prst="rect">
            <a:avLst/>
          </a:prstGeom>
          <a:solidFill>
            <a:srgbClr val="FF8A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TextBox 87"/>
          <p:cNvSpPr/>
          <p:nvPr/>
        </p:nvSpPr>
        <p:spPr>
          <a:xfrm>
            <a:off x="1029240" y="981720"/>
            <a:ext cx="7610040" cy="37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940"/>
              </a:lnSpc>
            </a:pPr>
            <a:r>
              <a:rPr lang="tr-TR" sz="3200" b="1" u="none" strike="noStrike">
                <a:solidFill>
                  <a:srgbClr val="000000"/>
                </a:solidFill>
                <a:effectLst/>
                <a:uFillTx/>
                <a:latin typeface="Inter Medium"/>
                <a:ea typeface="Inter Medium"/>
              </a:rPr>
              <a:t> GERÇEK ZAMANLI AKIŞ PIPELINE</a:t>
            </a:r>
            <a:endParaRPr lang="tr-T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Rectangle 40"/>
          <p:cNvSpPr/>
          <p:nvPr/>
        </p:nvSpPr>
        <p:spPr>
          <a:xfrm>
            <a:off x="703440" y="1440720"/>
            <a:ext cx="1095840" cy="36720"/>
          </a:xfrm>
          <a:prstGeom prst="rect">
            <a:avLst/>
          </a:prstGeom>
          <a:solidFill>
            <a:srgbClr val="FF8A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303" name="Group 44"/>
          <p:cNvGrpSpPr/>
          <p:nvPr/>
        </p:nvGrpSpPr>
        <p:grpSpPr>
          <a:xfrm>
            <a:off x="1029240" y="8925480"/>
            <a:ext cx="858600" cy="332280"/>
            <a:chOff x="1029240" y="8925480"/>
            <a:chExt cx="858600" cy="332280"/>
          </a:xfrm>
        </p:grpSpPr>
        <p:grpSp>
          <p:nvGrpSpPr>
            <p:cNvPr id="304" name="Group 45"/>
            <p:cNvGrpSpPr/>
            <p:nvPr/>
          </p:nvGrpSpPr>
          <p:grpSpPr>
            <a:xfrm>
              <a:off x="1029240" y="8925480"/>
              <a:ext cx="332280" cy="332280"/>
              <a:chOff x="1029240" y="8925480"/>
              <a:chExt cx="332280" cy="332280"/>
            </a:xfrm>
          </p:grpSpPr>
          <p:sp>
            <p:nvSpPr>
              <p:cNvPr id="305" name="Freeform 32"/>
              <p:cNvSpPr/>
              <p:nvPr/>
            </p:nvSpPr>
            <p:spPr>
              <a:xfrm>
                <a:off x="1029240" y="8925480"/>
                <a:ext cx="332280" cy="332280"/>
              </a:xfrm>
              <a:custGeom>
                <a:avLst/>
                <a:gdLst>
                  <a:gd name="textAreaLeft" fmla="*/ 0 w 332280"/>
                  <a:gd name="textAreaRight" fmla="*/ 333720 w 332280"/>
                  <a:gd name="textAreaTop" fmla="*/ 0 h 332280"/>
                  <a:gd name="textAreaBottom" fmla="*/ 333720 h 33228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tr-T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6" name="TextBox 84"/>
              <p:cNvSpPr/>
              <p:nvPr/>
            </p:nvSpPr>
            <p:spPr>
              <a:xfrm>
                <a:off x="1060200" y="8940960"/>
                <a:ext cx="269640" cy="285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tIns="50760" rIns="50760" bIns="5076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  <p:grpSp>
          <p:nvGrpSpPr>
            <p:cNvPr id="307" name="Group 46"/>
            <p:cNvGrpSpPr/>
            <p:nvPr/>
          </p:nvGrpSpPr>
          <p:grpSpPr>
            <a:xfrm>
              <a:off x="1555560" y="8925480"/>
              <a:ext cx="332280" cy="332280"/>
              <a:chOff x="1555560" y="8925480"/>
              <a:chExt cx="332280" cy="332280"/>
            </a:xfrm>
          </p:grpSpPr>
          <p:sp>
            <p:nvSpPr>
              <p:cNvPr id="308" name="Freeform 33"/>
              <p:cNvSpPr/>
              <p:nvPr/>
            </p:nvSpPr>
            <p:spPr>
              <a:xfrm>
                <a:off x="1555560" y="8925480"/>
                <a:ext cx="332280" cy="332280"/>
              </a:xfrm>
              <a:custGeom>
                <a:avLst/>
                <a:gdLst>
                  <a:gd name="textAreaLeft" fmla="*/ 0 w 332280"/>
                  <a:gd name="textAreaRight" fmla="*/ 333720 w 332280"/>
                  <a:gd name="textAreaTop" fmla="*/ 0 h 332280"/>
                  <a:gd name="textAreaBottom" fmla="*/ 333720 h 33228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tr-T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9" name="TextBox 85"/>
              <p:cNvSpPr/>
              <p:nvPr/>
            </p:nvSpPr>
            <p:spPr>
              <a:xfrm>
                <a:off x="1586880" y="8940960"/>
                <a:ext cx="269640" cy="285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tIns="50760" rIns="50760" bIns="5076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sp>
        <p:nvSpPr>
          <p:cNvPr id="310" name=""/>
          <p:cNvSpPr/>
          <p:nvPr/>
        </p:nvSpPr>
        <p:spPr>
          <a:xfrm>
            <a:off x="2340000" y="8496360"/>
            <a:ext cx="13859280" cy="122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Not: Silver'daki güncel gerçek zamanlı veri, Gold'a yansımak için 'python -m src.gold.unify' komutunun elle tekrar çalıştırılmasını bekliyor (henüz otomatik değil). Proje süresince bellek çok şişeceği için böyle bir yönteme başvurduk, istenildiği takdirde otomatikleştirilebilir.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1" name=""/>
          <p:cNvPicPr/>
          <p:nvPr/>
        </p:nvPicPr>
        <p:blipFill>
          <a:blip r:embed="rId1"/>
          <a:stretch/>
        </p:blipFill>
        <p:spPr>
          <a:xfrm>
            <a:off x="3240000" y="1620000"/>
            <a:ext cx="10462320" cy="6659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TextBox 86"/>
          <p:cNvSpPr/>
          <p:nvPr/>
        </p:nvSpPr>
        <p:spPr>
          <a:xfrm>
            <a:off x="1029240" y="981720"/>
            <a:ext cx="13730040" cy="74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940"/>
              </a:lnSpc>
            </a:pPr>
            <a:r>
              <a:rPr lang="tr-TR" sz="3200" b="1" u="none" strike="noStrike">
                <a:solidFill>
                  <a:srgbClr val="000000"/>
                </a:solidFill>
                <a:effectLst/>
                <a:uFillTx/>
                <a:latin typeface="Inter Medium"/>
                <a:ea typeface="Inter Medium"/>
              </a:rPr>
              <a:t>BAĞIMSIZ TÜKETİCİLER VE GÜNLÜK DÖNÜŞÜM</a:t>
            </a:r>
            <a:endParaRPr lang="tr-T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940"/>
              </a:lnSpc>
            </a:pPr>
            <a:endParaRPr lang="tr-T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Rectangle 37"/>
          <p:cNvSpPr/>
          <p:nvPr/>
        </p:nvSpPr>
        <p:spPr>
          <a:xfrm>
            <a:off x="703440" y="1440720"/>
            <a:ext cx="1095840" cy="36720"/>
          </a:xfrm>
          <a:prstGeom prst="rect">
            <a:avLst/>
          </a:prstGeom>
          <a:solidFill>
            <a:srgbClr val="FF8A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314" name="Group 47"/>
          <p:cNvGrpSpPr/>
          <p:nvPr/>
        </p:nvGrpSpPr>
        <p:grpSpPr>
          <a:xfrm>
            <a:off x="1029240" y="8925480"/>
            <a:ext cx="858600" cy="332280"/>
            <a:chOff x="1029240" y="8925480"/>
            <a:chExt cx="858600" cy="332280"/>
          </a:xfrm>
        </p:grpSpPr>
        <p:grpSp>
          <p:nvGrpSpPr>
            <p:cNvPr id="315" name="Group 48"/>
            <p:cNvGrpSpPr/>
            <p:nvPr/>
          </p:nvGrpSpPr>
          <p:grpSpPr>
            <a:xfrm>
              <a:off x="1029240" y="8925480"/>
              <a:ext cx="332280" cy="332280"/>
              <a:chOff x="1029240" y="8925480"/>
              <a:chExt cx="332280" cy="332280"/>
            </a:xfrm>
          </p:grpSpPr>
          <p:sp>
            <p:nvSpPr>
              <p:cNvPr id="316" name="Freeform 34"/>
              <p:cNvSpPr/>
              <p:nvPr/>
            </p:nvSpPr>
            <p:spPr>
              <a:xfrm>
                <a:off x="1029240" y="8925480"/>
                <a:ext cx="332280" cy="332280"/>
              </a:xfrm>
              <a:custGeom>
                <a:avLst/>
                <a:gdLst>
                  <a:gd name="textAreaLeft" fmla="*/ 0 w 332280"/>
                  <a:gd name="textAreaRight" fmla="*/ 333720 w 332280"/>
                  <a:gd name="textAreaTop" fmla="*/ 0 h 332280"/>
                  <a:gd name="textAreaBottom" fmla="*/ 333720 h 33228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tr-T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7" name="TextBox 88"/>
              <p:cNvSpPr/>
              <p:nvPr/>
            </p:nvSpPr>
            <p:spPr>
              <a:xfrm>
                <a:off x="1060200" y="8940960"/>
                <a:ext cx="269640" cy="285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tIns="50760" rIns="50760" bIns="5076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  <p:grpSp>
          <p:nvGrpSpPr>
            <p:cNvPr id="318" name="Group 49"/>
            <p:cNvGrpSpPr/>
            <p:nvPr/>
          </p:nvGrpSpPr>
          <p:grpSpPr>
            <a:xfrm>
              <a:off x="1555560" y="8925480"/>
              <a:ext cx="332280" cy="332280"/>
              <a:chOff x="1555560" y="8925480"/>
              <a:chExt cx="332280" cy="332280"/>
            </a:xfrm>
          </p:grpSpPr>
          <p:sp>
            <p:nvSpPr>
              <p:cNvPr id="319" name="Freeform 35"/>
              <p:cNvSpPr/>
              <p:nvPr/>
            </p:nvSpPr>
            <p:spPr>
              <a:xfrm>
                <a:off x="1555560" y="8925480"/>
                <a:ext cx="332280" cy="332280"/>
              </a:xfrm>
              <a:custGeom>
                <a:avLst/>
                <a:gdLst>
                  <a:gd name="textAreaLeft" fmla="*/ 0 w 332280"/>
                  <a:gd name="textAreaRight" fmla="*/ 333720 w 332280"/>
                  <a:gd name="textAreaTop" fmla="*/ 0 h 332280"/>
                  <a:gd name="textAreaBottom" fmla="*/ 333720 h 33228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tr-T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0" name="TextBox 89"/>
              <p:cNvSpPr/>
              <p:nvPr/>
            </p:nvSpPr>
            <p:spPr>
              <a:xfrm>
                <a:off x="1586880" y="8940960"/>
                <a:ext cx="269640" cy="285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tIns="50760" rIns="50760" bIns="5076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sp>
        <p:nvSpPr>
          <p:cNvPr id="321" name="Rectangle 38"/>
          <p:cNvSpPr/>
          <p:nvPr/>
        </p:nvSpPr>
        <p:spPr>
          <a:xfrm>
            <a:off x="720000" y="1620000"/>
            <a:ext cx="8355960" cy="3419280"/>
          </a:xfrm>
          <a:prstGeom prst="rect">
            <a:avLst/>
          </a:prstGeom>
          <a:solidFill>
            <a:srgbClr val="1E1E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2" name="TextBox 90"/>
          <p:cNvSpPr/>
          <p:nvPr/>
        </p:nvSpPr>
        <p:spPr>
          <a:xfrm>
            <a:off x="900000" y="1800000"/>
            <a:ext cx="10057320" cy="365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6A9955"/>
                </a:solidFill>
                <a:effectLst/>
                <a:uFillTx/>
                <a:latin typeface="Consolas"/>
              </a:rPr>
              <a:t># dashboard_consumer.py (group.id="dashboard-consumer") -- gercek yazma kodu</a:t>
            </a:r>
            <a:endParaRPr lang="tr-T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rdb.set(f"iha:state:{icao}", json.dumps(data))          # Redis: canli durum</a:t>
            </a:r>
            <a:endParaRPr lang="tr-T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rdb.sadd("iha:active_flights", icao)</a:t>
            </a:r>
            <a:endParaRPr lang="tr-T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point = (Point("flights").tag("icao24", icao)</a:t>
            </a:r>
            <a:endParaRPr lang="tr-T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     .field("lat", float(data["lat"])).field("lon", float(data["lon"]))</a:t>
            </a:r>
            <a:endParaRPr lang="tr-T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     .field("is_military", bool(data.get("is_military", False)))</a:t>
            </a:r>
            <a:endParaRPr lang="tr-T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     .time(datetime.now(timezone.utc)))</a:t>
            </a:r>
            <a:endParaRPr lang="tr-T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write_api.write(bucket=INFLUX_BUCKET, record=point)     # InfluxDB: zaman serisi</a:t>
            </a:r>
            <a:endParaRPr lang="tr-T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</a:t>
            </a:r>
            <a:endParaRPr lang="tr-T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6A9955"/>
                </a:solidFill>
                <a:effectLst/>
                <a:uFillTx/>
                <a:latin typeface="Consolas"/>
              </a:rPr>
              <a:t># minio_archiver.py (group.id="minio-archiver") -- FARKLI, BAGIMSIZ grup</a:t>
            </a:r>
            <a:endParaRPr lang="tr-T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def flush(client, bucket, lines):</a:t>
            </a:r>
            <a:endParaRPr lang="tr-T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obj_name = f"{BRONZE_PREFIX}states-{ts}.jsonl"</a:t>
            </a:r>
            <a:endParaRPr lang="tr-T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client.put_object(bucket, obj_name, io.BytesIO(data), length=len(data))</a:t>
            </a:r>
            <a:endParaRPr lang="tr-T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</a:t>
            </a:r>
            <a:endParaRPr lang="tr-T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if lines and (len(lines) &gt;= 500 or now - last_flush &gt;= 60):   # BATCH_SIZE / FLUSH_SECS</a:t>
            </a:r>
            <a:endParaRPr lang="tr-T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flush(client, BUCKET, lines)</a:t>
            </a:r>
            <a:endParaRPr lang="tr-T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Box 91"/>
          <p:cNvSpPr/>
          <p:nvPr/>
        </p:nvSpPr>
        <p:spPr>
          <a:xfrm>
            <a:off x="9467640" y="2958480"/>
            <a:ext cx="547164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Kafka'nın consumer-group modeli, aynı topic'i farklı grupların bağımsız okumasına izin verir, mesaj kaybı/çakışma olmaz. [1]</a:t>
            </a:r>
            <a:endParaRPr lang="tr-T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Box 92"/>
          <p:cNvSpPr/>
          <p:nvPr/>
        </p:nvSpPr>
        <p:spPr>
          <a:xfrm>
            <a:off x="9360000" y="4721040"/>
            <a:ext cx="80992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i="1" u="none" strike="noStrike">
                <a:solidFill>
                  <a:srgbClr val="E0A24D"/>
                </a:solidFill>
                <a:effectLst/>
                <a:uFillTx/>
                <a:latin typeface="Arial"/>
              </a:rPr>
              <a:t>→  Bronze'a biriken bu JSONL'ler her gün nasıl Silver'a dönüşüyor?</a:t>
            </a:r>
            <a:endParaRPr lang="tr-T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Rectangle 39"/>
          <p:cNvSpPr/>
          <p:nvPr/>
        </p:nvSpPr>
        <p:spPr>
          <a:xfrm>
            <a:off x="720000" y="5760000"/>
            <a:ext cx="8279280" cy="3077280"/>
          </a:xfrm>
          <a:prstGeom prst="rect">
            <a:avLst/>
          </a:prstGeom>
          <a:solidFill>
            <a:srgbClr val="1E1E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6" name="TextBox 93"/>
          <p:cNvSpPr/>
          <p:nvPr/>
        </p:nvSpPr>
        <p:spPr>
          <a:xfrm>
            <a:off x="900000" y="5879880"/>
            <a:ext cx="10057320" cy="38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6A9955"/>
                </a:solidFill>
                <a:effectLst/>
                <a:uFillTx/>
                <a:latin typeface="Consolas"/>
              </a:rPr>
              <a:t># run() -- oku / parse et / yaz / SONRA sil sirasi</a:t>
            </a:r>
            <a:endParaRPr lang="tr-T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for obj_name in sorted(jsonl_objects):</a:t>
            </a:r>
            <a:endParaRPr lang="tr-T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df = parse_jsonl_bytes(download_raw_bytes(client, obj_name), obj_name)</a:t>
            </a:r>
            <a:endParaRPr lang="tr-T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frames.append(add_provenance(df, source_type=SOURCE_TYPE, source_file=obj_name))</a:t>
            </a:r>
            <a:endParaRPr lang="tr-T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processed_objects.append(obj_name)</a:t>
            </a:r>
            <a:endParaRPr lang="tr-T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</a:t>
            </a:r>
            <a:endParaRPr lang="tr-T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uri = write_silver(pd.concat(frames), SOURCE_TYPE, client=client)   # ONCE Silver'a yaz</a:t>
            </a:r>
            <a:endParaRPr lang="tr-T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</a:t>
            </a:r>
            <a:endParaRPr lang="tr-T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def _delete_processed(client, bucket, object_names):    # SONRA Bronze'u temizle</a:t>
            </a:r>
            <a:endParaRPr lang="tr-T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for name in object_names:</a:t>
            </a:r>
            <a:endParaRPr lang="tr-T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    client.remove_object(bucket, name)   # basarisiz olursa tekrar denenir</a:t>
            </a:r>
            <a:endParaRPr lang="tr-T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_delete_processed(client, bronze_bucket, processed_objects)</a:t>
            </a:r>
            <a:endParaRPr lang="tr-T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</a:t>
            </a:r>
            <a:endParaRPr lang="tr-T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6A9955"/>
                </a:solidFill>
                <a:effectLst/>
                <a:uFillTx/>
                <a:latin typeface="Consolas"/>
              </a:rPr>
              <a:t># dis dongu: while True: run(); heartbeat.write_text(now); sleep(_seconds_until("17:00"))</a:t>
            </a:r>
            <a:endParaRPr lang="tr-T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Box 94"/>
          <p:cNvSpPr/>
          <p:nvPr/>
        </p:nvSpPr>
        <p:spPr>
          <a:xfrm>
            <a:off x="1413360" y="9991080"/>
            <a:ext cx="10331640" cy="29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"/>
          <p:cNvSpPr/>
          <p:nvPr/>
        </p:nvSpPr>
        <p:spPr>
          <a:xfrm>
            <a:off x="9720000" y="7020000"/>
            <a:ext cx="4859280" cy="12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Neden sabit 86400sn değil '--daily-at': pc ne zaman açık olursa olsun her gün aynı saati (17:00) hedefliyor. Böyle bir yolu tercih etme sebebimiz staj saatlerince verileri sağlıklı depolamak istememiz. [2]</a:t>
            </a:r>
            <a:endParaRPr lang="tr-T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"/>
          <p:cNvSpPr/>
          <p:nvPr/>
        </p:nvSpPr>
        <p:spPr>
          <a:xfrm>
            <a:off x="9360000" y="9000000"/>
            <a:ext cx="665928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600" b="0" i="1" u="none" strike="noStrike">
                <a:solidFill>
                  <a:srgbClr val="E0A24D"/>
                </a:solidFill>
                <a:effectLst/>
                <a:uFillTx/>
                <a:latin typeface="Arial"/>
              </a:rPr>
              <a:t>→  Bu akışın çıktısını takım dashboard'unda canlı olarak izliyoruz.</a:t>
            </a:r>
            <a:endParaRPr lang="tr-T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"/>
          <p:cNvSpPr/>
          <p:nvPr/>
        </p:nvSpPr>
        <p:spPr>
          <a:xfrm>
            <a:off x="9360000" y="1800000"/>
            <a:ext cx="12695760" cy="10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tr-TR" sz="3200" b="1" u="none" strike="noStrike">
                <a:solidFill>
                  <a:srgbClr val="000000"/>
                </a:solidFill>
                <a:effectLst/>
                <a:uFillTx/>
                <a:latin typeface="Inter Medium"/>
                <a:ea typeface="Inter Medium"/>
              </a:rPr>
              <a:t>İKİ BAĞIMSIZ TÜKETİCİ:</a:t>
            </a:r>
            <a:br>
              <a:rPr sz="3200"/>
            </a:br>
            <a:r>
              <a:rPr lang="tr-TR" sz="3200" b="1" u="none" strike="noStrike">
                <a:solidFill>
                  <a:srgbClr val="000000"/>
                </a:solidFill>
                <a:effectLst/>
                <a:uFillTx/>
                <a:latin typeface="Inter Medium"/>
                <a:ea typeface="Inter Medium"/>
              </a:rPr>
              <a:t>dashboard_consumer &amp; minio_archiver</a:t>
            </a:r>
            <a:endParaRPr lang="tr-T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"/>
          <p:cNvSpPr/>
          <p:nvPr/>
        </p:nvSpPr>
        <p:spPr>
          <a:xfrm>
            <a:off x="1980000" y="5154480"/>
            <a:ext cx="6659280" cy="76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600" b="0" u="none" spc="65" strike="noStrike">
                <a:solidFill>
                  <a:srgbClr val="000000"/>
                </a:solidFill>
                <a:effectLst/>
                <a:uFillTx/>
                <a:latin typeface="Arial"/>
                <a:ea typeface="Fira Sans"/>
              </a:rPr>
              <a:t>Şekil 1 – dashboard_consumer.py ve minio_archiver.py  </a:t>
            </a:r>
            <a:endParaRPr lang="tr-T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"/>
          <p:cNvSpPr/>
          <p:nvPr/>
        </p:nvSpPr>
        <p:spPr>
          <a:xfrm>
            <a:off x="9540000" y="5760000"/>
            <a:ext cx="7597800" cy="10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tr-TR" sz="3200" b="1" u="none" strike="noStrike">
                <a:solidFill>
                  <a:srgbClr val="000000"/>
                </a:solidFill>
                <a:effectLst/>
                <a:uFillTx/>
                <a:latin typeface="Inter Medium"/>
                <a:ea typeface="Inter Medium"/>
              </a:rPr>
              <a:t>GÜNLÜK DÖNÜŞÜM:</a:t>
            </a:r>
            <a:br>
              <a:rPr sz="3200"/>
            </a:br>
            <a:r>
              <a:rPr lang="tr-TR" sz="3200" b="1" u="none" strike="noStrike">
                <a:solidFill>
                  <a:srgbClr val="000000"/>
                </a:solidFill>
                <a:effectLst/>
                <a:uFillTx/>
                <a:latin typeface="Inter Medium"/>
                <a:ea typeface="Inter Medium"/>
              </a:rPr>
              <a:t>parse_adsblol_realtime</a:t>
            </a:r>
            <a:endParaRPr lang="tr-T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"/>
          <p:cNvSpPr/>
          <p:nvPr/>
        </p:nvSpPr>
        <p:spPr>
          <a:xfrm>
            <a:off x="2770200" y="9000000"/>
            <a:ext cx="5689080" cy="3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600" b="0" u="none" spc="65" strike="noStrike">
                <a:solidFill>
                  <a:srgbClr val="000000"/>
                </a:solidFill>
                <a:effectLst/>
                <a:uFillTx/>
                <a:latin typeface="Arial"/>
                <a:ea typeface="Fira Sans"/>
              </a:rPr>
              <a:t>Şekil 2 – parse_adsblol_realtime.py</a:t>
            </a:r>
            <a:endParaRPr lang="tr-T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TextBox 95"/>
          <p:cNvSpPr/>
          <p:nvPr/>
        </p:nvSpPr>
        <p:spPr>
          <a:xfrm>
            <a:off x="1029240" y="981720"/>
            <a:ext cx="13730040" cy="74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940"/>
              </a:lnSpc>
            </a:pPr>
            <a:r>
              <a:rPr lang="tr-TR" sz="3200" b="1" u="none" strike="noStrike">
                <a:solidFill>
                  <a:srgbClr val="000000"/>
                </a:solidFill>
                <a:effectLst/>
                <a:uFillTx/>
                <a:latin typeface="Inter Medium"/>
                <a:ea typeface="Inter Medium"/>
              </a:rPr>
              <a:t>3) TEKNOLOJİ SEÇİMLERİ</a:t>
            </a:r>
            <a:endParaRPr lang="tr-T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940"/>
              </a:lnSpc>
            </a:pPr>
            <a:endParaRPr lang="tr-T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Rectangle 41"/>
          <p:cNvSpPr/>
          <p:nvPr/>
        </p:nvSpPr>
        <p:spPr>
          <a:xfrm>
            <a:off x="703440" y="1440720"/>
            <a:ext cx="1095840" cy="36720"/>
          </a:xfrm>
          <a:prstGeom prst="rect">
            <a:avLst/>
          </a:prstGeom>
          <a:solidFill>
            <a:srgbClr val="FF8A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336" name="Group 50"/>
          <p:cNvGrpSpPr/>
          <p:nvPr/>
        </p:nvGrpSpPr>
        <p:grpSpPr>
          <a:xfrm>
            <a:off x="1029240" y="8925480"/>
            <a:ext cx="858600" cy="332280"/>
            <a:chOff x="1029240" y="8925480"/>
            <a:chExt cx="858600" cy="332280"/>
          </a:xfrm>
        </p:grpSpPr>
        <p:grpSp>
          <p:nvGrpSpPr>
            <p:cNvPr id="337" name="Group 51"/>
            <p:cNvGrpSpPr/>
            <p:nvPr/>
          </p:nvGrpSpPr>
          <p:grpSpPr>
            <a:xfrm>
              <a:off x="1029240" y="8925480"/>
              <a:ext cx="332280" cy="332280"/>
              <a:chOff x="1029240" y="8925480"/>
              <a:chExt cx="332280" cy="332280"/>
            </a:xfrm>
          </p:grpSpPr>
          <p:sp>
            <p:nvSpPr>
              <p:cNvPr id="338" name="Freeform 36"/>
              <p:cNvSpPr/>
              <p:nvPr/>
            </p:nvSpPr>
            <p:spPr>
              <a:xfrm>
                <a:off x="1029240" y="8925480"/>
                <a:ext cx="332280" cy="332280"/>
              </a:xfrm>
              <a:custGeom>
                <a:avLst/>
                <a:gdLst>
                  <a:gd name="textAreaLeft" fmla="*/ 0 w 332280"/>
                  <a:gd name="textAreaRight" fmla="*/ 333720 w 332280"/>
                  <a:gd name="textAreaTop" fmla="*/ 0 h 332280"/>
                  <a:gd name="textAreaBottom" fmla="*/ 333720 h 33228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tr-T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9" name="TextBox 96"/>
              <p:cNvSpPr/>
              <p:nvPr/>
            </p:nvSpPr>
            <p:spPr>
              <a:xfrm>
                <a:off x="1060200" y="8940960"/>
                <a:ext cx="269640" cy="285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tIns="50760" rIns="50760" bIns="5076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  <p:grpSp>
          <p:nvGrpSpPr>
            <p:cNvPr id="340" name="Group 52"/>
            <p:cNvGrpSpPr/>
            <p:nvPr/>
          </p:nvGrpSpPr>
          <p:grpSpPr>
            <a:xfrm>
              <a:off x="1555560" y="8925480"/>
              <a:ext cx="332280" cy="332280"/>
              <a:chOff x="1555560" y="8925480"/>
              <a:chExt cx="332280" cy="332280"/>
            </a:xfrm>
          </p:grpSpPr>
          <p:sp>
            <p:nvSpPr>
              <p:cNvPr id="341" name="Freeform 37"/>
              <p:cNvSpPr/>
              <p:nvPr/>
            </p:nvSpPr>
            <p:spPr>
              <a:xfrm>
                <a:off x="1555560" y="8925480"/>
                <a:ext cx="332280" cy="332280"/>
              </a:xfrm>
              <a:custGeom>
                <a:avLst/>
                <a:gdLst>
                  <a:gd name="textAreaLeft" fmla="*/ 0 w 332280"/>
                  <a:gd name="textAreaRight" fmla="*/ 333720 w 332280"/>
                  <a:gd name="textAreaTop" fmla="*/ 0 h 332280"/>
                  <a:gd name="textAreaBottom" fmla="*/ 333720 h 33228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tr-T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2" name="TextBox 97"/>
              <p:cNvSpPr/>
              <p:nvPr/>
            </p:nvSpPr>
            <p:spPr>
              <a:xfrm>
                <a:off x="1586880" y="8940960"/>
                <a:ext cx="269640" cy="285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tIns="50760" rIns="50760" bIns="5076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sp>
        <p:nvSpPr>
          <p:cNvPr id="343" name="Rectangle 43"/>
          <p:cNvSpPr/>
          <p:nvPr/>
        </p:nvSpPr>
        <p:spPr>
          <a:xfrm>
            <a:off x="640440" y="1828800"/>
            <a:ext cx="8125920" cy="577800"/>
          </a:xfrm>
          <a:prstGeom prst="rect">
            <a:avLst/>
          </a:prstGeom>
          <a:solidFill>
            <a:srgbClr val="C99A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4" name="TextBox 101"/>
          <p:cNvSpPr/>
          <p:nvPr/>
        </p:nvSpPr>
        <p:spPr>
          <a:xfrm>
            <a:off x="3960000" y="1860840"/>
            <a:ext cx="12852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3716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MinIO</a:t>
            </a:r>
            <a:endParaRPr lang="tr-T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Rectangle 44"/>
          <p:cNvSpPr/>
          <p:nvPr/>
        </p:nvSpPr>
        <p:spPr>
          <a:xfrm>
            <a:off x="640440" y="2407680"/>
            <a:ext cx="8125920" cy="2383560"/>
          </a:xfrm>
          <a:prstGeom prst="rect">
            <a:avLst/>
          </a:prstGeom>
          <a:solidFill>
            <a:srgbClr val="F6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tIns="109800" rIns="137160" bIns="45000" anchor="ctr">
            <a:normAutofit/>
          </a:bodyPr>
          <a:p>
            <a:pPr algn="ctr"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1B1F27"/>
                </a:solidFill>
                <a:effectLst/>
                <a:uFillTx/>
                <a:latin typeface="Arial"/>
              </a:rPr>
              <a:t>Bronze/Silver/Gold katmanlarının tamamını barındıran S3-uyumlu nesne depolama. TB'larca ham/parquet dosya için doğal bir çözüm sunduğu ve Docker ile ücretsiz/lokal çalışırken ileride gerçek AWS S3'e geçişi sadece bir endpoint değişikliğine indirdiği için seçildi.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Rectangle 45"/>
          <p:cNvSpPr/>
          <p:nvPr/>
        </p:nvSpPr>
        <p:spPr>
          <a:xfrm>
            <a:off x="9333360" y="1828800"/>
            <a:ext cx="8125920" cy="577800"/>
          </a:xfrm>
          <a:prstGeom prst="rect">
            <a:avLst/>
          </a:prstGeom>
          <a:solidFill>
            <a:srgbClr val="E0A2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7" name="TextBox 102"/>
          <p:cNvSpPr/>
          <p:nvPr/>
        </p:nvSpPr>
        <p:spPr>
          <a:xfrm>
            <a:off x="12243600" y="1891080"/>
            <a:ext cx="23706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3716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Apache Kafka</a:t>
            </a:r>
            <a:endParaRPr lang="tr-T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Rectangle 46"/>
          <p:cNvSpPr/>
          <p:nvPr/>
        </p:nvSpPr>
        <p:spPr>
          <a:xfrm>
            <a:off x="9333360" y="2407680"/>
            <a:ext cx="8125920" cy="2383560"/>
          </a:xfrm>
          <a:prstGeom prst="rect">
            <a:avLst/>
          </a:prstGeom>
          <a:solidFill>
            <a:srgbClr val="F6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tIns="109800" rIns="137160" bIns="45000" anchor="ctr">
            <a:normAutofit/>
          </a:bodyPr>
          <a:p>
            <a:pPr algn="ctr"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1B1F27"/>
                </a:solidFill>
                <a:effectLst/>
                <a:uFillTx/>
                <a:latin typeface="Arial"/>
              </a:rPr>
              <a:t>Canlı adsb.lol verisini tek üreticiden, dashboard ve arşivleme gibi birden fazla bağımsız tüketiciye dağıtan mesajlaşma hattı. Consumer-group modeli sayesinde tüketicilerden biri çökse/yavaşlasa diğeri etkilenmediği için seçildi.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Rectangle 47"/>
          <p:cNvSpPr/>
          <p:nvPr/>
        </p:nvSpPr>
        <p:spPr>
          <a:xfrm>
            <a:off x="640440" y="5136840"/>
            <a:ext cx="8125920" cy="577800"/>
          </a:xfrm>
          <a:prstGeom prst="rect">
            <a:avLst/>
          </a:prstGeom>
          <a:solidFill>
            <a:srgbClr val="B03A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0" name="TextBox 103"/>
          <p:cNvSpPr/>
          <p:nvPr/>
        </p:nvSpPr>
        <p:spPr>
          <a:xfrm>
            <a:off x="3960000" y="5136840"/>
            <a:ext cx="10778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3716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Redis</a:t>
            </a:r>
            <a:endParaRPr lang="tr-T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Rectangle 48"/>
          <p:cNvSpPr/>
          <p:nvPr/>
        </p:nvSpPr>
        <p:spPr>
          <a:xfrm>
            <a:off x="640440" y="5716080"/>
            <a:ext cx="8125920" cy="2383200"/>
          </a:xfrm>
          <a:prstGeom prst="rect">
            <a:avLst/>
          </a:prstGeom>
          <a:solidFill>
            <a:srgbClr val="F6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tIns="109800" rIns="137160" bIns="45000" anchor="ctr">
            <a:normAutofit/>
          </a:bodyPr>
          <a:p>
            <a:pPr algn="ctr"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1B1F27"/>
                </a:solidFill>
                <a:effectLst/>
                <a:uFillTx/>
                <a:latin typeface="Calibri"/>
              </a:rPr>
              <a:t>Dashboard'un o anki uçuş durumunu (son bilinen konum, hız, irtifa) tuttuğu hızlı bellek-içi anahtar-değer deposu. Canlı haritanın saniyede defalarca okuduğu 'şu an nerede' sorgusu için disk tabanlı bir veritabanından çok daha hızlı olduğundan seçildi.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Rectangle 49"/>
          <p:cNvSpPr/>
          <p:nvPr/>
        </p:nvSpPr>
        <p:spPr>
          <a:xfrm>
            <a:off x="9333360" y="5136840"/>
            <a:ext cx="8125920" cy="577800"/>
          </a:xfrm>
          <a:prstGeom prst="rect">
            <a:avLst/>
          </a:prstGeom>
          <a:solidFill>
            <a:srgbClr val="2F6F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3" name="TextBox 104"/>
          <p:cNvSpPr/>
          <p:nvPr/>
        </p:nvSpPr>
        <p:spPr>
          <a:xfrm>
            <a:off x="12618000" y="5169240"/>
            <a:ext cx="157572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3716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InfluxDB</a:t>
            </a:r>
            <a:endParaRPr lang="tr-T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Rectangle 50"/>
          <p:cNvSpPr/>
          <p:nvPr/>
        </p:nvSpPr>
        <p:spPr>
          <a:xfrm>
            <a:off x="9333360" y="5716080"/>
            <a:ext cx="8125920" cy="2383200"/>
          </a:xfrm>
          <a:prstGeom prst="rect">
            <a:avLst/>
          </a:prstGeom>
          <a:solidFill>
            <a:srgbClr val="F6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tIns="109800" rIns="137160" bIns="45000" anchor="ctr">
            <a:normAutofit/>
          </a:bodyPr>
          <a:p>
            <a:pPr algn="ctr"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1B1F27"/>
                </a:solidFill>
                <a:effectLst/>
                <a:uFillTx/>
                <a:latin typeface="Calibri"/>
              </a:rPr>
              <a:t>Gerçek zamanlı uçuş verisinin zaman-serisi geçmişini (7 günlük pencere) tutan, dashboard'daki 'son X saat' grafiklerini besleyen veritabanı. Zaman damgalı, yüksek hacimli yazma/sorgu için ilişkisel bir veritabanından daha uygun olduğundan seçildi.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"/>
          <p:cNvSpPr/>
          <p:nvPr/>
        </p:nvSpPr>
        <p:spPr>
          <a:xfrm>
            <a:off x="540000" y="8280000"/>
            <a:ext cx="11519280" cy="59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1B1F27"/>
                </a:solidFill>
                <a:effectLst/>
                <a:uFillTx/>
                <a:latin typeface="Calibri"/>
              </a:rPr>
              <a:t>DOCKER :Tüm bu uygulama konteynerlerini tek bir komutla, aynı şekilde ayağa kaldıran orkestrasyon katmanı.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TextBox 105"/>
          <p:cNvSpPr/>
          <p:nvPr/>
        </p:nvSpPr>
        <p:spPr>
          <a:xfrm>
            <a:off x="1029240" y="982080"/>
            <a:ext cx="13730040" cy="74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940"/>
              </a:lnSpc>
            </a:pPr>
            <a:r>
              <a:rPr lang="tr-TR" sz="3200" b="1" u="none" strike="noStrike">
                <a:solidFill>
                  <a:srgbClr val="000000"/>
                </a:solidFill>
                <a:effectLst/>
                <a:uFillTx/>
                <a:latin typeface="Inter Medium"/>
                <a:ea typeface="Inter Medium"/>
              </a:rPr>
              <a:t>4) RAKAMLARLA PROJE</a:t>
            </a:r>
            <a:endParaRPr lang="tr-T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940"/>
              </a:lnSpc>
            </a:pPr>
            <a:endParaRPr lang="tr-T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Rectangle 51"/>
          <p:cNvSpPr/>
          <p:nvPr/>
        </p:nvSpPr>
        <p:spPr>
          <a:xfrm>
            <a:off x="703440" y="1441080"/>
            <a:ext cx="1095840" cy="36720"/>
          </a:xfrm>
          <a:prstGeom prst="rect">
            <a:avLst/>
          </a:prstGeom>
          <a:solidFill>
            <a:srgbClr val="FF8A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358" name="Group 56"/>
          <p:cNvGrpSpPr/>
          <p:nvPr/>
        </p:nvGrpSpPr>
        <p:grpSpPr>
          <a:xfrm>
            <a:off x="1029240" y="8925840"/>
            <a:ext cx="858600" cy="332280"/>
            <a:chOff x="1029240" y="8925840"/>
            <a:chExt cx="858600" cy="332280"/>
          </a:xfrm>
        </p:grpSpPr>
        <p:grpSp>
          <p:nvGrpSpPr>
            <p:cNvPr id="359" name="Group 57"/>
            <p:cNvGrpSpPr/>
            <p:nvPr/>
          </p:nvGrpSpPr>
          <p:grpSpPr>
            <a:xfrm>
              <a:off x="1029240" y="8925840"/>
              <a:ext cx="332280" cy="332280"/>
              <a:chOff x="1029240" y="8925840"/>
              <a:chExt cx="332280" cy="332280"/>
            </a:xfrm>
          </p:grpSpPr>
          <p:sp>
            <p:nvSpPr>
              <p:cNvPr id="360" name="Freeform 40"/>
              <p:cNvSpPr/>
              <p:nvPr/>
            </p:nvSpPr>
            <p:spPr>
              <a:xfrm>
                <a:off x="1029240" y="8925840"/>
                <a:ext cx="332280" cy="332280"/>
              </a:xfrm>
              <a:custGeom>
                <a:avLst/>
                <a:gdLst>
                  <a:gd name="textAreaLeft" fmla="*/ 0 w 332280"/>
                  <a:gd name="textAreaRight" fmla="*/ 333720 w 332280"/>
                  <a:gd name="textAreaTop" fmla="*/ 0 h 332280"/>
                  <a:gd name="textAreaBottom" fmla="*/ 333720 h 33228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tr-T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1" name="TextBox 106"/>
              <p:cNvSpPr/>
              <p:nvPr/>
            </p:nvSpPr>
            <p:spPr>
              <a:xfrm>
                <a:off x="1060200" y="8941320"/>
                <a:ext cx="269640" cy="285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tIns="50760" rIns="50760" bIns="5076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  <p:grpSp>
          <p:nvGrpSpPr>
            <p:cNvPr id="362" name="Group 58"/>
            <p:cNvGrpSpPr/>
            <p:nvPr/>
          </p:nvGrpSpPr>
          <p:grpSpPr>
            <a:xfrm>
              <a:off x="1555560" y="8925840"/>
              <a:ext cx="332280" cy="332280"/>
              <a:chOff x="1555560" y="8925840"/>
              <a:chExt cx="332280" cy="332280"/>
            </a:xfrm>
          </p:grpSpPr>
          <p:sp>
            <p:nvSpPr>
              <p:cNvPr id="363" name="Freeform 41"/>
              <p:cNvSpPr/>
              <p:nvPr/>
            </p:nvSpPr>
            <p:spPr>
              <a:xfrm>
                <a:off x="1555560" y="8925840"/>
                <a:ext cx="332280" cy="332280"/>
              </a:xfrm>
              <a:custGeom>
                <a:avLst/>
                <a:gdLst>
                  <a:gd name="textAreaLeft" fmla="*/ 0 w 332280"/>
                  <a:gd name="textAreaRight" fmla="*/ 333720 w 332280"/>
                  <a:gd name="textAreaTop" fmla="*/ 0 h 332280"/>
                  <a:gd name="textAreaBottom" fmla="*/ 333720 h 33228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tr-T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4" name="TextBox 107"/>
              <p:cNvSpPr/>
              <p:nvPr/>
            </p:nvSpPr>
            <p:spPr>
              <a:xfrm>
                <a:off x="1586880" y="8941320"/>
                <a:ext cx="269640" cy="285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tIns="50760" rIns="50760" bIns="5076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graphicFrame>
        <p:nvGraphicFramePr>
          <p:cNvPr id="365" name="Table 1"/>
          <p:cNvGraphicFramePr/>
          <p:nvPr/>
        </p:nvGraphicFramePr>
        <p:xfrm>
          <a:off x="823320" y="1874880"/>
          <a:ext cx="10515240" cy="2743200"/>
        </p:xfrm>
        <a:graphic>
          <a:graphicData uri="http://schemas.openxmlformats.org/drawingml/2006/table">
            <a:tbl>
              <a:tblPr/>
              <a:tblGrid>
                <a:gridCol w="5486400"/>
                <a:gridCol w="5029200"/>
              </a:tblGrid>
              <a:tr h="45720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Metrik</a:t>
                      </a:r>
                      <a:endParaRPr lang="tr-TR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Değer</a:t>
                      </a:r>
                      <a:endParaRPr lang="tr-TR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B1E3D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1B1F27"/>
                          </a:solidFill>
                          <a:effectLst/>
                          <a:uFillTx/>
                          <a:latin typeface="Calibri"/>
                        </a:rPr>
                        <a:t>Gold toplam satır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1B1F27"/>
                          </a:solidFill>
                          <a:effectLst/>
                          <a:uFillTx/>
                          <a:latin typeface="Calibri"/>
                        </a:rPr>
                        <a:t>2.762.067.817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1B1F27"/>
                          </a:solidFill>
                          <a:effectLst/>
                          <a:uFillTx/>
                          <a:latin typeface="Calibri"/>
                        </a:rPr>
                        <a:t>Gold toplam parça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1B1F27"/>
                          </a:solidFill>
                          <a:effectLst/>
                          <a:uFillTx/>
                          <a:latin typeface="Calibri"/>
                        </a:rPr>
                        <a:t>6.861  (4 kaynak tipi)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EFF4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1B1F27"/>
                          </a:solidFill>
                          <a:effectLst/>
                          <a:uFillTx/>
                          <a:latin typeface="Calibri"/>
                        </a:rPr>
                        <a:t>İşlenen tarihsel tar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1B1F27"/>
                          </a:solidFill>
                          <a:effectLst/>
                          <a:uFillTx/>
                          <a:latin typeface="Calibri"/>
                        </a:rPr>
                        <a:t>30 / 30 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1B1F27"/>
                          </a:solidFill>
                          <a:effectLst/>
                          <a:uFillTx/>
                          <a:latin typeface="Calibri"/>
                        </a:rPr>
                        <a:t>Toplam benzersiz uçak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1B1F27"/>
                          </a:solidFill>
                          <a:effectLst/>
                          <a:uFillTx/>
                          <a:latin typeface="Calibri"/>
                        </a:rPr>
                        <a:t>386.779 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EFF4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1B1F27"/>
                          </a:solidFill>
                          <a:effectLst/>
                          <a:uFillTx/>
                          <a:latin typeface="Calibri"/>
                        </a:rPr>
                        <a:t>Askeri işaretli uçak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1B1F27"/>
                          </a:solidFill>
                          <a:effectLst/>
                          <a:uFillTx/>
                          <a:latin typeface="Calibri"/>
                        </a:rPr>
                        <a:t>12.753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66" name="Table 2"/>
          <p:cNvGraphicFramePr/>
          <p:nvPr/>
        </p:nvGraphicFramePr>
        <p:xfrm>
          <a:off x="12186360" y="2057760"/>
          <a:ext cx="4345920" cy="2122200"/>
        </p:xfrm>
        <a:graphic>
          <a:graphicData uri="http://schemas.openxmlformats.org/drawingml/2006/table">
            <a:tbl>
              <a:tblPr/>
              <a:tblGrid>
                <a:gridCol w="2917800"/>
                <a:gridCol w="1428480"/>
              </a:tblGrid>
              <a:tr h="47520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Aşama</a:t>
                      </a:r>
                      <a:endParaRPr lang="tr-TR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Süre</a:t>
                      </a:r>
                      <a:endParaRPr lang="tr-TR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B1E3D"/>
                    </a:solidFill>
                  </a:tcPr>
                </a:tc>
              </a:tr>
              <a:tr h="47520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1B1F27"/>
                          </a:solidFill>
                          <a:effectLst/>
                          <a:uFillTx/>
                          <a:latin typeface="Calibri"/>
                        </a:rPr>
                        <a:t>Silver reprocess (30 tar + UAVAttack + Alfa)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1B1F27"/>
                          </a:solidFill>
                          <a:effectLst/>
                          <a:uFillTx/>
                          <a:latin typeface="Calibri"/>
                        </a:rPr>
                        <a:t>~17 saat 12 dakika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EFF4"/>
                    </a:solidFill>
                  </a:tcPr>
                </a:tc>
              </a:tr>
              <a:tr h="47520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1B1F27"/>
                          </a:solidFill>
                          <a:effectLst/>
                          <a:uFillTx/>
                          <a:latin typeface="Calibri"/>
                        </a:rPr>
                        <a:t>Gold birleştirme (2.76 milyar satır)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1B1F27"/>
                          </a:solidFill>
                          <a:effectLst/>
                          <a:uFillTx/>
                          <a:latin typeface="Calibri"/>
                        </a:rPr>
                        <a:t>~1 saat 41 dakika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20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1B1F27"/>
                          </a:solidFill>
                          <a:effectLst/>
                          <a:uFillTx/>
                          <a:latin typeface="Calibri"/>
                        </a:rPr>
                        <a:t>UÇTAN UCA TOPLAM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1B1F27"/>
                          </a:solidFill>
                          <a:effectLst/>
                          <a:uFillTx/>
                          <a:latin typeface="Calibri"/>
                        </a:rPr>
                        <a:t>~19 saat 11 dakika işlem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EFF4"/>
                    </a:solidFill>
                  </a:tcPr>
                </a:tc>
              </a:tr>
            </a:tbl>
          </a:graphicData>
        </a:graphic>
      </p:graphicFrame>
      <p:pic>
        <p:nvPicPr>
          <p:cNvPr id="367" name=""/>
          <p:cNvPicPr/>
          <p:nvPr/>
        </p:nvPicPr>
        <p:blipFill>
          <a:blip r:embed="rId1"/>
          <a:stretch/>
        </p:blipFill>
        <p:spPr>
          <a:xfrm>
            <a:off x="6660000" y="240480"/>
            <a:ext cx="4859280" cy="1198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8" name="TextBox 111"/>
          <p:cNvSpPr/>
          <p:nvPr/>
        </p:nvSpPr>
        <p:spPr>
          <a:xfrm>
            <a:off x="866520" y="5220000"/>
            <a:ext cx="13730040" cy="74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940"/>
              </a:lnSpc>
            </a:pPr>
            <a:r>
              <a:rPr lang="tr-TR" sz="3200" b="1" u="none" strike="noStrike">
                <a:solidFill>
                  <a:srgbClr val="000000"/>
                </a:solidFill>
                <a:effectLst/>
                <a:uFillTx/>
                <a:latin typeface="Inter Medium"/>
                <a:ea typeface="Inter Medium"/>
              </a:rPr>
              <a:t>TEST SONUÇLARI</a:t>
            </a:r>
            <a:endParaRPr lang="tr-T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940"/>
              </a:lnSpc>
            </a:pPr>
            <a:endParaRPr lang="tr-T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Rectangle 53"/>
          <p:cNvSpPr/>
          <p:nvPr/>
        </p:nvSpPr>
        <p:spPr>
          <a:xfrm>
            <a:off x="540720" y="5679000"/>
            <a:ext cx="1095840" cy="36720"/>
          </a:xfrm>
          <a:prstGeom prst="rect">
            <a:avLst/>
          </a:prstGeom>
          <a:solidFill>
            <a:srgbClr val="FF8A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370" name="Table 5"/>
          <p:cNvGraphicFramePr/>
          <p:nvPr/>
        </p:nvGraphicFramePr>
        <p:xfrm>
          <a:off x="1620000" y="6068520"/>
          <a:ext cx="16019640" cy="2710080"/>
        </p:xfrm>
        <a:graphic>
          <a:graphicData uri="http://schemas.openxmlformats.org/drawingml/2006/table">
            <a:tbl>
              <a:tblPr/>
              <a:tblGrid>
                <a:gridCol w="3324600"/>
                <a:gridCol w="4082400"/>
                <a:gridCol w="8613000"/>
              </a:tblGrid>
              <a:tr h="51408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5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Test Grubu</a:t>
                      </a:r>
                      <a:endParaRPr lang="tr-TR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5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Sonuç</a:t>
                      </a:r>
                      <a:endParaRPr lang="tr-TR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tr-TR" sz="15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Ne doğruluyor?</a:t>
                      </a:r>
                      <a:endParaRPr lang="tr-TR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B1E3D"/>
                    </a:solidFill>
                  </a:tcPr>
                </a:tc>
              </a:tr>
              <a:tr h="51408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1B1F27"/>
                          </a:solidFill>
                          <a:effectLst/>
                          <a:uFillTx/>
                          <a:latin typeface="Calibri"/>
                        </a:rPr>
                        <a:t>Bronze / Silver / MinIO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1B1F27"/>
                          </a:solidFill>
                          <a:effectLst/>
                          <a:uFillTx/>
                          <a:latin typeface="Calibri"/>
                        </a:rPr>
                        <a:t>46 / 46 geçti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tr-TR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Ham veri yükleme, birim dönüşümü, provenance ekleme ve nesne depolama katmanının doğru çalıştığını doğruluyor. 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08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1B1F27"/>
                          </a:solidFill>
                          <a:effectLst/>
                          <a:uFillTx/>
                          <a:latin typeface="Calibri"/>
                        </a:rPr>
                        <a:t>Gold birleştirme regresyonu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1B1F27"/>
                          </a:solidFill>
                          <a:effectLst/>
                          <a:uFillTx/>
                          <a:latin typeface="Calibri"/>
                        </a:rPr>
                        <a:t>7 / 7 geçti (çift-sayım koruması dahil)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tr-TR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Özellikle "aynı veriyle iki kez çalıştırılırsa satır sayısı katlanmamalı" senaryosunu test ediyor. Geçmişte bulunan çift-sayım bug'ının bir daha sessizce geri gelmediğini garanti ediyor 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EFF4"/>
                    </a:solidFill>
                  </a:tcPr>
                </a:tc>
              </a:tr>
              <a:tr h="51408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1B1F27"/>
                          </a:solidFill>
                          <a:effectLst/>
                          <a:uFillTx/>
                          <a:latin typeface="Calibri"/>
                        </a:rPr>
                        <a:t>Kafka / Dashboard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1B1F27"/>
                          </a:solidFill>
                          <a:effectLst/>
                          <a:uFillTx/>
                          <a:latin typeface="Calibri"/>
                        </a:rPr>
                        <a:t>40 / 40 geçti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tr-TR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Gerçek zamanlı akışın üretici/tüketici mantığının (Kafka mesajlaşması, Redis/InfluxDB yazma, Bronze arşivleme) doğru çalıştığını doğruluyor 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516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1B1F27"/>
                          </a:solidFill>
                          <a:effectLst/>
                          <a:uFillTx/>
                          <a:latin typeface="Calibri"/>
                        </a:rPr>
                        <a:t>Tüm aktif test paketi (ML hariç)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1B1F27"/>
                          </a:solidFill>
                          <a:effectLst/>
                          <a:uFillTx/>
                          <a:latin typeface="Calibri"/>
                        </a:rPr>
                        <a:t>351 / 351 geçti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tr-TR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Projenin ML/model eğitimi dışındaki TÜM aktif kodunun bir arada, tek seferde çalıştırılmış hali. Sistemin bütünsel sağlığının özeti 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EFF4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TextBox 98"/>
          <p:cNvSpPr/>
          <p:nvPr/>
        </p:nvSpPr>
        <p:spPr>
          <a:xfrm>
            <a:off x="1029600" y="982080"/>
            <a:ext cx="13730040" cy="74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940"/>
              </a:lnSpc>
            </a:pPr>
            <a:r>
              <a:rPr lang="tr-TR" sz="3200" b="1" u="none" strike="noStrike">
                <a:solidFill>
                  <a:srgbClr val="000000"/>
                </a:solidFill>
                <a:effectLst/>
                <a:uFillTx/>
                <a:latin typeface="Inter Medium"/>
                <a:ea typeface="Inter Medium"/>
              </a:rPr>
              <a:t>DASHBOARD</a:t>
            </a:r>
            <a:endParaRPr lang="tr-T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940"/>
              </a:lnSpc>
            </a:pPr>
            <a:endParaRPr lang="tr-T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Rectangle 42"/>
          <p:cNvSpPr/>
          <p:nvPr/>
        </p:nvSpPr>
        <p:spPr>
          <a:xfrm>
            <a:off x="703800" y="1441080"/>
            <a:ext cx="1095840" cy="36720"/>
          </a:xfrm>
          <a:prstGeom prst="rect">
            <a:avLst/>
          </a:prstGeom>
          <a:solidFill>
            <a:srgbClr val="FF8A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373" name="Group 53"/>
          <p:cNvGrpSpPr/>
          <p:nvPr/>
        </p:nvGrpSpPr>
        <p:grpSpPr>
          <a:xfrm>
            <a:off x="1029600" y="8925840"/>
            <a:ext cx="858600" cy="332280"/>
            <a:chOff x="1029600" y="8925840"/>
            <a:chExt cx="858600" cy="332280"/>
          </a:xfrm>
        </p:grpSpPr>
        <p:grpSp>
          <p:nvGrpSpPr>
            <p:cNvPr id="374" name="Group 54"/>
            <p:cNvGrpSpPr/>
            <p:nvPr/>
          </p:nvGrpSpPr>
          <p:grpSpPr>
            <a:xfrm>
              <a:off x="1029600" y="8925840"/>
              <a:ext cx="332280" cy="332280"/>
              <a:chOff x="1029600" y="8925840"/>
              <a:chExt cx="332280" cy="332280"/>
            </a:xfrm>
          </p:grpSpPr>
          <p:sp>
            <p:nvSpPr>
              <p:cNvPr id="375" name="Freeform 38"/>
              <p:cNvSpPr/>
              <p:nvPr/>
            </p:nvSpPr>
            <p:spPr>
              <a:xfrm>
                <a:off x="1029600" y="8925840"/>
                <a:ext cx="332280" cy="332280"/>
              </a:xfrm>
              <a:custGeom>
                <a:avLst/>
                <a:gdLst>
                  <a:gd name="textAreaLeft" fmla="*/ 0 w 332280"/>
                  <a:gd name="textAreaRight" fmla="*/ 333720 w 332280"/>
                  <a:gd name="textAreaTop" fmla="*/ 0 h 332280"/>
                  <a:gd name="textAreaBottom" fmla="*/ 333720 h 33228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tr-T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6" name="TextBox 99"/>
              <p:cNvSpPr/>
              <p:nvPr/>
            </p:nvSpPr>
            <p:spPr>
              <a:xfrm>
                <a:off x="1060560" y="8941320"/>
                <a:ext cx="269640" cy="285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tIns="50760" rIns="50760" bIns="5076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  <p:grpSp>
          <p:nvGrpSpPr>
            <p:cNvPr id="377" name="Group 55"/>
            <p:cNvGrpSpPr/>
            <p:nvPr/>
          </p:nvGrpSpPr>
          <p:grpSpPr>
            <a:xfrm>
              <a:off x="1555920" y="8925840"/>
              <a:ext cx="332280" cy="332280"/>
              <a:chOff x="1555920" y="8925840"/>
              <a:chExt cx="332280" cy="332280"/>
            </a:xfrm>
          </p:grpSpPr>
          <p:sp>
            <p:nvSpPr>
              <p:cNvPr id="378" name="Freeform 39"/>
              <p:cNvSpPr/>
              <p:nvPr/>
            </p:nvSpPr>
            <p:spPr>
              <a:xfrm>
                <a:off x="1555920" y="8925840"/>
                <a:ext cx="332280" cy="332280"/>
              </a:xfrm>
              <a:custGeom>
                <a:avLst/>
                <a:gdLst>
                  <a:gd name="textAreaLeft" fmla="*/ 0 w 332280"/>
                  <a:gd name="textAreaRight" fmla="*/ 333720 w 332280"/>
                  <a:gd name="textAreaTop" fmla="*/ 0 h 332280"/>
                  <a:gd name="textAreaBottom" fmla="*/ 333720 h 33228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tr-T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9" name="TextBox 100"/>
              <p:cNvSpPr/>
              <p:nvPr/>
            </p:nvSpPr>
            <p:spPr>
              <a:xfrm>
                <a:off x="1587240" y="8941320"/>
                <a:ext cx="269640" cy="2851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tIns="50760" rIns="50760" bIns="5076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sp>
        <p:nvSpPr>
          <p:cNvPr id="380" name=""/>
          <p:cNvSpPr/>
          <p:nvPr/>
        </p:nvSpPr>
        <p:spPr>
          <a:xfrm>
            <a:off x="720360" y="2520360"/>
            <a:ext cx="5219280" cy="435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1B1F27"/>
                </a:solidFill>
                <a:effectLst/>
                <a:uFillTx/>
                <a:latin typeface="Arial"/>
              </a:rPr>
              <a:t>▸  Silver veya Gold katmanı seçilir [1]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1B1F27"/>
                </a:solidFill>
                <a:effectLst/>
                <a:uFillTx/>
                <a:latin typeface="Arial"/>
              </a:rPr>
              <a:t>▸  Ardından o katmandaki veri seti (adsblol_historical, adsblol_realtime, alfa, uav_attack, ...) seçilir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1B1F27"/>
                </a:solidFill>
                <a:effectLst/>
                <a:uFillTx/>
                <a:latin typeface="Arial"/>
                <a:ea typeface="Microsoft YaHei"/>
              </a:rPr>
              <a:t>▸  O veri setinde gerçekten var olan kolonlar dinamik olarak listelenir</a:t>
            </a:r>
            <a:br>
              <a:rPr sz="2000"/>
            </a:br>
            <a:br>
              <a:rPr sz="2000"/>
            </a:br>
            <a:r>
              <a:rPr lang="en-US" sz="2000" b="0" u="none" strike="noStrike">
                <a:solidFill>
                  <a:srgbClr val="1B1F27"/>
                </a:solidFill>
                <a:effectLst/>
                <a:uFillTx/>
                <a:latin typeface="Arial"/>
              </a:rPr>
              <a:t>▸ İstenilen ülke seçilir ve menşei o ülke olan uçaklar filtrelenebilir.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1B1F27"/>
                </a:solidFill>
                <a:effectLst/>
                <a:uFillTx/>
                <a:latin typeface="Arial"/>
              </a:rPr>
              <a:t>▸  Tarih aralığı + CSV/Parquet formatı seçilip indirilir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"/>
          <p:cNvSpPr/>
          <p:nvPr/>
        </p:nvSpPr>
        <p:spPr>
          <a:xfrm>
            <a:off x="8100360" y="9000360"/>
            <a:ext cx="269928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"/>
          <p:cNvSpPr/>
          <p:nvPr/>
        </p:nvSpPr>
        <p:spPr>
          <a:xfrm>
            <a:off x="13682160" y="8986680"/>
            <a:ext cx="26974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3" name=""/>
          <p:cNvPicPr/>
          <p:nvPr/>
        </p:nvPicPr>
        <p:blipFill>
          <a:blip r:embed="rId1"/>
          <a:srcRect l="0" t="0" r="10149" b="0"/>
          <a:stretch/>
        </p:blipFill>
        <p:spPr>
          <a:xfrm>
            <a:off x="6120000" y="1834920"/>
            <a:ext cx="11880000" cy="6445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"/>
          <p:cNvSpPr txBox="1"/>
          <p:nvPr/>
        </p:nvSpPr>
        <p:spPr>
          <a:xfrm>
            <a:off x="736560" y="681480"/>
            <a:ext cx="2683440" cy="578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tr-TR" sz="3200" b="1" u="none" strike="noStrike">
                <a:solidFill>
                  <a:srgbClr val="000000"/>
                </a:solidFill>
                <a:effectLst/>
                <a:uFillTx/>
                <a:latin typeface="Inter Medium"/>
                <a:ea typeface="Inter Medium"/>
              </a:rPr>
              <a:t>DASHBOARD</a:t>
            </a:r>
            <a:endParaRPr lang="tr-T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5" name="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822240" y="1440000"/>
            <a:ext cx="16637760" cy="8188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TextBox 76"/>
          <p:cNvSpPr/>
          <p:nvPr/>
        </p:nvSpPr>
        <p:spPr>
          <a:xfrm>
            <a:off x="1029240" y="981000"/>
            <a:ext cx="5371200" cy="60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Red Hat Display Bold"/>
                <a:ea typeface="Red Hat Display Bold"/>
              </a:rPr>
              <a:t>YAPAY ZEKÂ YAZILIM TEKNOLOJİLERİ 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Box 108"/>
          <p:cNvSpPr/>
          <p:nvPr/>
        </p:nvSpPr>
        <p:spPr>
          <a:xfrm>
            <a:off x="1276560" y="4669200"/>
            <a:ext cx="15734160" cy="99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7841"/>
              </a:lnSpc>
            </a:pPr>
            <a:r>
              <a:rPr lang="tr-TR" sz="5600" b="1" u="none" strike="noStrike">
                <a:solidFill>
                  <a:srgbClr val="000000"/>
                </a:solidFill>
                <a:effectLst/>
                <a:uFillTx/>
                <a:latin typeface="Red Hat Display Bold"/>
                <a:ea typeface="Red Hat Display Bold"/>
              </a:rPr>
              <a:t>DİNLEDİĞİNİZ İÇİN TEŞEKKÜRLER..</a:t>
            </a:r>
            <a:endParaRPr lang="tr-TR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AutoShape 23"/>
          <p:cNvSpPr/>
          <p:nvPr/>
        </p:nvSpPr>
        <p:spPr>
          <a:xfrm>
            <a:off x="12539160" y="4017960"/>
            <a:ext cx="3920760" cy="360"/>
          </a:xfrm>
          <a:prstGeom prst="line">
            <a:avLst/>
          </a:prstGeom>
          <a:ln w="2857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2820</TotalTime>
  <Application>LibreOffice/26.2.4.2$Windows_X86_64 LibreOffice_project/0229ac93fcf0d7cbc6376066c6f35021cef002dc</Application>
  <AppVersion>15.0000</AppVersion>
  <Words>163</Words>
  <Paragraphs>39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DAGsAZa3-AM</dc:identifier>
  <dc:language>tr-TR</dc:language>
  <cp:lastModifiedBy/>
  <dcterms:modified xsi:type="dcterms:W3CDTF">2026-07-20T10:30:44Z</dcterms:modified>
  <cp:revision>25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Özel</vt:lpwstr>
  </property>
  <property fmtid="{D5CDD505-2E9C-101B-9397-08002B2CF9AE}" pid="3" name="Slides">
    <vt:i4>6</vt:i4>
  </property>
</Properties>
</file>